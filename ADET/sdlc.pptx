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_rels/presentation.xml.rels" ContentType="application/vnd.openxmlformats-package.relationships+xml"/>
  <Override PartName="/ppt/media/image1.png" ContentType="image/png"/>
  <Override PartName="/ppt/media/image2.svg" ContentType="image/svg"/>
  <Override PartName="/ppt/media/image5.png" ContentType="image/png"/>
  <Override PartName="/ppt/media/image3.png" ContentType="image/png"/>
  <Override PartName="/ppt/media/image4.svg" ContentType="image/svg"/>
  <Override PartName="/ppt/media/image7.png" ContentType="image/png"/>
  <Override PartName="/ppt/media/image6.png" ContentType="image/png"/>
  <Override PartName="/ppt/media/image8.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PH"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B70EFCC-B6C0-46AC-9E56-07938DBC04FD}" type="slidenum">
              <a:t>&lt;#&gt;</a:t>
            </a:fld>
          </a:p>
        </p:txBody>
      </p:sp>
      <p:sp>
        <p:nvSpPr>
          <p:cNvPr id="6" name="PlaceHolder 5"/>
          <p:cNvSpPr>
            <a:spLocks noGrp="1"/>
          </p:cNvSpPr>
          <p:nvPr>
            <p:ph type="dt" idx="3"/>
          </p:nvPr>
        </p:nvSpPr>
        <p:spPr/>
        <p:txBody>
          <a:bodyPr/>
          <a:p>
            <a:r>
              <a:rPr lang="en-PH"/>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D3FF9C3-643C-415A-9E3A-B77217296BC1}" type="slidenum">
              <a:t>&lt;#&gt;</a:t>
            </a:fld>
          </a:p>
        </p:txBody>
      </p:sp>
      <p:sp>
        <p:nvSpPr>
          <p:cNvPr id="4" name="PlaceHolder 3"/>
          <p:cNvSpPr>
            <a:spLocks noGrp="1"/>
          </p:cNvSpPr>
          <p:nvPr>
            <p:ph type="dt" idx="6"/>
          </p:nvPr>
        </p:nvSpPr>
        <p:spPr/>
        <p:txBody>
          <a:bodyPr/>
          <a:p>
            <a:r>
              <a:rPr lang="en-PH"/>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74E7604D-FF45-493A-BEAD-16ECB5BD898B}" type="slidenum">
              <a:t>&lt;#&gt;</a:t>
            </a:fld>
          </a:p>
        </p:txBody>
      </p:sp>
      <p:sp>
        <p:nvSpPr>
          <p:cNvPr id="4" name="PlaceHolder 3"/>
          <p:cNvSpPr>
            <a:spLocks noGrp="1"/>
          </p:cNvSpPr>
          <p:nvPr>
            <p:ph type="dt" idx="9"/>
          </p:nvPr>
        </p:nvSpPr>
        <p:spPr/>
        <p:txBody>
          <a:bodyPr/>
          <a:p>
            <a:r>
              <a:rPr lang="en-PH"/>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6992109-7B60-448D-89C9-EAE95AE21312}" type="slidenum">
              <a:t>&lt;#&gt;</a:t>
            </a:fld>
          </a:p>
        </p:txBody>
      </p:sp>
      <p:sp>
        <p:nvSpPr>
          <p:cNvPr id="6" name="PlaceHolder 5"/>
          <p:cNvSpPr>
            <a:spLocks noGrp="1"/>
          </p:cNvSpPr>
          <p:nvPr>
            <p:ph type="dt" idx="12"/>
          </p:nvPr>
        </p:nvSpPr>
        <p:spPr/>
        <p:txBody>
          <a:bodyPr/>
          <a:p>
            <a:r>
              <a:rPr lang="en-PH"/>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17497DF-DA64-44CB-9788-FAED999E6DDB}" type="slidenum">
              <a:t>&lt;#&gt;</a:t>
            </a:fld>
          </a:p>
        </p:txBody>
      </p:sp>
      <p:sp>
        <p:nvSpPr>
          <p:cNvPr id="4" name="PlaceHolder 3"/>
          <p:cNvSpPr>
            <a:spLocks noGrp="1"/>
          </p:cNvSpPr>
          <p:nvPr>
            <p:ph type="dt" idx="15"/>
          </p:nvPr>
        </p:nvSpPr>
        <p:spPr/>
        <p:txBody>
          <a:bodyPr/>
          <a:p>
            <a:r>
              <a:rPr lang="en-PH"/>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FE9A68B7-CFB7-4BA3-85A8-57EA3FE1753C}" type="slidenum">
              <a:t>&lt;#&gt;</a:t>
            </a:fld>
          </a:p>
        </p:txBody>
      </p:sp>
      <p:sp>
        <p:nvSpPr>
          <p:cNvPr id="7" name="PlaceHolder 6"/>
          <p:cNvSpPr>
            <a:spLocks noGrp="1"/>
          </p:cNvSpPr>
          <p:nvPr>
            <p:ph type="dt" idx="18"/>
          </p:nvPr>
        </p:nvSpPr>
        <p:spPr/>
        <p:txBody>
          <a:bodyPr/>
          <a:p>
            <a:r>
              <a:rPr lang="en-PH"/>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6878AE81-6067-48DB-A2EA-084F3AEA1BEE}" type="slidenum">
              <a:t>&lt;#&gt;</a:t>
            </a:fld>
          </a:p>
        </p:txBody>
      </p:sp>
      <p:sp>
        <p:nvSpPr>
          <p:cNvPr id="4" name="PlaceHolder 3"/>
          <p:cNvSpPr>
            <a:spLocks noGrp="1"/>
          </p:cNvSpPr>
          <p:nvPr>
            <p:ph type="dt" idx="21"/>
          </p:nvPr>
        </p:nvSpPr>
        <p:spPr/>
        <p:txBody>
          <a:bodyPr/>
          <a:p>
            <a:r>
              <a:rPr lang="en-PH"/>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D195CDB9-6D99-4A5A-AFA7-4A856EE85165}" type="slidenum">
              <a:t>&lt;#&gt;</a:t>
            </a:fld>
          </a:p>
        </p:txBody>
      </p:sp>
      <p:sp>
        <p:nvSpPr>
          <p:cNvPr id="5" name="PlaceHolder 4"/>
          <p:cNvSpPr>
            <a:spLocks noGrp="1"/>
          </p:cNvSpPr>
          <p:nvPr>
            <p:ph type="dt" idx="24"/>
          </p:nvPr>
        </p:nvSpPr>
        <p:spPr/>
        <p:txBody>
          <a:bodyPr/>
          <a:p>
            <a:r>
              <a:rPr lang="en-PH"/>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07F8CD88-0572-4C07-8B5A-940F85ABD770}" type="slidenum">
              <a:t>&lt;#&gt;</a:t>
            </a:fld>
          </a:p>
        </p:txBody>
      </p:sp>
      <p:sp>
        <p:nvSpPr>
          <p:cNvPr id="4" name="PlaceHolder 3"/>
          <p:cNvSpPr>
            <a:spLocks noGrp="1"/>
          </p:cNvSpPr>
          <p:nvPr>
            <p:ph type="dt" idx="27"/>
          </p:nvPr>
        </p:nvSpPr>
        <p:spPr/>
        <p:txBody>
          <a:bodyPr/>
          <a:p>
            <a:r>
              <a:rPr lang="en-PH"/>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B1C70FA9-24DE-40C3-9614-A3DB330608BC}" type="slidenum">
              <a:t>&lt;#&gt;</a:t>
            </a:fld>
          </a:p>
        </p:txBody>
      </p:sp>
      <p:sp>
        <p:nvSpPr>
          <p:cNvPr id="4" name="PlaceHolder 3"/>
          <p:cNvSpPr>
            <a:spLocks noGrp="1"/>
          </p:cNvSpPr>
          <p:nvPr>
            <p:ph type="dt" idx="30"/>
          </p:nvPr>
        </p:nvSpPr>
        <p:spPr/>
        <p:txBody>
          <a:bodyPr/>
          <a:p>
            <a:r>
              <a:rPr lang="en-PH"/>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A47152E0-16CE-42DE-A1AC-1672742C1AA4}" type="slidenum">
              <a:t>&lt;#&gt;</a:t>
            </a:fld>
          </a:p>
        </p:txBody>
      </p:sp>
      <p:sp>
        <p:nvSpPr>
          <p:cNvPr id="4" name="PlaceHolder 3"/>
          <p:cNvSpPr>
            <a:spLocks noGrp="1"/>
          </p:cNvSpPr>
          <p:nvPr>
            <p:ph type="dt" idx="33"/>
          </p:nvPr>
        </p:nvSpPr>
        <p:spPr/>
        <p:txBody>
          <a:bodyPr/>
          <a:p>
            <a:r>
              <a:rPr lang="en-PH"/>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 name="PlaceHolder 2"/>
          <p:cNvSpPr>
            <a:spLocks noGrp="1"/>
          </p:cNvSpPr>
          <p:nvPr>
            <p:ph type="ftr" idx="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 </a:t>
            </a:r>
            <a:endParaRPr b="0" lang="en-PH"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C875668-2CF6-47EF-B8A4-942F443C0180}" type="slidenum">
              <a:rPr b="0" lang="en-US" sz="1200" spc="-1" strike="noStrike">
                <a:solidFill>
                  <a:schemeClr val="dk1">
                    <a:tint val="75000"/>
                  </a:schemeClr>
                </a:solidFill>
                <a:latin typeface="Calibri"/>
              </a:rPr>
              <a:t>1</a:t>
            </a:fld>
            <a:endParaRPr b="0" lang="en-PH"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 </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D29B02C-CD18-4072-8132-2C60B653B68A}"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BF1CC47-4192-41A5-8B3D-99C56C56380F}"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14" name="PlaceHolder 3"/>
          <p:cNvSpPr>
            <a:spLocks noGrp="1"/>
          </p:cNvSpPr>
          <p:nvPr>
            <p:ph type="ftr" idx="10"/>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61899E7-D2A7-4A78-9A4A-FC2DC16B0BD2}"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EECF474-48CF-422A-B458-0C8BFB69886F}"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5" name="PlaceHolder 4"/>
          <p:cNvSpPr>
            <a:spLocks noGrp="1"/>
          </p:cNvSpPr>
          <p:nvPr>
            <p:ph type="ftr" idx="16"/>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2740B8E7-DA3B-4599-9720-F44BB491F90F}"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BD19527-1E6F-48F9-9A52-605681E73349}"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35" name="PlaceHolder 2"/>
          <p:cNvSpPr>
            <a:spLocks noGrp="1"/>
          </p:cNvSpPr>
          <p:nvPr>
            <p:ph type="ftr" idx="22"/>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727CB8D-3F10-47ED-9AC7-AF7B38C8913F}"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06AC47C-0B08-4F7D-8089-215214B79EFD}"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en-PH" sz="4400" spc="-1" strike="noStrike">
                <a:solidFill>
                  <a:srgbClr val="000000"/>
                </a:solidFill>
                <a:latin typeface="Arial"/>
              </a:rPr>
              <a:t>Click to edit the title text format</a:t>
            </a:r>
            <a:endParaRPr b="0" lang="en-PH" sz="4400" spc="-1" strike="noStrike">
              <a:solidFill>
                <a:srgbClr val="000000"/>
              </a:solidFill>
              <a:latin typeface="Arial"/>
            </a:endParaRP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3200" spc="-1" strike="noStrike">
                <a:solidFill>
                  <a:srgbClr val="000000"/>
                </a:solidFill>
                <a:latin typeface="Arial"/>
              </a:rPr>
              <a:t>Click to edit the outline text format</a:t>
            </a:r>
            <a:endParaRPr b="0" lang="en-PH"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2800" spc="-1" strike="noStrike">
                <a:solidFill>
                  <a:srgbClr val="000000"/>
                </a:solidFill>
                <a:latin typeface="Arial"/>
              </a:rPr>
              <a:t>Second Outline Level</a:t>
            </a:r>
            <a:endParaRPr b="0" lang="en-PH"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2400" spc="-1" strike="noStrike">
                <a:solidFill>
                  <a:srgbClr val="000000"/>
                </a:solidFill>
                <a:latin typeface="Arial"/>
              </a:rPr>
              <a:t>Third Outline Level</a:t>
            </a:r>
            <a:endParaRPr b="0" lang="en-PH"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2000" spc="-1" strike="noStrike">
                <a:solidFill>
                  <a:srgbClr val="000000"/>
                </a:solidFill>
                <a:latin typeface="Arial"/>
              </a:rPr>
              <a:t>Fourth Outline Level</a:t>
            </a:r>
            <a:endParaRPr b="0" lang="en-PH"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2000" spc="-1" strike="noStrike">
                <a:solidFill>
                  <a:srgbClr val="000000"/>
                </a:solidFill>
                <a:latin typeface="Arial"/>
              </a:rPr>
              <a:t>Fifth Outline Level</a:t>
            </a:r>
            <a:endParaRPr b="0" lang="en-PH"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2000" spc="-1" strike="noStrike">
                <a:solidFill>
                  <a:srgbClr val="000000"/>
                </a:solidFill>
                <a:latin typeface="Arial"/>
              </a:rPr>
              <a:t>Sixth Outline Level</a:t>
            </a:r>
            <a:endParaRPr b="0" lang="en-PH"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2000" spc="-1" strike="noStrike">
                <a:solidFill>
                  <a:srgbClr val="000000"/>
                </a:solidFill>
                <a:latin typeface="Arial"/>
              </a:rPr>
              <a:t>Seventh Outline Level</a:t>
            </a:r>
            <a:endParaRPr b="0" lang="en-PH"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F685955-1544-43B1-B71E-0D237ABF8B80}"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28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7E19CAD8-73E2-4063-8366-0E3A27E91A39}"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image" Target="../media/image5.png"/><Relationship Id="rId14"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image" Target="../media/image6.png"/><Relationship Id="rId14"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image" Target="../media/image7.png"/><Relationship Id="rId14"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image" Target="../media/image8.png"/><Relationship Id="rId14"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1.png"/><Relationship Id="rId12" Type="http://schemas.openxmlformats.org/officeDocument/2006/relationships/image" Target="../media/image2.svg"/><Relationship Id="rId13" Type="http://schemas.openxmlformats.org/officeDocument/2006/relationships/image" Target="../media/image9.png"/><Relationship Id="rId14"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50" name="Group 2"/>
          <p:cNvGrpSpPr/>
          <p:nvPr/>
        </p:nvGrpSpPr>
        <p:grpSpPr>
          <a:xfrm>
            <a:off x="0" y="-144720"/>
            <a:ext cx="18286560" cy="10430280"/>
            <a:chOff x="0" y="-144720"/>
            <a:chExt cx="18286560" cy="10430280"/>
          </a:xfrm>
        </p:grpSpPr>
        <p:sp>
          <p:nvSpPr>
            <p:cNvPr id="51"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52"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53" name="Freeform 5"/>
          <p:cNvSpPr/>
          <p:nvPr/>
        </p:nvSpPr>
        <p:spPr>
          <a:xfrm rot="16200000">
            <a:off x="15113880" y="-90468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54" name="Freeform 6"/>
          <p:cNvSpPr/>
          <p:nvPr/>
        </p:nvSpPr>
        <p:spPr>
          <a:xfrm flipH="1" flipV="1" rot="16200000">
            <a:off x="1282320" y="7005960"/>
            <a:ext cx="2023560" cy="4113360"/>
          </a:xfrm>
          <a:custGeom>
            <a:avLst/>
            <a:gdLst>
              <a:gd name="textAreaLeft" fmla="*/ 720 w 2023560"/>
              <a:gd name="textAreaRight" fmla="*/ 202572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55" name="Freeform 7"/>
          <p:cNvSpPr/>
          <p:nvPr/>
        </p:nvSpPr>
        <p:spPr>
          <a:xfrm>
            <a:off x="-2355120" y="369108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56" name="Freeform 8"/>
          <p:cNvSpPr/>
          <p:nvPr/>
        </p:nvSpPr>
        <p:spPr>
          <a:xfrm flipH="1" flipV="1">
            <a:off x="15960600" y="251568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57" name="TextBox 9"/>
          <p:cNvSpPr/>
          <p:nvPr/>
        </p:nvSpPr>
        <p:spPr>
          <a:xfrm>
            <a:off x="1923840" y="3376440"/>
            <a:ext cx="14439240" cy="2809800"/>
          </a:xfrm>
          <a:prstGeom prst="rect">
            <a:avLst/>
          </a:prstGeom>
          <a:noFill/>
          <a:ln w="0">
            <a:noFill/>
          </a:ln>
        </p:spPr>
        <p:style>
          <a:lnRef idx="0"/>
          <a:fillRef idx="0"/>
          <a:effectRef idx="0"/>
          <a:fontRef idx="minor"/>
        </p:style>
        <p:txBody>
          <a:bodyPr lIns="0" rIns="0" tIns="0" bIns="0" anchor="t">
            <a:spAutoFit/>
          </a:bodyPr>
          <a:p>
            <a:pPr algn="ctr" defTabSz="914400">
              <a:lnSpc>
                <a:spcPts val="22127"/>
              </a:lnSpc>
            </a:pPr>
            <a:r>
              <a:rPr b="0" lang="en-US" sz="15810" spc="100" strike="noStrike">
                <a:solidFill>
                  <a:srgbClr val="230e0e"/>
                </a:solidFill>
                <a:latin typeface="Maragsa"/>
                <a:ea typeface="Maragsa"/>
              </a:rPr>
              <a:t>SDLC MODEL</a:t>
            </a:r>
            <a:endParaRPr b="0" lang="en-PH" sz="1581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58" name="Group 2"/>
          <p:cNvGrpSpPr/>
          <p:nvPr/>
        </p:nvGrpSpPr>
        <p:grpSpPr>
          <a:xfrm>
            <a:off x="0" y="-144720"/>
            <a:ext cx="18286560" cy="10430280"/>
            <a:chOff x="0" y="-144720"/>
            <a:chExt cx="18286560" cy="10430280"/>
          </a:xfrm>
        </p:grpSpPr>
        <p:sp>
          <p:nvSpPr>
            <p:cNvPr id="59"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0"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r>
                <a:rPr b="0" lang="en-US" sz="1900" spc="-1" strike="noStrike">
                  <a:solidFill>
                    <a:srgbClr val="ffffff"/>
                  </a:solidFill>
                  <a:latin typeface="Open Sans"/>
                  <a:ea typeface="Open Sans"/>
                </a:rPr>
                <a:t> </a:t>
              </a:r>
              <a:endParaRPr b="0" lang="en-PH" sz="1900" spc="-1" strike="noStrike">
                <a:solidFill>
                  <a:srgbClr val="ffffff"/>
                </a:solidFill>
                <a:latin typeface="Arial"/>
              </a:endParaRPr>
            </a:p>
          </p:txBody>
        </p:sp>
      </p:grpSp>
      <p:sp>
        <p:nvSpPr>
          <p:cNvPr id="61"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2"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3"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4"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5"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6"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67" name="TextBox 11"/>
          <p:cNvSpPr/>
          <p:nvPr/>
        </p:nvSpPr>
        <p:spPr>
          <a:xfrm>
            <a:off x="2128680" y="3525120"/>
            <a:ext cx="14029200" cy="5430240"/>
          </a:xfrm>
          <a:prstGeom prst="rect">
            <a:avLst/>
          </a:prstGeom>
          <a:noFill/>
          <a:ln w="0">
            <a:noFill/>
          </a:ln>
        </p:spPr>
        <p:style>
          <a:lnRef idx="0"/>
          <a:fillRef idx="0"/>
          <a:effectRef idx="0"/>
          <a:fontRef idx="minor"/>
        </p:style>
        <p:txBody>
          <a:bodyPr lIns="0" rIns="0" tIns="0" bIns="0" anchor="t">
            <a:spAutoFit/>
          </a:bodyPr>
          <a:p>
            <a:pPr algn="just" defTabSz="914400">
              <a:lnSpc>
                <a:spcPts val="6109"/>
              </a:lnSpc>
            </a:pPr>
            <a:endParaRPr b="0" lang="en-PH" sz="1800" spc="-1" strike="noStrike">
              <a:solidFill>
                <a:srgbClr val="ffffff"/>
              </a:solidFill>
              <a:latin typeface="Arial"/>
            </a:endParaRPr>
          </a:p>
          <a:p>
            <a:pPr lvl="1" marL="873360" indent="-436680" algn="just" defTabSz="914400">
              <a:lnSpc>
                <a:spcPts val="6109"/>
              </a:lnSpc>
              <a:buClr>
                <a:srgbClr val="230e0e"/>
              </a:buClr>
              <a:buFont typeface="OpenSymbol"/>
              <a:buAutoNum type="arabicPeriod"/>
            </a:pPr>
            <a:r>
              <a:rPr b="0" lang="en-US" sz="4050" spc="-1" strike="noStrike">
                <a:solidFill>
                  <a:srgbClr val="230e0e"/>
                </a:solidFill>
                <a:latin typeface="Harmattan"/>
                <a:ea typeface="Harmattan"/>
              </a:rPr>
              <a:t>Identify the different SDLC Models</a:t>
            </a:r>
            <a:endParaRPr b="0" lang="en-PH" sz="4050" spc="-1" strike="noStrike">
              <a:solidFill>
                <a:srgbClr val="ffffff"/>
              </a:solidFill>
              <a:latin typeface="Arial"/>
            </a:endParaRPr>
          </a:p>
          <a:p>
            <a:pPr lvl="1" marL="873360" indent="-436680" algn="just" defTabSz="914400">
              <a:lnSpc>
                <a:spcPts val="6109"/>
              </a:lnSpc>
              <a:buClr>
                <a:srgbClr val="230e0e"/>
              </a:buClr>
              <a:buFont typeface="OpenSymbol"/>
              <a:buAutoNum type="arabicPeriod"/>
            </a:pPr>
            <a:r>
              <a:rPr b="0" lang="en-US" sz="4050" spc="-1" strike="noStrike">
                <a:solidFill>
                  <a:srgbClr val="230e0e"/>
                </a:solidFill>
                <a:latin typeface="Harmattan"/>
                <a:ea typeface="Harmattan"/>
              </a:rPr>
              <a:t>Determine the applications of these models in software development</a:t>
            </a:r>
            <a:endParaRPr b="0" lang="en-PH" sz="4050" spc="-1" strike="noStrike">
              <a:solidFill>
                <a:srgbClr val="ffffff"/>
              </a:solidFill>
              <a:latin typeface="Arial"/>
            </a:endParaRPr>
          </a:p>
          <a:p>
            <a:pPr lvl="1" marL="873360" indent="-436680" algn="just" defTabSz="914400">
              <a:lnSpc>
                <a:spcPts val="6109"/>
              </a:lnSpc>
              <a:buClr>
                <a:srgbClr val="230e0e"/>
              </a:buClr>
              <a:buFont typeface="OpenSymbol"/>
              <a:buAutoNum type="arabicPeriod"/>
            </a:pPr>
            <a:r>
              <a:rPr b="0" lang="en-US" sz="4050" spc="-1" strike="noStrike">
                <a:solidFill>
                  <a:srgbClr val="230e0e"/>
                </a:solidFill>
                <a:latin typeface="Harmattan"/>
                <a:ea typeface="Harmattan"/>
              </a:rPr>
              <a:t>Apply these models in developing the design of a software project</a:t>
            </a:r>
            <a:endParaRPr b="0" lang="en-PH" sz="4050" spc="-1" strike="noStrike">
              <a:solidFill>
                <a:srgbClr val="ffffff"/>
              </a:solidFill>
              <a:latin typeface="Arial"/>
            </a:endParaRPr>
          </a:p>
          <a:p>
            <a:pPr algn="just" defTabSz="914400">
              <a:lnSpc>
                <a:spcPts val="6109"/>
              </a:lnSpc>
            </a:pPr>
            <a:endParaRPr b="0" lang="en-PH" sz="1800" spc="-1" strike="noStrike">
              <a:solidFill>
                <a:srgbClr val="ffffff"/>
              </a:solidFill>
              <a:latin typeface="Arial"/>
            </a:endParaRPr>
          </a:p>
        </p:txBody>
      </p:sp>
      <p:sp>
        <p:nvSpPr>
          <p:cNvPr id="68" name="TextBox 12"/>
          <p:cNvSpPr/>
          <p:nvPr/>
        </p:nvSpPr>
        <p:spPr>
          <a:xfrm>
            <a:off x="1380240" y="2076840"/>
            <a:ext cx="14848920" cy="1515240"/>
          </a:xfrm>
          <a:prstGeom prst="rect">
            <a:avLst/>
          </a:prstGeom>
          <a:noFill/>
          <a:ln w="0">
            <a:noFill/>
          </a:ln>
        </p:spPr>
        <p:style>
          <a:lnRef idx="0"/>
          <a:fillRef idx="0"/>
          <a:effectRef idx="0"/>
          <a:fontRef idx="minor"/>
        </p:style>
        <p:txBody>
          <a:bodyPr lIns="0" rIns="0" tIns="0" bIns="0" anchor="t">
            <a:spAutoFit/>
          </a:bodyPr>
          <a:p>
            <a:pPr algn="ctr" defTabSz="914400">
              <a:lnSpc>
                <a:spcPts val="5967"/>
              </a:lnSpc>
            </a:pPr>
            <a:r>
              <a:rPr b="0" lang="en-US" sz="4270" spc="-1" strike="noStrike">
                <a:solidFill>
                  <a:srgbClr val="230e0e"/>
                </a:solidFill>
                <a:latin typeface="Maragsa"/>
                <a:ea typeface="Maragsa"/>
              </a:rPr>
              <a:t>AT THE END OF THE SESSION, STUDENTS ARE EXPECTED TO: </a:t>
            </a:r>
            <a:endParaRPr b="0" lang="en-PH" sz="42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69" name="Group 2"/>
          <p:cNvGrpSpPr/>
          <p:nvPr/>
        </p:nvGrpSpPr>
        <p:grpSpPr>
          <a:xfrm>
            <a:off x="0" y="-144720"/>
            <a:ext cx="18286560" cy="10430280"/>
            <a:chOff x="0" y="-144720"/>
            <a:chExt cx="18286560" cy="10430280"/>
          </a:xfrm>
        </p:grpSpPr>
        <p:sp>
          <p:nvSpPr>
            <p:cNvPr id="70"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1"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72"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3"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4"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5"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6"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7"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78" name="TextBox 11"/>
          <p:cNvSpPr/>
          <p:nvPr/>
        </p:nvSpPr>
        <p:spPr>
          <a:xfrm>
            <a:off x="2585880" y="4593960"/>
            <a:ext cx="13643280" cy="5430240"/>
          </a:xfrm>
          <a:prstGeom prst="rect">
            <a:avLst/>
          </a:prstGeom>
          <a:noFill/>
          <a:ln w="0">
            <a:noFill/>
          </a:ln>
        </p:spPr>
        <p:style>
          <a:lnRef idx="0"/>
          <a:fillRef idx="0"/>
          <a:effectRef idx="0"/>
          <a:fontRef idx="minor"/>
        </p:style>
        <p:txBody>
          <a:bodyPr lIns="0" rIns="0" tIns="0" bIns="0" anchor="t">
            <a:spAutoFit/>
          </a:bodyPr>
          <a:p>
            <a:pPr algn="just" defTabSz="914400">
              <a:lnSpc>
                <a:spcPts val="6109"/>
              </a:lnSpc>
            </a:pPr>
            <a:r>
              <a:rPr b="0" lang="en-US" sz="4050" spc="-1" strike="noStrike">
                <a:solidFill>
                  <a:srgbClr val="230e0e"/>
                </a:solidFill>
                <a:latin typeface="Harmattan"/>
                <a:ea typeface="Harmattan"/>
              </a:rPr>
              <a:t>The Software Development Life Cycle (SDLC) is a systematic process used by software engineers and developers to design, develop, test, and deploy high-quality software applications. It provides a structured approach to ensure that the final product meets user requirements and is delivered on time and within budget.</a:t>
            </a:r>
            <a:endParaRPr b="0" lang="en-PH" sz="4050" spc="-1" strike="noStrike">
              <a:solidFill>
                <a:srgbClr val="ffffff"/>
              </a:solidFill>
              <a:latin typeface="Arial"/>
            </a:endParaRPr>
          </a:p>
        </p:txBody>
      </p:sp>
      <p:sp>
        <p:nvSpPr>
          <p:cNvPr id="79" name="TextBox 12"/>
          <p:cNvSpPr/>
          <p:nvPr/>
        </p:nvSpPr>
        <p:spPr>
          <a:xfrm>
            <a:off x="4438440" y="1306800"/>
            <a:ext cx="9410040" cy="1753200"/>
          </a:xfrm>
          <a:prstGeom prst="rect">
            <a:avLst/>
          </a:prstGeom>
          <a:noFill/>
          <a:ln w="0">
            <a:noFill/>
          </a:ln>
        </p:spPr>
        <p:style>
          <a:lnRef idx="0"/>
          <a:fillRef idx="0"/>
          <a:effectRef idx="0"/>
          <a:fontRef idx="minor"/>
        </p:style>
        <p:txBody>
          <a:bodyPr lIns="0" rIns="0" tIns="0" bIns="0" anchor="t">
            <a:spAutoFit/>
          </a:bodyPr>
          <a:p>
            <a:pPr algn="ctr" defTabSz="914400">
              <a:lnSpc>
                <a:spcPts val="13808"/>
              </a:lnSpc>
            </a:pPr>
            <a:r>
              <a:rPr b="0" lang="en-US" sz="9860" spc="-1" strike="noStrike">
                <a:solidFill>
                  <a:srgbClr val="230e0e"/>
                </a:solidFill>
                <a:latin typeface="Maragsa"/>
                <a:ea typeface="Maragsa"/>
              </a:rPr>
              <a:t>WHAT IS SDLC</a:t>
            </a:r>
            <a:endParaRPr b="0" lang="en-PH" sz="98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80" name="Group 2"/>
          <p:cNvGrpSpPr/>
          <p:nvPr/>
        </p:nvGrpSpPr>
        <p:grpSpPr>
          <a:xfrm>
            <a:off x="0" y="-144720"/>
            <a:ext cx="18286560" cy="10430280"/>
            <a:chOff x="0" y="-144720"/>
            <a:chExt cx="18286560" cy="10430280"/>
          </a:xfrm>
        </p:grpSpPr>
        <p:sp>
          <p:nvSpPr>
            <p:cNvPr id="81"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2"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83"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4"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5"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6"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7"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8"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89" name="TextBox 11"/>
          <p:cNvSpPr/>
          <p:nvPr/>
        </p:nvSpPr>
        <p:spPr>
          <a:xfrm>
            <a:off x="2334600" y="3669120"/>
            <a:ext cx="13894560" cy="545292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Provides a clear roadmap for software development.</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Ensures better project management and resource allocation.</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Helps in reducing risks and errors.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Ensures quality and reliability of software.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Makes development cost-effective and time-efficient.</a:t>
            </a:r>
            <a:endParaRPr b="0" lang="en-PH" sz="4059" spc="-1" strike="noStrike">
              <a:solidFill>
                <a:srgbClr val="ffffff"/>
              </a:solidFill>
              <a:latin typeface="Arial"/>
            </a:endParaRPr>
          </a:p>
          <a:p>
            <a:pPr algn="just" defTabSz="914400">
              <a:lnSpc>
                <a:spcPts val="6134"/>
              </a:lnSpc>
            </a:pPr>
            <a:endParaRPr b="0" lang="en-PH" sz="1800" spc="-1" strike="noStrike">
              <a:solidFill>
                <a:srgbClr val="ffffff"/>
              </a:solidFill>
              <a:latin typeface="Arial"/>
            </a:endParaRPr>
          </a:p>
        </p:txBody>
      </p:sp>
      <p:sp>
        <p:nvSpPr>
          <p:cNvPr id="90"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IMPORTANCE OF SDLC</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91" name="Group 2"/>
          <p:cNvGrpSpPr/>
          <p:nvPr/>
        </p:nvGrpSpPr>
        <p:grpSpPr>
          <a:xfrm>
            <a:off x="0" y="-144720"/>
            <a:ext cx="18286560" cy="10430280"/>
            <a:chOff x="0" y="-144720"/>
            <a:chExt cx="18286560" cy="10430280"/>
          </a:xfrm>
        </p:grpSpPr>
        <p:sp>
          <p:nvSpPr>
            <p:cNvPr id="92"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3"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94"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5"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6"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7"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8"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99"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0" name="TextBox 11"/>
          <p:cNvSpPr/>
          <p:nvPr/>
        </p:nvSpPr>
        <p:spPr>
          <a:xfrm>
            <a:off x="2334600" y="3669120"/>
            <a:ext cx="13894560" cy="623196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Planning – Define the project goals, feasibility, resources, and risks.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Requirement Analysis – Gather and analyze user needs and system requirements.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Design – Create the architecture, database structure, and user interface design.</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Development (Implementation) – Actual coding of the software using programming languages.</a:t>
            </a:r>
            <a:endParaRPr b="0" lang="en-PH" sz="4059" spc="-1" strike="noStrike">
              <a:solidFill>
                <a:srgbClr val="ffffff"/>
              </a:solidFill>
              <a:latin typeface="Arial"/>
            </a:endParaRPr>
          </a:p>
        </p:txBody>
      </p:sp>
      <p:sp>
        <p:nvSpPr>
          <p:cNvPr id="101"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PHASES OF SDLC</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02" name="Group 2"/>
          <p:cNvGrpSpPr/>
          <p:nvPr/>
        </p:nvGrpSpPr>
        <p:grpSpPr>
          <a:xfrm>
            <a:off x="0" y="-144720"/>
            <a:ext cx="18286560" cy="10430280"/>
            <a:chOff x="0" y="-144720"/>
            <a:chExt cx="18286560" cy="10430280"/>
          </a:xfrm>
        </p:grpSpPr>
        <p:sp>
          <p:nvSpPr>
            <p:cNvPr id="103"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4"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05"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6"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7"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8"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09"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0"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1" name="TextBox 11"/>
          <p:cNvSpPr/>
          <p:nvPr/>
        </p:nvSpPr>
        <p:spPr>
          <a:xfrm>
            <a:off x="2334600" y="3669120"/>
            <a:ext cx="13894560" cy="467388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Testing – Verify that the software works correctly, identify and fix bugs.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Deployment – Release the software to the users or production environment.</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Maintenance – Provide updates, bug fixes, and improvements after deployment.</a:t>
            </a:r>
            <a:endParaRPr b="0" lang="en-PH" sz="4059" spc="-1" strike="noStrike">
              <a:solidFill>
                <a:srgbClr val="ffffff"/>
              </a:solidFill>
              <a:latin typeface="Arial"/>
            </a:endParaRPr>
          </a:p>
        </p:txBody>
      </p:sp>
      <p:sp>
        <p:nvSpPr>
          <p:cNvPr id="112"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PHASES OF SDLC</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13" name="Group 2"/>
          <p:cNvGrpSpPr/>
          <p:nvPr/>
        </p:nvGrpSpPr>
        <p:grpSpPr>
          <a:xfrm>
            <a:off x="0" y="-144720"/>
            <a:ext cx="18286560" cy="10430280"/>
            <a:chOff x="0" y="-144720"/>
            <a:chExt cx="18286560" cy="10430280"/>
          </a:xfrm>
        </p:grpSpPr>
        <p:sp>
          <p:nvSpPr>
            <p:cNvPr id="114"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5"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16"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7"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8"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19"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0"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1"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2" name="TextBox 11"/>
          <p:cNvSpPr/>
          <p:nvPr/>
        </p:nvSpPr>
        <p:spPr>
          <a:xfrm>
            <a:off x="2334600" y="3669120"/>
            <a:ext cx="13894560" cy="389484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Waterfall model </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Iterative model </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Spiral model </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V-shaped model </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Agile model</a:t>
            </a:r>
            <a:endParaRPr b="0" lang="en-PH" sz="4059" spc="-1" strike="noStrike">
              <a:solidFill>
                <a:srgbClr val="ffffff"/>
              </a:solidFill>
              <a:latin typeface="Arial"/>
            </a:endParaRPr>
          </a:p>
        </p:txBody>
      </p:sp>
      <p:sp>
        <p:nvSpPr>
          <p:cNvPr id="123"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DIFFERENT SDLC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24" name="Group 2"/>
          <p:cNvGrpSpPr/>
          <p:nvPr/>
        </p:nvGrpSpPr>
        <p:grpSpPr>
          <a:xfrm>
            <a:off x="0" y="-144720"/>
            <a:ext cx="18286560" cy="10430280"/>
            <a:chOff x="0" y="-144720"/>
            <a:chExt cx="18286560" cy="10430280"/>
          </a:xfrm>
        </p:grpSpPr>
        <p:sp>
          <p:nvSpPr>
            <p:cNvPr id="125"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6"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27"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8"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29"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0"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1"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2"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3" name="TextBox 11"/>
          <p:cNvSpPr/>
          <p:nvPr/>
        </p:nvSpPr>
        <p:spPr>
          <a:xfrm>
            <a:off x="2334600" y="3669120"/>
            <a:ext cx="13894560" cy="545292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The Waterfall model is a step-by-step (cascade) SDLC approach where each phase (analysis, design, development, testing, implementation, support) is completed before moving to the next. It emphasizes strict documentation and predefined requirements, making it suitable for complex projects by ensuring control and reducing mistakes.</a:t>
            </a:r>
            <a:endParaRPr b="0" lang="en-PH" sz="4059" spc="-1" strike="noStrike">
              <a:solidFill>
                <a:srgbClr val="ffffff"/>
              </a:solidFill>
              <a:latin typeface="Arial"/>
            </a:endParaRPr>
          </a:p>
        </p:txBody>
      </p:sp>
      <p:sp>
        <p:nvSpPr>
          <p:cNvPr id="134"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WATERFALL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35" name="Group 2"/>
          <p:cNvGrpSpPr/>
          <p:nvPr/>
        </p:nvGrpSpPr>
        <p:grpSpPr>
          <a:xfrm>
            <a:off x="0" y="-143280"/>
            <a:ext cx="18286560" cy="10430280"/>
            <a:chOff x="0" y="-143280"/>
            <a:chExt cx="18286560" cy="10430280"/>
          </a:xfrm>
        </p:grpSpPr>
        <p:sp>
          <p:nvSpPr>
            <p:cNvPr id="136" name="Freeform 3"/>
            <p:cNvSpPr/>
            <p:nvPr/>
          </p:nvSpPr>
          <p:spPr>
            <a:xfrm>
              <a:off x="0" y="144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7" name="TextBox 4"/>
            <p:cNvSpPr/>
            <p:nvPr/>
          </p:nvSpPr>
          <p:spPr>
            <a:xfrm>
              <a:off x="0" y="-14328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38"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39"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0"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1"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2"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3"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4" name="TextBox 11"/>
          <p:cNvSpPr/>
          <p:nvPr/>
        </p:nvSpPr>
        <p:spPr>
          <a:xfrm>
            <a:off x="2305440" y="2520000"/>
            <a:ext cx="13894560" cy="701100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Simple to use and understand</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Management simplicity thanks to its rigidity: every phase has a defined result and process review</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Development stages go one by one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Perfect for the small or mid-sized projects where requirements are clear and not equivocal</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Easy to determine the key points in the development cycle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Easy to classify and prioritize tasks</a:t>
            </a:r>
            <a:endParaRPr b="0" lang="en-PH" sz="4059" spc="-1" strike="noStrike">
              <a:solidFill>
                <a:srgbClr val="ffffff"/>
              </a:solidFill>
              <a:latin typeface="Arial"/>
            </a:endParaRPr>
          </a:p>
        </p:txBody>
      </p:sp>
      <p:sp>
        <p:nvSpPr>
          <p:cNvPr id="145" name="TextBox 12"/>
          <p:cNvSpPr/>
          <p:nvPr/>
        </p:nvSpPr>
        <p:spPr>
          <a:xfrm>
            <a:off x="1724760" y="65124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46" name="Group 2"/>
          <p:cNvGrpSpPr/>
          <p:nvPr/>
        </p:nvGrpSpPr>
        <p:grpSpPr>
          <a:xfrm>
            <a:off x="0" y="-351360"/>
            <a:ext cx="18286560" cy="10430280"/>
            <a:chOff x="0" y="-351360"/>
            <a:chExt cx="18286560" cy="10430280"/>
          </a:xfrm>
        </p:grpSpPr>
        <p:sp>
          <p:nvSpPr>
            <p:cNvPr id="147" name="Freeform 3"/>
            <p:cNvSpPr/>
            <p:nvPr/>
          </p:nvSpPr>
          <p:spPr>
            <a:xfrm>
              <a:off x="0" y="-20664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48" name="TextBox 4"/>
            <p:cNvSpPr/>
            <p:nvPr/>
          </p:nvSpPr>
          <p:spPr>
            <a:xfrm>
              <a:off x="0" y="-35136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49"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0"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1"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2"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3"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4"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5" name="TextBox 11"/>
          <p:cNvSpPr/>
          <p:nvPr/>
        </p:nvSpPr>
        <p:spPr>
          <a:xfrm>
            <a:off x="2334600" y="3669120"/>
            <a:ext cx="13894560" cy="701100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The software is ready only after the last stage is over</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High risks and uncertainty</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Not the best choice for complex and object-oriented projects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Inappropriate for the long-term projects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progress of the stage is hard to measure while it is still in the development</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Integration is done at the very end, which does not give the option of identifying the problem in advance</a:t>
            </a:r>
            <a:endParaRPr b="0" lang="en-PH" sz="4059" spc="-1" strike="noStrike">
              <a:solidFill>
                <a:srgbClr val="ffffff"/>
              </a:solidFill>
              <a:latin typeface="Arial"/>
            </a:endParaRPr>
          </a:p>
        </p:txBody>
      </p:sp>
      <p:sp>
        <p:nvSpPr>
          <p:cNvPr id="156"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DISADVANTAGE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57" name="Group 2"/>
          <p:cNvGrpSpPr/>
          <p:nvPr/>
        </p:nvGrpSpPr>
        <p:grpSpPr>
          <a:xfrm>
            <a:off x="0" y="-144720"/>
            <a:ext cx="18286560" cy="10430280"/>
            <a:chOff x="0" y="-144720"/>
            <a:chExt cx="18286560" cy="10430280"/>
          </a:xfrm>
        </p:grpSpPr>
        <p:sp>
          <p:nvSpPr>
            <p:cNvPr id="158"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59"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60"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1"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2"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3"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4"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5"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6" name="Freeform 11"/>
          <p:cNvSpPr/>
          <p:nvPr/>
        </p:nvSpPr>
        <p:spPr>
          <a:xfrm>
            <a:off x="3376080" y="529200"/>
            <a:ext cx="11387880" cy="9110160"/>
          </a:xfrm>
          <a:custGeom>
            <a:avLst/>
            <a:gdLst>
              <a:gd name="textAreaLeft" fmla="*/ 0 w 11387880"/>
              <a:gd name="textAreaRight" fmla="*/ 11389320 w 11387880"/>
              <a:gd name="textAreaTop" fmla="*/ 0 h 9110160"/>
              <a:gd name="textAreaBottom" fmla="*/ 9111600 h 9110160"/>
            </a:gdLst>
            <a:ahLst/>
            <a:rect l="textAreaLeft" t="textAreaTop" r="textAreaRight" b="textAreaBottom"/>
            <a:pathLst>
              <a:path w="11389362" h="9111490">
                <a:moveTo>
                  <a:pt x="0" y="0"/>
                </a:moveTo>
                <a:lnTo>
                  <a:pt x="11389362" y="0"/>
                </a:lnTo>
                <a:lnTo>
                  <a:pt x="11389362" y="9111489"/>
                </a:lnTo>
                <a:lnTo>
                  <a:pt x="0" y="9111489"/>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67" name="Group 2"/>
          <p:cNvGrpSpPr/>
          <p:nvPr/>
        </p:nvGrpSpPr>
        <p:grpSpPr>
          <a:xfrm>
            <a:off x="0" y="-144720"/>
            <a:ext cx="18286560" cy="10430280"/>
            <a:chOff x="0" y="-144720"/>
            <a:chExt cx="18286560" cy="10430280"/>
          </a:xfrm>
        </p:grpSpPr>
        <p:sp>
          <p:nvSpPr>
            <p:cNvPr id="168"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69"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70"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1"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2"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3"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4"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5"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76" name="TextBox 11"/>
          <p:cNvSpPr/>
          <p:nvPr/>
        </p:nvSpPr>
        <p:spPr>
          <a:xfrm>
            <a:off x="2334600" y="3669120"/>
            <a:ext cx="13894560" cy="779004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The Iterative model is similar to the Waterfall model but breaks the project into smaller cycles (iterations). Instead of planning and building everything at once, developers create a few features per iteration, passing through all SDLC phases each time. This allows the system to grow gradually, with requirements added or refined as the project progresses. Each cycle delivers a new, improved version of the product until the final system is complete.</a:t>
            </a:r>
            <a:endParaRPr b="0" lang="en-PH" sz="4059" spc="-1" strike="noStrike">
              <a:solidFill>
                <a:srgbClr val="ffffff"/>
              </a:solidFill>
              <a:latin typeface="Arial"/>
            </a:endParaRPr>
          </a:p>
        </p:txBody>
      </p:sp>
      <p:sp>
        <p:nvSpPr>
          <p:cNvPr id="177" name="TextBox 12"/>
          <p:cNvSpPr/>
          <p:nvPr/>
        </p:nvSpPr>
        <p:spPr>
          <a:xfrm>
            <a:off x="1724760" y="14407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ITERATIVE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78" name="Group 2"/>
          <p:cNvGrpSpPr/>
          <p:nvPr/>
        </p:nvGrpSpPr>
        <p:grpSpPr>
          <a:xfrm>
            <a:off x="0" y="-144720"/>
            <a:ext cx="18286560" cy="10430280"/>
            <a:chOff x="0" y="-144720"/>
            <a:chExt cx="18286560" cy="10430280"/>
          </a:xfrm>
        </p:grpSpPr>
        <p:sp>
          <p:nvSpPr>
            <p:cNvPr id="179"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0"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81"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2"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3"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4"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5"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6"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87" name="TextBox 11"/>
          <p:cNvSpPr/>
          <p:nvPr/>
        </p:nvSpPr>
        <p:spPr>
          <a:xfrm>
            <a:off x="2066400" y="1917360"/>
            <a:ext cx="13894560" cy="779004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Some functions can be quickly developed at the beginning of the development lifecycle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paralleled development can be applied</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progress is easy measurable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shorter iteration is – the easier testing and debugging stages are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It is easier to control the risks as high-risk tasks are completed first</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Flexibility and readiness to the changes in the requirements</a:t>
            </a:r>
            <a:endParaRPr b="0" lang="en-PH" sz="4059" spc="-1" strike="noStrike">
              <a:solidFill>
                <a:srgbClr val="ffffff"/>
              </a:solidFill>
              <a:latin typeface="Arial"/>
            </a:endParaRPr>
          </a:p>
        </p:txBody>
      </p:sp>
      <p:sp>
        <p:nvSpPr>
          <p:cNvPr id="188" name="TextBox 12"/>
          <p:cNvSpPr/>
          <p:nvPr/>
        </p:nvSpPr>
        <p:spPr>
          <a:xfrm>
            <a:off x="1724760" y="22356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189" name="Group 2"/>
          <p:cNvGrpSpPr/>
          <p:nvPr/>
        </p:nvGrpSpPr>
        <p:grpSpPr>
          <a:xfrm>
            <a:off x="0" y="-144720"/>
            <a:ext cx="18286560" cy="10430280"/>
            <a:chOff x="0" y="-144720"/>
            <a:chExt cx="18286560" cy="10430280"/>
          </a:xfrm>
        </p:grpSpPr>
        <p:sp>
          <p:nvSpPr>
            <p:cNvPr id="190"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1"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92"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3"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4"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5"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6"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7"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198" name="TextBox 11"/>
          <p:cNvSpPr/>
          <p:nvPr/>
        </p:nvSpPr>
        <p:spPr>
          <a:xfrm>
            <a:off x="2196000" y="1627200"/>
            <a:ext cx="13894560" cy="934812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Iterative model requires more resources than the waterfall model</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Constant management is required</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Issues with architecture or design may occur because not all the requirements are foreseen during the short planning stage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Bad choice for the small projects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process is difficult to manage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risks may not be completely determined even at the final stage of the project</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Risks analysis requires involvement of the highly-qualified specialists</a:t>
            </a:r>
            <a:endParaRPr b="0" lang="en-PH" sz="4059" spc="-1" strike="noStrike">
              <a:solidFill>
                <a:srgbClr val="ffffff"/>
              </a:solidFill>
              <a:latin typeface="Arial"/>
            </a:endParaRPr>
          </a:p>
        </p:txBody>
      </p:sp>
      <p:sp>
        <p:nvSpPr>
          <p:cNvPr id="199" name="TextBox 12"/>
          <p:cNvSpPr/>
          <p:nvPr/>
        </p:nvSpPr>
        <p:spPr>
          <a:xfrm>
            <a:off x="1724760" y="1159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DISADVANTAGE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00" name="Group 2"/>
          <p:cNvGrpSpPr/>
          <p:nvPr/>
        </p:nvGrpSpPr>
        <p:grpSpPr>
          <a:xfrm>
            <a:off x="0" y="-144720"/>
            <a:ext cx="18286560" cy="10430280"/>
            <a:chOff x="0" y="-144720"/>
            <a:chExt cx="18286560" cy="10430280"/>
          </a:xfrm>
        </p:grpSpPr>
        <p:sp>
          <p:nvSpPr>
            <p:cNvPr id="201"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2"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03"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4"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5"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6"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7"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8"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09" name="Freeform 11"/>
          <p:cNvSpPr/>
          <p:nvPr/>
        </p:nvSpPr>
        <p:spPr>
          <a:xfrm>
            <a:off x="3573720" y="541080"/>
            <a:ext cx="11292480" cy="9330120"/>
          </a:xfrm>
          <a:custGeom>
            <a:avLst/>
            <a:gdLst>
              <a:gd name="textAreaLeft" fmla="*/ 0 w 11292480"/>
              <a:gd name="textAreaRight" fmla="*/ 11293920 w 11292480"/>
              <a:gd name="textAreaTop" fmla="*/ 0 h 9330120"/>
              <a:gd name="textAreaBottom" fmla="*/ 9331560 h 9330120"/>
            </a:gdLst>
            <a:ahLst/>
            <a:rect l="textAreaLeft" t="textAreaTop" r="textAreaRight" b="textAreaBottom"/>
            <a:pathLst>
              <a:path w="11293910" h="9331593">
                <a:moveTo>
                  <a:pt x="0" y="0"/>
                </a:moveTo>
                <a:lnTo>
                  <a:pt x="11293910" y="0"/>
                </a:lnTo>
                <a:lnTo>
                  <a:pt x="11293910" y="9331594"/>
                </a:lnTo>
                <a:lnTo>
                  <a:pt x="0" y="9331594"/>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10" name="Group 2"/>
          <p:cNvGrpSpPr/>
          <p:nvPr/>
        </p:nvGrpSpPr>
        <p:grpSpPr>
          <a:xfrm>
            <a:off x="0" y="-144720"/>
            <a:ext cx="18286560" cy="10430280"/>
            <a:chOff x="0" y="-144720"/>
            <a:chExt cx="18286560" cy="10430280"/>
          </a:xfrm>
        </p:grpSpPr>
        <p:sp>
          <p:nvSpPr>
            <p:cNvPr id="211"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2"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13"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4"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5"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6"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7"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8"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19" name="TextBox 11"/>
          <p:cNvSpPr/>
          <p:nvPr/>
        </p:nvSpPr>
        <p:spPr>
          <a:xfrm>
            <a:off x="2054520" y="1330920"/>
            <a:ext cx="13894560" cy="856908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Spiral model is a combination of the Iterative and Waterfall SDLC models with a significant accent on the risk analysis. The main issue of the spiral model is defining the right moment to take a step into the next stage. The preliminary set timeframes are recommended as the solution to this issue. The shift to the next stage is done according to the plan, even if the work on the previous step isn’t done yet. The plan is introduced based on the statistical data received in the last projects and even from the personal developer’s experience.</a:t>
            </a:r>
            <a:endParaRPr b="0" lang="en-PH" sz="4059" spc="-1" strike="noStrike">
              <a:solidFill>
                <a:srgbClr val="ffffff"/>
              </a:solidFill>
              <a:latin typeface="Arial"/>
            </a:endParaRPr>
          </a:p>
        </p:txBody>
      </p:sp>
      <p:sp>
        <p:nvSpPr>
          <p:cNvPr id="220" name="TextBox 12"/>
          <p:cNvSpPr/>
          <p:nvPr/>
        </p:nvSpPr>
        <p:spPr>
          <a:xfrm>
            <a:off x="1964160" y="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SPIRAL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21" name="Group 2"/>
          <p:cNvGrpSpPr/>
          <p:nvPr/>
        </p:nvGrpSpPr>
        <p:grpSpPr>
          <a:xfrm>
            <a:off x="0" y="-144720"/>
            <a:ext cx="18286560" cy="10430280"/>
            <a:chOff x="0" y="-144720"/>
            <a:chExt cx="18286560" cy="10430280"/>
          </a:xfrm>
        </p:grpSpPr>
        <p:sp>
          <p:nvSpPr>
            <p:cNvPr id="222"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3"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24"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5"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6"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7"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8"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29"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0" name="TextBox 11"/>
          <p:cNvSpPr/>
          <p:nvPr/>
        </p:nvSpPr>
        <p:spPr>
          <a:xfrm>
            <a:off x="2066400" y="1917360"/>
            <a:ext cx="13894560" cy="701100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Lifecycle is divided into small parts, and if the risk concentration is higher, the phase can be finished earlier to address the treats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development process is precisely documented yet scalable to the changes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scalability allows to make changes and add new functionality even at the relatively late stages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earlier working prototype is done – sooner users can point out the flaws</a:t>
            </a:r>
            <a:endParaRPr b="0" lang="en-PH" sz="4059" spc="-1" strike="noStrike">
              <a:solidFill>
                <a:srgbClr val="ffffff"/>
              </a:solidFill>
              <a:latin typeface="Arial"/>
            </a:endParaRPr>
          </a:p>
        </p:txBody>
      </p:sp>
      <p:sp>
        <p:nvSpPr>
          <p:cNvPr id="231" name="TextBox 12"/>
          <p:cNvSpPr/>
          <p:nvPr/>
        </p:nvSpPr>
        <p:spPr>
          <a:xfrm>
            <a:off x="1724760" y="22356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32" name="Group 2"/>
          <p:cNvGrpSpPr/>
          <p:nvPr/>
        </p:nvGrpSpPr>
        <p:grpSpPr>
          <a:xfrm>
            <a:off x="0" y="-144720"/>
            <a:ext cx="18286560" cy="10430280"/>
            <a:chOff x="0" y="-144720"/>
            <a:chExt cx="18286560" cy="10430280"/>
          </a:xfrm>
        </p:grpSpPr>
        <p:sp>
          <p:nvSpPr>
            <p:cNvPr id="233"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4"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35"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6"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7"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8"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39"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0"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1" name="TextBox 11"/>
          <p:cNvSpPr/>
          <p:nvPr/>
        </p:nvSpPr>
        <p:spPr>
          <a:xfrm>
            <a:off x="2196000" y="1627200"/>
            <a:ext cx="13894560" cy="467388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Can be quite expensive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The risk control demands involvement of the highly-skilled professionals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Can be ineffective for the small projects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Big number of the intermediate stages requires excessive documentation</a:t>
            </a:r>
            <a:endParaRPr b="0" lang="en-PH" sz="4059" spc="-1" strike="noStrike">
              <a:solidFill>
                <a:srgbClr val="ffffff"/>
              </a:solidFill>
              <a:latin typeface="Arial"/>
            </a:endParaRPr>
          </a:p>
        </p:txBody>
      </p:sp>
      <p:sp>
        <p:nvSpPr>
          <p:cNvPr id="242" name="TextBox 12"/>
          <p:cNvSpPr/>
          <p:nvPr/>
        </p:nvSpPr>
        <p:spPr>
          <a:xfrm>
            <a:off x="1724760" y="1159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DISADVANTAGE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43" name="Group 2"/>
          <p:cNvGrpSpPr/>
          <p:nvPr/>
        </p:nvGrpSpPr>
        <p:grpSpPr>
          <a:xfrm>
            <a:off x="0" y="-144720"/>
            <a:ext cx="18286560" cy="10430280"/>
            <a:chOff x="0" y="-144720"/>
            <a:chExt cx="18286560" cy="10430280"/>
          </a:xfrm>
        </p:grpSpPr>
        <p:sp>
          <p:nvSpPr>
            <p:cNvPr id="244"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5"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46"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7"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8"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49"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0"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1"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2" name="Freeform 11"/>
          <p:cNvSpPr/>
          <p:nvPr/>
        </p:nvSpPr>
        <p:spPr>
          <a:xfrm>
            <a:off x="3769200" y="299520"/>
            <a:ext cx="10832760" cy="9762840"/>
          </a:xfrm>
          <a:custGeom>
            <a:avLst/>
            <a:gdLst>
              <a:gd name="textAreaLeft" fmla="*/ 0 w 10832760"/>
              <a:gd name="textAreaRight" fmla="*/ 10834200 w 10832760"/>
              <a:gd name="textAreaTop" fmla="*/ 0 h 9762840"/>
              <a:gd name="textAreaBottom" fmla="*/ 9764280 h 9762840"/>
            </a:gdLst>
            <a:ahLst/>
            <a:rect l="textAreaLeft" t="textAreaTop" r="textAreaRight" b="textAreaBottom"/>
            <a:pathLst>
              <a:path w="10834340" h="9764449">
                <a:moveTo>
                  <a:pt x="0" y="0"/>
                </a:moveTo>
                <a:lnTo>
                  <a:pt x="10834340" y="0"/>
                </a:lnTo>
                <a:lnTo>
                  <a:pt x="10834340" y="9764449"/>
                </a:lnTo>
                <a:lnTo>
                  <a:pt x="0" y="9764449"/>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53" name="Group 2"/>
          <p:cNvGrpSpPr/>
          <p:nvPr/>
        </p:nvGrpSpPr>
        <p:grpSpPr>
          <a:xfrm>
            <a:off x="0" y="-144720"/>
            <a:ext cx="18286560" cy="10430280"/>
            <a:chOff x="0" y="-144720"/>
            <a:chExt cx="18286560" cy="10430280"/>
          </a:xfrm>
        </p:grpSpPr>
        <p:sp>
          <p:nvSpPr>
            <p:cNvPr id="254"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5"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56"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7"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8"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59"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0"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1"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2" name="TextBox 11"/>
          <p:cNvSpPr/>
          <p:nvPr/>
        </p:nvSpPr>
        <p:spPr>
          <a:xfrm>
            <a:off x="1813680" y="2150640"/>
            <a:ext cx="13894560" cy="779004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The V-Shaped (V-Model) is an extension of the Waterfall model that emphasizes Verification and Validation. On the left side are verification phases (checking against technical requirements), and on the right are validation phases (ensuring the product meets business needs). Each development stage has a corresponding testing stage—for example, requirement analysis ↔ acceptance testing, system design ↔ system testing, and architecture design ↔ integration testing.</a:t>
            </a:r>
            <a:endParaRPr b="0" lang="en-PH" sz="4059" spc="-1" strike="noStrike">
              <a:solidFill>
                <a:srgbClr val="ffffff"/>
              </a:solidFill>
              <a:latin typeface="Arial"/>
            </a:endParaRPr>
          </a:p>
        </p:txBody>
      </p:sp>
      <p:sp>
        <p:nvSpPr>
          <p:cNvPr id="263" name="TextBox 12"/>
          <p:cNvSpPr/>
          <p:nvPr/>
        </p:nvSpPr>
        <p:spPr>
          <a:xfrm>
            <a:off x="1813680" y="33408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V-SHAPED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64" name="Group 2"/>
          <p:cNvGrpSpPr/>
          <p:nvPr/>
        </p:nvGrpSpPr>
        <p:grpSpPr>
          <a:xfrm>
            <a:off x="0" y="-144720"/>
            <a:ext cx="18286560" cy="10430280"/>
            <a:chOff x="0" y="-144720"/>
            <a:chExt cx="18286560" cy="10430280"/>
          </a:xfrm>
        </p:grpSpPr>
        <p:sp>
          <p:nvSpPr>
            <p:cNvPr id="265"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6"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67"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8"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69"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0"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1"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2"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3" name="TextBox 11"/>
          <p:cNvSpPr/>
          <p:nvPr/>
        </p:nvSpPr>
        <p:spPr>
          <a:xfrm>
            <a:off x="2066400" y="1917360"/>
            <a:ext cx="13894560" cy="389484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Every stage of V-shaped model has strict results so it’s easy to control</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Testing and verification take place in the early stages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Good for the small projects, where requirements are static and clear</a:t>
            </a:r>
            <a:endParaRPr b="0" lang="en-PH" sz="4059" spc="-1" strike="noStrike">
              <a:solidFill>
                <a:srgbClr val="ffffff"/>
              </a:solidFill>
              <a:latin typeface="Arial"/>
            </a:endParaRPr>
          </a:p>
        </p:txBody>
      </p:sp>
      <p:sp>
        <p:nvSpPr>
          <p:cNvPr id="274" name="TextBox 12"/>
          <p:cNvSpPr/>
          <p:nvPr/>
        </p:nvSpPr>
        <p:spPr>
          <a:xfrm>
            <a:off x="1724760" y="22356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75" name="Group 2"/>
          <p:cNvGrpSpPr/>
          <p:nvPr/>
        </p:nvGrpSpPr>
        <p:grpSpPr>
          <a:xfrm>
            <a:off x="0" y="-144720"/>
            <a:ext cx="18286560" cy="10430280"/>
            <a:chOff x="0" y="-144720"/>
            <a:chExt cx="18286560" cy="10430280"/>
          </a:xfrm>
        </p:grpSpPr>
        <p:sp>
          <p:nvSpPr>
            <p:cNvPr id="276"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7"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78"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79"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0"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1"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2"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3"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4" name="TextBox 11"/>
          <p:cNvSpPr/>
          <p:nvPr/>
        </p:nvSpPr>
        <p:spPr>
          <a:xfrm>
            <a:off x="2196000" y="1627200"/>
            <a:ext cx="13894560" cy="233676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Lack of the flexibility</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Bad choice for the small projects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Relatively big risks</a:t>
            </a:r>
            <a:endParaRPr b="0" lang="en-PH" sz="4059" spc="-1" strike="noStrike">
              <a:solidFill>
                <a:srgbClr val="ffffff"/>
              </a:solidFill>
              <a:latin typeface="Arial"/>
            </a:endParaRPr>
          </a:p>
        </p:txBody>
      </p:sp>
      <p:sp>
        <p:nvSpPr>
          <p:cNvPr id="285" name="TextBox 12"/>
          <p:cNvSpPr/>
          <p:nvPr/>
        </p:nvSpPr>
        <p:spPr>
          <a:xfrm>
            <a:off x="1724760" y="1159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DISADVANTAGE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86" name="Group 2"/>
          <p:cNvGrpSpPr/>
          <p:nvPr/>
        </p:nvGrpSpPr>
        <p:grpSpPr>
          <a:xfrm>
            <a:off x="0" y="-144720"/>
            <a:ext cx="18286560" cy="10430280"/>
            <a:chOff x="0" y="-144720"/>
            <a:chExt cx="18286560" cy="10430280"/>
          </a:xfrm>
        </p:grpSpPr>
        <p:sp>
          <p:nvSpPr>
            <p:cNvPr id="287"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88"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89"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0"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1"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2"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3"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4"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5" name="Freeform 11"/>
          <p:cNvSpPr/>
          <p:nvPr/>
        </p:nvSpPr>
        <p:spPr>
          <a:xfrm>
            <a:off x="3894840" y="136800"/>
            <a:ext cx="10426320" cy="9945000"/>
          </a:xfrm>
          <a:custGeom>
            <a:avLst/>
            <a:gdLst>
              <a:gd name="textAreaLeft" fmla="*/ 0 w 10426320"/>
              <a:gd name="textAreaRight" fmla="*/ 10427760 w 10426320"/>
              <a:gd name="textAreaTop" fmla="*/ 0 h 9945000"/>
              <a:gd name="textAreaBottom" fmla="*/ 9946440 h 9945000"/>
            </a:gdLst>
            <a:ahLst/>
            <a:rect l="textAreaLeft" t="textAreaTop" r="textAreaRight" b="textAreaBottom"/>
            <a:pathLst>
              <a:path w="10427903" h="9946616">
                <a:moveTo>
                  <a:pt x="0" y="0"/>
                </a:moveTo>
                <a:lnTo>
                  <a:pt x="10427904" y="0"/>
                </a:lnTo>
                <a:lnTo>
                  <a:pt x="10427904" y="9946616"/>
                </a:lnTo>
                <a:lnTo>
                  <a:pt x="0" y="9946616"/>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296" name="Group 2"/>
          <p:cNvGrpSpPr/>
          <p:nvPr/>
        </p:nvGrpSpPr>
        <p:grpSpPr>
          <a:xfrm>
            <a:off x="0" y="-144720"/>
            <a:ext cx="18286560" cy="10430280"/>
            <a:chOff x="0" y="-144720"/>
            <a:chExt cx="18286560" cy="10430280"/>
          </a:xfrm>
        </p:grpSpPr>
        <p:sp>
          <p:nvSpPr>
            <p:cNvPr id="297"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298"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99"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0"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1"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2"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3"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4"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5" name="TextBox 11"/>
          <p:cNvSpPr/>
          <p:nvPr/>
        </p:nvSpPr>
        <p:spPr>
          <a:xfrm>
            <a:off x="1813680" y="2150640"/>
            <a:ext cx="13894560" cy="623196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Agile Model is a philosophy and family of methods (e.g., Scrum, Kanban, XP) that focuses on flexibility, collaboration, and customer involvement. Work is divided into short cycles called sprints, where tasks can change even during development. Unlike rigid models, Agile emphasizes continuous communication with clients through regular updates, sprint reviews, and daily/weekly meetings.</a:t>
            </a:r>
            <a:endParaRPr b="0" lang="en-PH" sz="4059" spc="-1" strike="noStrike">
              <a:solidFill>
                <a:srgbClr val="ffffff"/>
              </a:solidFill>
              <a:latin typeface="Arial"/>
            </a:endParaRPr>
          </a:p>
        </p:txBody>
      </p:sp>
      <p:sp>
        <p:nvSpPr>
          <p:cNvPr id="306" name="TextBox 12"/>
          <p:cNvSpPr/>
          <p:nvPr/>
        </p:nvSpPr>
        <p:spPr>
          <a:xfrm>
            <a:off x="1813680" y="33408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AGILE  MODEL</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307" name="Group 2"/>
          <p:cNvGrpSpPr/>
          <p:nvPr/>
        </p:nvGrpSpPr>
        <p:grpSpPr>
          <a:xfrm>
            <a:off x="0" y="-144720"/>
            <a:ext cx="18286560" cy="10430280"/>
            <a:chOff x="0" y="-144720"/>
            <a:chExt cx="18286560" cy="10430280"/>
          </a:xfrm>
        </p:grpSpPr>
        <p:sp>
          <p:nvSpPr>
            <p:cNvPr id="308"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09"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310"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1"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2"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3"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4"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5"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16" name="TextBox 11"/>
          <p:cNvSpPr/>
          <p:nvPr/>
        </p:nvSpPr>
        <p:spPr>
          <a:xfrm>
            <a:off x="2066400" y="1917360"/>
            <a:ext cx="13894560" cy="545292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Corrections of functional requirements are implemented into the development process to provide the competitiveness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Project is divided by short and transparent iterations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Risks are minimized thanks to the flexible change process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Fast release of the first product version</a:t>
            </a:r>
            <a:endParaRPr b="0" lang="en-PH" sz="4059" spc="-1" strike="noStrike">
              <a:solidFill>
                <a:srgbClr val="ffffff"/>
              </a:solidFill>
              <a:latin typeface="Arial"/>
            </a:endParaRPr>
          </a:p>
        </p:txBody>
      </p:sp>
      <p:sp>
        <p:nvSpPr>
          <p:cNvPr id="317" name="TextBox 12"/>
          <p:cNvSpPr/>
          <p:nvPr/>
        </p:nvSpPr>
        <p:spPr>
          <a:xfrm>
            <a:off x="1724760" y="22356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318" name="Group 2"/>
          <p:cNvGrpSpPr/>
          <p:nvPr/>
        </p:nvGrpSpPr>
        <p:grpSpPr>
          <a:xfrm>
            <a:off x="0" y="-144720"/>
            <a:ext cx="18286560" cy="10430280"/>
            <a:chOff x="0" y="-144720"/>
            <a:chExt cx="18286560" cy="10430280"/>
          </a:xfrm>
        </p:grpSpPr>
        <p:sp>
          <p:nvSpPr>
            <p:cNvPr id="319"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0"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321"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2"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3"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4"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5"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6"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27" name="TextBox 11"/>
          <p:cNvSpPr/>
          <p:nvPr/>
        </p:nvSpPr>
        <p:spPr>
          <a:xfrm>
            <a:off x="2196000" y="1627200"/>
            <a:ext cx="13894560" cy="6231960"/>
          </a:xfrm>
          <a:prstGeom prst="rect">
            <a:avLst/>
          </a:prstGeom>
          <a:noFill/>
          <a:ln w="0">
            <a:noFill/>
          </a:ln>
        </p:spPr>
        <p:style>
          <a:lnRef idx="0"/>
          <a:fillRef idx="0"/>
          <a:effectRef idx="0"/>
          <a:fontRef idx="minor"/>
        </p:style>
        <p:txBody>
          <a:bodyPr lIns="0" rIns="0" tIns="0" bIns="0" anchor="t">
            <a:spAutoFit/>
          </a:bodyPr>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Difficulties with measuring the final cost because of permanent changes</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a:ea typeface="Assistant"/>
              </a:rPr>
              <a:t>The team should be highly professional and client-oriented</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New requirements may conflict with the existing architecture</a:t>
            </a:r>
            <a:endParaRPr b="0" lang="en-PH" sz="4059" spc="-1" strike="noStrike">
              <a:solidFill>
                <a:srgbClr val="ffffff"/>
              </a:solidFill>
              <a:latin typeface="Arial"/>
            </a:endParaRPr>
          </a:p>
          <a:p>
            <a:pPr lvl="1" marL="876960" indent="-438480" algn="just" defTabSz="914400">
              <a:lnSpc>
                <a:spcPts val="6134"/>
              </a:lnSpc>
              <a:buClr>
                <a:srgbClr val="230e0e"/>
              </a:buClr>
              <a:buFont typeface="Arial"/>
              <a:buChar char="•"/>
            </a:pPr>
            <a:r>
              <a:rPr b="0" lang="en-US" sz="4059" spc="-1" strike="noStrike">
                <a:solidFill>
                  <a:srgbClr val="230e0e"/>
                </a:solidFill>
                <a:latin typeface="Assistant Light"/>
                <a:ea typeface="Assistant Light"/>
              </a:rPr>
              <a:t>With all the corrections and changes there is possibility that the project will exceed expected time</a:t>
            </a:r>
            <a:endParaRPr b="0" lang="en-PH" sz="4059" spc="-1" strike="noStrike">
              <a:solidFill>
                <a:srgbClr val="ffffff"/>
              </a:solidFill>
              <a:latin typeface="Arial"/>
            </a:endParaRPr>
          </a:p>
        </p:txBody>
      </p:sp>
      <p:sp>
        <p:nvSpPr>
          <p:cNvPr id="328" name="TextBox 12"/>
          <p:cNvSpPr/>
          <p:nvPr/>
        </p:nvSpPr>
        <p:spPr>
          <a:xfrm>
            <a:off x="1724760" y="115920"/>
            <a:ext cx="14235840" cy="1688760"/>
          </a:xfrm>
          <a:prstGeom prst="rect">
            <a:avLst/>
          </a:prstGeom>
          <a:noFill/>
          <a:ln w="0">
            <a:noFill/>
          </a:ln>
        </p:spPr>
        <p:style>
          <a:lnRef idx="0"/>
          <a:fillRef idx="0"/>
          <a:effectRef idx="0"/>
          <a:fontRef idx="minor"/>
        </p:style>
        <p:txBody>
          <a:bodyPr lIns="0" rIns="0" tIns="0" bIns="0" anchor="t">
            <a:spAutoFit/>
          </a:bodyPr>
          <a:p>
            <a:pPr algn="ctr" defTabSz="914400">
              <a:lnSpc>
                <a:spcPts val="13300"/>
              </a:lnSpc>
            </a:pPr>
            <a:r>
              <a:rPr b="0" lang="en-US" sz="9500" spc="-1" strike="noStrike">
                <a:solidFill>
                  <a:srgbClr val="230e0e"/>
                </a:solidFill>
                <a:latin typeface="Maragsa"/>
                <a:ea typeface="Maragsa"/>
              </a:rPr>
              <a:t>DISADVANTAGE</a:t>
            </a:r>
            <a:endParaRPr b="0" lang="en-PH" sz="9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329" name="Group 2"/>
          <p:cNvGrpSpPr/>
          <p:nvPr/>
        </p:nvGrpSpPr>
        <p:grpSpPr>
          <a:xfrm>
            <a:off x="0" y="-144720"/>
            <a:ext cx="18286560" cy="10430280"/>
            <a:chOff x="0" y="-144720"/>
            <a:chExt cx="18286560" cy="10430280"/>
          </a:xfrm>
        </p:grpSpPr>
        <p:sp>
          <p:nvSpPr>
            <p:cNvPr id="330"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1"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332" name="Freeform 5"/>
          <p:cNvSpPr/>
          <p:nvPr/>
        </p:nvSpPr>
        <p:spPr>
          <a:xfrm rot="16200000">
            <a:off x="17275320" y="-102600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4" y="0"/>
                </a:lnTo>
                <a:lnTo>
                  <a:pt x="2024824"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3" name="Freeform 6"/>
          <p:cNvSpPr/>
          <p:nvPr/>
        </p:nvSpPr>
        <p:spPr>
          <a:xfrm flipH="1" flipV="1" rot="16200000">
            <a:off x="-1013760" y="7216920"/>
            <a:ext cx="2023560" cy="4113360"/>
          </a:xfrm>
          <a:custGeom>
            <a:avLst/>
            <a:gdLst>
              <a:gd name="textAreaLeft" fmla="*/ -720 w 2023560"/>
              <a:gd name="textAreaRight" fmla="*/ 202428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4" name="Freeform 7"/>
          <p:cNvSpPr/>
          <p:nvPr/>
        </p:nvSpPr>
        <p:spPr>
          <a:xfrm>
            <a:off x="-2325960" y="414720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5" name="Freeform 8"/>
          <p:cNvSpPr/>
          <p:nvPr/>
        </p:nvSpPr>
        <p:spPr>
          <a:xfrm flipH="1" flipV="1">
            <a:off x="15960600" y="208836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6" name="Freeform 9"/>
          <p:cNvSpPr/>
          <p:nvPr/>
        </p:nvSpPr>
        <p:spPr>
          <a:xfrm flipV="1" rot="16200000">
            <a:off x="1046160" y="-2042280"/>
            <a:ext cx="2023560" cy="4113360"/>
          </a:xfrm>
          <a:custGeom>
            <a:avLst/>
            <a:gdLst>
              <a:gd name="textAreaLeft" fmla="*/ 0 w 2023560"/>
              <a:gd name="textAreaRight" fmla="*/ 2025000 w 2023560"/>
              <a:gd name="textAreaTop" fmla="*/ -720 h 4113360"/>
              <a:gd name="textAreaBottom" fmla="*/ 4114080 h 4113360"/>
            </a:gdLst>
            <a:ahLst/>
            <a:rect l="textAreaLeft" t="textAreaTop" r="textAreaRight" b="textAreaBottom"/>
            <a:pathLst>
              <a:path w="2024824" h="4114800">
                <a:moveTo>
                  <a:pt x="0" y="4114800"/>
                </a:moveTo>
                <a:lnTo>
                  <a:pt x="2024824" y="4114800"/>
                </a:lnTo>
                <a:lnTo>
                  <a:pt x="2024824" y="0"/>
                </a:lnTo>
                <a:lnTo>
                  <a:pt x="0" y="0"/>
                </a:lnTo>
                <a:lnTo>
                  <a:pt x="0" y="411480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7" name="Freeform 10"/>
          <p:cNvSpPr/>
          <p:nvPr/>
        </p:nvSpPr>
        <p:spPr>
          <a:xfrm flipH="1" rot="16200000">
            <a:off x="15217920" y="8229600"/>
            <a:ext cx="2023560" cy="4113360"/>
          </a:xfrm>
          <a:custGeom>
            <a:avLst/>
            <a:gdLst>
              <a:gd name="textAreaLeft" fmla="*/ 720 w 2023560"/>
              <a:gd name="textAreaRight" fmla="*/ 2025720 w 2023560"/>
              <a:gd name="textAreaTop" fmla="*/ 0 h 4113360"/>
              <a:gd name="textAreaBottom" fmla="*/ 4114800 h 4113360"/>
            </a:gdLst>
            <a:ahLst/>
            <a:rect l="textAreaLeft" t="textAreaTop" r="textAreaRight" b="textAreaBottom"/>
            <a:pathLst>
              <a:path w="2024824" h="4114800">
                <a:moveTo>
                  <a:pt x="2024824" y="0"/>
                </a:moveTo>
                <a:lnTo>
                  <a:pt x="0" y="0"/>
                </a:lnTo>
                <a:lnTo>
                  <a:pt x="0" y="4114800"/>
                </a:lnTo>
                <a:lnTo>
                  <a:pt x="2024824" y="4114800"/>
                </a:lnTo>
                <a:lnTo>
                  <a:pt x="2024824"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38" name="Freeform 11"/>
          <p:cNvSpPr/>
          <p:nvPr/>
        </p:nvSpPr>
        <p:spPr>
          <a:xfrm>
            <a:off x="2153520" y="1263600"/>
            <a:ext cx="13807080" cy="7662240"/>
          </a:xfrm>
          <a:custGeom>
            <a:avLst/>
            <a:gdLst>
              <a:gd name="textAreaLeft" fmla="*/ 0 w 13807080"/>
              <a:gd name="textAreaRight" fmla="*/ 13808520 w 13807080"/>
              <a:gd name="textAreaTop" fmla="*/ 0 h 7662240"/>
              <a:gd name="textAreaBottom" fmla="*/ 7663680 h 7662240"/>
            </a:gdLst>
            <a:ahLst/>
            <a:rect l="textAreaLeft" t="textAreaTop" r="textAreaRight" b="textAreaBottom"/>
            <a:pathLst>
              <a:path w="13808652" h="7663802">
                <a:moveTo>
                  <a:pt x="0" y="0"/>
                </a:moveTo>
                <a:lnTo>
                  <a:pt x="13808652" y="0"/>
                </a:lnTo>
                <a:lnTo>
                  <a:pt x="13808652" y="7663802"/>
                </a:lnTo>
                <a:lnTo>
                  <a:pt x="0" y="7663802"/>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b1e1e"/>
        </a:solidFill>
      </p:bgPr>
    </p:bg>
    <p:spTree>
      <p:nvGrpSpPr>
        <p:cNvPr id="1" name=""/>
        <p:cNvGrpSpPr/>
        <p:nvPr/>
      </p:nvGrpSpPr>
      <p:grpSpPr>
        <a:xfrm>
          <a:off x="0" y="0"/>
          <a:ext cx="0" cy="0"/>
          <a:chOff x="0" y="0"/>
          <a:chExt cx="0" cy="0"/>
        </a:xfrm>
      </p:grpSpPr>
      <p:grpSp>
        <p:nvGrpSpPr>
          <p:cNvPr id="339" name="Group 2"/>
          <p:cNvGrpSpPr/>
          <p:nvPr/>
        </p:nvGrpSpPr>
        <p:grpSpPr>
          <a:xfrm>
            <a:off x="0" y="-144720"/>
            <a:ext cx="18286560" cy="10430280"/>
            <a:chOff x="0" y="-144720"/>
            <a:chExt cx="18286560" cy="10430280"/>
          </a:xfrm>
        </p:grpSpPr>
        <p:sp>
          <p:nvSpPr>
            <p:cNvPr id="340" name="Freeform 3"/>
            <p:cNvSpPr/>
            <p:nvPr/>
          </p:nvSpPr>
          <p:spPr>
            <a:xfrm>
              <a:off x="0" y="0"/>
              <a:ext cx="18286560" cy="10285560"/>
            </a:xfrm>
            <a:custGeom>
              <a:avLst/>
              <a:gdLst>
                <a:gd name="textAreaLeft" fmla="*/ 0 w 18286560"/>
                <a:gd name="textAreaRight" fmla="*/ 18288000 w 18286560"/>
                <a:gd name="textAreaTop" fmla="*/ 0 h 10285560"/>
                <a:gd name="textAreaBottom" fmla="*/ 10287000 h 10285560"/>
              </a:gdLst>
              <a:ahLst/>
              <a:rect l="textAreaLeft" t="textAreaTop" r="textAreaRight" b="textAreaBottom"/>
              <a:pathLst>
                <a:path w="4816592" h="2709333">
                  <a:moveTo>
                    <a:pt x="0" y="0"/>
                  </a:moveTo>
                  <a:lnTo>
                    <a:pt x="4816592" y="0"/>
                  </a:lnTo>
                  <a:lnTo>
                    <a:pt x="4816592" y="2709333"/>
                  </a:lnTo>
                  <a:lnTo>
                    <a:pt x="0" y="2709333"/>
                  </a:lnTo>
                  <a:close/>
                </a:path>
              </a:pathLst>
            </a:custGeom>
            <a:solidFill>
              <a:srgbClr val="fcecd4"/>
            </a:solidFill>
            <a:ln cap="sq" w="171450">
              <a:solidFill>
                <a:srgbClr val="dfd0b8"/>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41" name="TextBox 4"/>
            <p:cNvSpPr/>
            <p:nvPr/>
          </p:nvSpPr>
          <p:spPr>
            <a:xfrm>
              <a:off x="0" y="-144720"/>
              <a:ext cx="18286560" cy="10430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342" name="Freeform 5"/>
          <p:cNvSpPr/>
          <p:nvPr/>
        </p:nvSpPr>
        <p:spPr>
          <a:xfrm rot="16200000">
            <a:off x="15077160" y="-860040"/>
            <a:ext cx="2023560" cy="4113360"/>
          </a:xfrm>
          <a:custGeom>
            <a:avLst/>
            <a:gdLst>
              <a:gd name="textAreaLeft" fmla="*/ 0 w 2023560"/>
              <a:gd name="textAreaRight" fmla="*/ 2025000 w 2023560"/>
              <a:gd name="textAreaTop" fmla="*/ 0 h 4113360"/>
              <a:gd name="textAreaBottom" fmla="*/ 4114800 h 4113360"/>
            </a:gdLst>
            <a:ahLst/>
            <a:rect l="textAreaLeft" t="textAreaTop" r="textAreaRight" b="textAreaBottom"/>
            <a:pathLst>
              <a:path w="2024824" h="4114800">
                <a:moveTo>
                  <a:pt x="0" y="0"/>
                </a:moveTo>
                <a:lnTo>
                  <a:pt x="2024825" y="0"/>
                </a:lnTo>
                <a:lnTo>
                  <a:pt x="2024825"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43" name="Freeform 6"/>
          <p:cNvSpPr/>
          <p:nvPr/>
        </p:nvSpPr>
        <p:spPr>
          <a:xfrm flipH="1" flipV="1" rot="16200000">
            <a:off x="1282320" y="7005960"/>
            <a:ext cx="2023560" cy="4113360"/>
          </a:xfrm>
          <a:custGeom>
            <a:avLst/>
            <a:gdLst>
              <a:gd name="textAreaLeft" fmla="*/ 720 w 2023560"/>
              <a:gd name="textAreaRight" fmla="*/ 2025720 w 2023560"/>
              <a:gd name="textAreaTop" fmla="*/ -720 h 4113360"/>
              <a:gd name="textAreaBottom" fmla="*/ 4114080 h 4113360"/>
            </a:gdLst>
            <a:ahLst/>
            <a:rect l="textAreaLeft" t="textAreaTop" r="textAreaRight" b="textAreaBottom"/>
            <a:pathLst>
              <a:path w="2024824" h="4114800">
                <a:moveTo>
                  <a:pt x="2024824" y="4114800"/>
                </a:moveTo>
                <a:lnTo>
                  <a:pt x="0" y="4114800"/>
                </a:lnTo>
                <a:lnTo>
                  <a:pt x="0" y="0"/>
                </a:lnTo>
                <a:lnTo>
                  <a:pt x="2024824" y="0"/>
                </a:lnTo>
                <a:lnTo>
                  <a:pt x="2024824" y="411480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44" name="Freeform 7"/>
          <p:cNvSpPr/>
          <p:nvPr/>
        </p:nvSpPr>
        <p:spPr>
          <a:xfrm>
            <a:off x="-2355120" y="3691080"/>
            <a:ext cx="4650120" cy="4113360"/>
          </a:xfrm>
          <a:custGeom>
            <a:avLst/>
            <a:gdLst>
              <a:gd name="textAreaLeft" fmla="*/ 0 w 4650120"/>
              <a:gd name="textAreaRight" fmla="*/ 4651560 w 4650120"/>
              <a:gd name="textAreaTop" fmla="*/ 0 h 4113360"/>
              <a:gd name="textAreaBottom" fmla="*/ 4114800 h 4113360"/>
            </a:gdLst>
            <a:ahLst/>
            <a:rect l="textAreaLeft" t="textAreaTop" r="textAreaRight" b="textAreaBottom"/>
            <a:pathLst>
              <a:path w="4651682" h="4114800">
                <a:moveTo>
                  <a:pt x="0" y="0"/>
                </a:moveTo>
                <a:lnTo>
                  <a:pt x="4651682" y="0"/>
                </a:lnTo>
                <a:lnTo>
                  <a:pt x="4651682" y="4114800"/>
                </a:lnTo>
                <a:lnTo>
                  <a:pt x="0" y="4114800"/>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45" name="Freeform 8"/>
          <p:cNvSpPr/>
          <p:nvPr/>
        </p:nvSpPr>
        <p:spPr>
          <a:xfrm flipH="1" flipV="1">
            <a:off x="15960600" y="2515680"/>
            <a:ext cx="4650120" cy="4113360"/>
          </a:xfrm>
          <a:custGeom>
            <a:avLst/>
            <a:gdLst>
              <a:gd name="textAreaLeft" fmla="*/ 720 w 4650120"/>
              <a:gd name="textAreaRight" fmla="*/ 4652280 w 4650120"/>
              <a:gd name="textAreaTop" fmla="*/ -720 h 4113360"/>
              <a:gd name="textAreaBottom" fmla="*/ 4114080 h 4113360"/>
            </a:gdLst>
            <a:ahLst/>
            <a:rect l="textAreaLeft" t="textAreaTop" r="textAreaRight" b="textAreaBottom"/>
            <a:pathLst>
              <a:path w="4651682" h="4114800">
                <a:moveTo>
                  <a:pt x="4651682" y="4114800"/>
                </a:moveTo>
                <a:lnTo>
                  <a:pt x="0" y="4114800"/>
                </a:lnTo>
                <a:lnTo>
                  <a:pt x="0" y="0"/>
                </a:lnTo>
                <a:lnTo>
                  <a:pt x="4651682" y="0"/>
                </a:lnTo>
                <a:lnTo>
                  <a:pt x="4651682" y="411480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ndParaRPr>
          </a:p>
        </p:txBody>
      </p:sp>
      <p:sp>
        <p:nvSpPr>
          <p:cNvPr id="346" name="TextBox 9"/>
          <p:cNvSpPr/>
          <p:nvPr/>
        </p:nvSpPr>
        <p:spPr>
          <a:xfrm>
            <a:off x="2648160" y="3647160"/>
            <a:ext cx="12989880" cy="2772000"/>
          </a:xfrm>
          <a:prstGeom prst="rect">
            <a:avLst/>
          </a:prstGeom>
          <a:noFill/>
          <a:ln w="0">
            <a:noFill/>
          </a:ln>
        </p:spPr>
        <p:style>
          <a:lnRef idx="0"/>
          <a:fillRef idx="0"/>
          <a:effectRef idx="0"/>
          <a:fontRef idx="minor"/>
        </p:style>
        <p:txBody>
          <a:bodyPr lIns="0" rIns="0" tIns="0" bIns="0" anchor="t">
            <a:spAutoFit/>
          </a:bodyPr>
          <a:p>
            <a:pPr algn="ctr" defTabSz="914400">
              <a:lnSpc>
                <a:spcPts val="21830"/>
              </a:lnSpc>
            </a:pPr>
            <a:r>
              <a:rPr b="0" lang="en-US" sz="15600" spc="-1" strike="noStrike">
                <a:solidFill>
                  <a:srgbClr val="230e0e"/>
                </a:solidFill>
                <a:latin typeface="Maragsa"/>
                <a:ea typeface="Maragsa"/>
              </a:rPr>
              <a:t>THANK YOU</a:t>
            </a:r>
            <a:endParaRPr b="0" lang="en-PH" sz="15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522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DAGx98S8yso</dc:identifier>
  <dc:language>en-PH</dc:language>
  <cp:lastModifiedBy/>
  <dcterms:modified xsi:type="dcterms:W3CDTF">2026-08-10T18:07:42Z</dcterms:modified>
  <cp:revision>4</cp:revision>
  <dc:subject/>
  <dc:title>Cream Maroon Minimalist Modern Geometric Project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