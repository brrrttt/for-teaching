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84.xml.rels" ContentType="application/vnd.openxmlformats-package.relationships+xml"/>
  <Override PartName="/ppt/slides/_rels/slide19.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83.xml.rels" ContentType="application/vnd.openxmlformats-package.relationships+xml"/>
  <Override PartName="/ppt/slides/_rels/slide18.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82.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8.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46.xml.rels" ContentType="application/vnd.openxmlformats-package.relationships+xml"/>
  <Override PartName="/ppt/slides/_rels/slide60.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61.xml.rels" ContentType="application/vnd.openxmlformats-package.relationships+xml"/>
  <Override PartName="/ppt/slides/_rels/slide59.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30.xml.rels" ContentType="application/vnd.openxmlformats-package.relationships+xml"/>
  <Override PartName="/ppt/slides/_rels/slide67.xml.rels" ContentType="application/vnd.openxmlformats-package.relationships+xml"/>
  <Override PartName="/ppt/slides/_rels/slide31.xml.rels" ContentType="application/vnd.openxmlformats-package.relationships+xml"/>
  <Override PartName="/ppt/slides/_rels/slide68.xml.rels" ContentType="application/vnd.openxmlformats-package.relationships+xml"/>
  <Override PartName="/ppt/slides/_rels/slide32.xml.rels" ContentType="application/vnd.openxmlformats-package.relationships+xml"/>
  <Override PartName="/ppt/slides/_rels/slide69.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79.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78.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77.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6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70.xml.rels" ContentType="application/vnd.openxmlformats-package.relationships+xml"/>
  <Override PartName="/ppt/slides/_rels/slide65.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6.xml.rels" ContentType="application/vnd.openxmlformats-package.relationships+xml"/>
  <Override PartName="/ppt/slides/_rels/slide14.xml.rels" ContentType="application/vnd.openxmlformats-package.relationships+xml"/>
  <Override PartName="/ppt/slides/_rels/slide86.xml.rels" ContentType="application/vnd.openxmlformats-package.relationships+xml"/>
  <Override PartName="/ppt/slides/_rels/slide74.xml.rels" ContentType="application/vnd.openxmlformats-package.relationships+xml"/>
  <Override PartName="/ppt/slides/_rels/slide85.xml.rels" ContentType="application/vnd.openxmlformats-package.relationships+xml"/>
  <Override PartName="/ppt/slides/_rels/slide73.xml.rels" ContentType="application/vnd.openxmlformats-package.relationships+xml"/>
  <Override PartName="/ppt/slides/_rels/slide76.xml.rels" ContentType="application/vnd.openxmlformats-package.relationships+xml"/>
  <Override PartName="/ppt/slides/_rels/slide75.xml.rels" ContentType="application/vnd.openxmlformats-package.relationships+xml"/>
  <Override PartName="/ppt/slides/_rels/slide72.xml.rels" ContentType="application/vnd.openxmlformats-package.relationships+xml"/>
  <Override PartName="/ppt/slides/_rels/slide80.xml.rels" ContentType="application/vnd.openxmlformats-package.relationships+xml"/>
  <Override PartName="/ppt/slides/_rels/slide15.xml.rels" ContentType="application/vnd.openxmlformats-package.relationships+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2.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_rels/presentation.xml.rels" ContentType="application/vnd.openxmlformats-package.relationships+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11.png" ContentType="image/png"/>
  <Override PartName="/ppt/media/image17.png" ContentType="image/png"/>
  <Override PartName="/ppt/media/image8.png" ContentType="image/png"/>
  <Override PartName="/ppt/media/image12.png" ContentType="image/png"/>
  <Override PartName="/ppt/media/image3.png" ContentType="image/png"/>
  <Override PartName="/ppt/media/image18.png" ContentType="image/png"/>
  <Override PartName="/ppt/media/image9.png" ContentType="image/png"/>
  <Override PartName="/ppt/media/image20.png" ContentType="image/png"/>
  <Override PartName="/ppt/media/image13.png" ContentType="image/png"/>
  <Override PartName="/ppt/media/image4.png" ContentType="image/png"/>
  <Override PartName="/ppt/media/image30.png" ContentType="image/png"/>
  <Override PartName="/ppt/media/image31.png" ContentType="image/png"/>
  <Override PartName="/ppt/media/image32.png" ContentType="image/png"/>
  <Override PartName="/ppt/media/image2.png" ContentType="image/png"/>
  <Override PartName="/ppt/media/image34.png" ContentType="image/png"/>
  <Override PartName="/ppt/media/image7.png" ContentType="image/png"/>
  <Override PartName="/ppt/media/image16.png" ContentType="image/png"/>
  <Override PartName="/ppt/media/image10.png" ContentType="image/png"/>
  <Override PartName="/ppt/media/image1.png" ContentType="image/png"/>
  <Override PartName="/ppt/media/image33.png" ContentType="image/png"/>
  <Override PartName="/ppt/media/image6.png" ContentType="image/png"/>
  <Override PartName="/ppt/media/image15.png" ContentType="image/png"/>
  <Override PartName="/ppt/media/image5.png" ContentType="image/png"/>
  <Override PartName="/ppt/media/image14.png" ContentType="image/pn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6082DFD3-CED0-415E-9710-5607581A2648}" type="slidenum">
              <a:t>&lt;#&gt;</a:t>
            </a:fld>
          </a:p>
        </p:txBody>
      </p:sp>
      <p:sp>
        <p:nvSpPr>
          <p:cNvPr id="4" name="PlaceHolder 3"/>
          <p:cNvSpPr>
            <a:spLocks noGrp="1"/>
          </p:cNvSpPr>
          <p:nvPr>
            <p:ph type="dt" idx="3"/>
          </p:nvPr>
        </p:nvSpPr>
        <p:spPr/>
        <p:txBody>
          <a:bodyPr/>
          <a:p>
            <a:r>
              <a:rPr lang="en-PH"/>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11"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PH"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B1582697-EE9B-4F92-819E-EAB84D320FCD}" type="slidenum">
              <a:t>&lt;#&gt;</a:t>
            </a:fld>
          </a:p>
        </p:txBody>
      </p:sp>
      <p:sp>
        <p:nvSpPr>
          <p:cNvPr id="6" name="PlaceHolder 5"/>
          <p:cNvSpPr>
            <a:spLocks noGrp="1"/>
          </p:cNvSpPr>
          <p:nvPr>
            <p:ph type="dt" idx="6"/>
          </p:nvPr>
        </p:nvSpPr>
        <p:spPr/>
        <p:txBody>
          <a:bodyPr/>
          <a:p>
            <a:r>
              <a:rPr lang="en-PH"/>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 name="PlaceHolder 2"/>
          <p:cNvSpPr>
            <a:spLocks noGrp="1"/>
          </p:cNvSpPr>
          <p:nvPr>
            <p:ph type="sldNum" idx="2"/>
          </p:nvPr>
        </p:nvSpPr>
        <p:spPr>
          <a:xfrm>
            <a:off x="6553080" y="6356520"/>
            <a:ext cx="213120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29350B2B-9F4E-43AF-85F9-D85E4068900E}"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2" name="PlaceHolder 3"/>
          <p:cNvSpPr>
            <a:spLocks noGrp="1"/>
          </p:cNvSpPr>
          <p:nvPr>
            <p:ph type="dt" idx="3"/>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en-PH" sz="4400" spc="-1" strike="noStrike">
                <a:solidFill>
                  <a:srgbClr val="000000"/>
                </a:solidFill>
                <a:latin typeface="Arial"/>
              </a:rPr>
              <a:t>Click to edit the title text format</a:t>
            </a:r>
            <a:endParaRPr b="0" lang="en-PH" sz="4400" spc="-1" strike="noStrike">
              <a:solidFill>
                <a:srgbClr val="000000"/>
              </a:solidFill>
              <a:latin typeface="Arial"/>
            </a:endParaRPr>
          </a:p>
        </p:txBody>
      </p:sp>
      <p:sp>
        <p:nvSpPr>
          <p:cNvPr id="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3200" spc="-1" strike="noStrike">
                <a:solidFill>
                  <a:srgbClr val="000000"/>
                </a:solidFill>
                <a:latin typeface="Arial"/>
              </a:rPr>
              <a:t>Click to edit the outline text format</a:t>
            </a:r>
            <a:endParaRPr b="0" lang="en-PH"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2800" spc="-1" strike="noStrike">
                <a:solidFill>
                  <a:srgbClr val="000000"/>
                </a:solidFill>
                <a:latin typeface="Arial"/>
              </a:rPr>
              <a:t>Second Outline Level</a:t>
            </a:r>
            <a:endParaRPr b="0" lang="en-PH"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2400" spc="-1" strike="noStrike">
                <a:solidFill>
                  <a:srgbClr val="000000"/>
                </a:solidFill>
                <a:latin typeface="Arial"/>
              </a:rPr>
              <a:t>Third Outline Level</a:t>
            </a:r>
            <a:endParaRPr b="0" lang="en-PH"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2000" spc="-1" strike="noStrike">
                <a:solidFill>
                  <a:srgbClr val="000000"/>
                </a:solidFill>
                <a:latin typeface="Arial"/>
              </a:rPr>
              <a:t>Fourth Outline Level</a:t>
            </a:r>
            <a:endParaRPr b="0" lang="en-PH"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2000" spc="-1" strike="noStrike">
                <a:solidFill>
                  <a:srgbClr val="000000"/>
                </a:solidFill>
                <a:latin typeface="Arial"/>
              </a:rPr>
              <a:t>Fifth Outline Level</a:t>
            </a:r>
            <a:endParaRPr b="0" lang="en-PH"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2000" spc="-1" strike="noStrike">
                <a:solidFill>
                  <a:srgbClr val="000000"/>
                </a:solidFill>
                <a:latin typeface="Arial"/>
              </a:rPr>
              <a:t>Sixth Outline Level</a:t>
            </a:r>
            <a:endParaRPr b="0" lang="en-PH"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2000" spc="-1" strike="noStrike">
                <a:solidFill>
                  <a:srgbClr val="000000"/>
                </a:solidFill>
                <a:latin typeface="Arial"/>
              </a:rPr>
              <a:t>Seventh Outline Level</a:t>
            </a:r>
            <a:endParaRPr b="0" lang="en-PH"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6" name="PlaceHolder 2"/>
          <p:cNvSpPr>
            <a:spLocks noGrp="1"/>
          </p:cNvSpPr>
          <p:nvPr>
            <p:ph type="ftr" idx="4"/>
          </p:nvPr>
        </p:nvSpPr>
        <p:spPr>
          <a:xfrm>
            <a:off x="3124080" y="6356520"/>
            <a:ext cx="28929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7" name="PlaceHolder 3"/>
          <p:cNvSpPr>
            <a:spLocks noGrp="1"/>
          </p:cNvSpPr>
          <p:nvPr>
            <p:ph type="sldNum" idx="5"/>
          </p:nvPr>
        </p:nvSpPr>
        <p:spPr>
          <a:xfrm>
            <a:off x="6553080" y="6356520"/>
            <a:ext cx="213120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5E27716-6344-4BD8-B665-0925A53093C5}" type="slidenum">
              <a:rPr b="0" lang="en-US" sz="1200" spc="-1" strike="noStrike">
                <a:solidFill>
                  <a:schemeClr val="dk1">
                    <a:tint val="75000"/>
                  </a:schemeClr>
                </a:solidFill>
                <a:latin typeface="Calibri"/>
              </a:rPr>
              <a:t>&lt;number&gt;</a:t>
            </a:fld>
            <a:endParaRPr b="0" lang="en-PH" sz="1200" spc="-1" strike="noStrike">
              <a:solidFill>
                <a:srgbClr val="000000"/>
              </a:solidFill>
              <a:latin typeface="Times New Roman"/>
            </a:endParaRPr>
          </a:p>
        </p:txBody>
      </p:sp>
      <p:sp>
        <p:nvSpPr>
          <p:cNvPr id="8" name="PlaceHolder 4"/>
          <p:cNvSpPr>
            <a:spLocks noGrp="1"/>
          </p:cNvSpPr>
          <p:nvPr>
            <p:ph type="dt" idx="6"/>
          </p:nvPr>
        </p:nvSpPr>
        <p:spPr>
          <a:xfrm>
            <a:off x="457200" y="6356520"/>
            <a:ext cx="2131200" cy="3625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9"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3200" spc="-1" strike="noStrike">
                <a:solidFill>
                  <a:srgbClr val="000000"/>
                </a:solidFill>
                <a:latin typeface="Arial"/>
              </a:rPr>
              <a:t>Click to edit the outline text format</a:t>
            </a:r>
            <a:endParaRPr b="0" lang="en-PH"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2800" spc="-1" strike="noStrike">
                <a:solidFill>
                  <a:srgbClr val="000000"/>
                </a:solidFill>
                <a:latin typeface="Arial"/>
              </a:rPr>
              <a:t>Second Outline Level</a:t>
            </a:r>
            <a:endParaRPr b="0" lang="en-PH"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2400" spc="-1" strike="noStrike">
                <a:solidFill>
                  <a:srgbClr val="000000"/>
                </a:solidFill>
                <a:latin typeface="Arial"/>
              </a:rPr>
              <a:t>Third Outline Level</a:t>
            </a:r>
            <a:endParaRPr b="0" lang="en-PH"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2000" spc="-1" strike="noStrike">
                <a:solidFill>
                  <a:srgbClr val="000000"/>
                </a:solidFill>
                <a:latin typeface="Arial"/>
              </a:rPr>
              <a:t>Fourth Outline Level</a:t>
            </a:r>
            <a:endParaRPr b="0" lang="en-PH"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2000" spc="-1" strike="noStrike">
                <a:solidFill>
                  <a:srgbClr val="000000"/>
                </a:solidFill>
                <a:latin typeface="Arial"/>
              </a:rPr>
              <a:t>Fifth Outline Level</a:t>
            </a:r>
            <a:endParaRPr b="0" lang="en-PH"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2000" spc="-1" strike="noStrike">
                <a:solidFill>
                  <a:srgbClr val="000000"/>
                </a:solidFill>
                <a:latin typeface="Arial"/>
              </a:rPr>
              <a:t>Sixth Outline Level</a:t>
            </a:r>
            <a:endParaRPr b="0" lang="en-PH"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2000" spc="-1" strike="noStrike">
                <a:solidFill>
                  <a:srgbClr val="000000"/>
                </a:solidFill>
                <a:latin typeface="Arial"/>
              </a:rPr>
              <a:t>Seventh Outline Level</a:t>
            </a:r>
            <a:endParaRPr b="0" lang="en-PH"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5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7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7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74.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7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7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77.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xml"/>
</Relationships>
</file>

<file path=ppt/slides/_rels/slide7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 name="Group 2"/>
          <p:cNvGrpSpPr/>
          <p:nvPr/>
        </p:nvGrpSpPr>
        <p:grpSpPr>
          <a:xfrm>
            <a:off x="-5745600" y="4680360"/>
            <a:ext cx="10423800" cy="10182600"/>
            <a:chOff x="-5745600" y="4680360"/>
            <a:chExt cx="10423800" cy="10182600"/>
          </a:xfrm>
        </p:grpSpPr>
        <p:sp>
          <p:nvSpPr>
            <p:cNvPr id="13" name="Freeform 3"/>
            <p:cNvSpPr/>
            <p:nvPr/>
          </p:nvSpPr>
          <p:spPr>
            <a:xfrm rot="19037400">
              <a:off x="-5097240" y="757728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 name="TextBox 4"/>
            <p:cNvSpPr/>
            <p:nvPr/>
          </p:nvSpPr>
          <p:spPr>
            <a:xfrm rot="19037400">
              <a:off x="-5247360" y="719388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 name="Group 5"/>
          <p:cNvGrpSpPr/>
          <p:nvPr/>
        </p:nvGrpSpPr>
        <p:grpSpPr>
          <a:xfrm>
            <a:off x="-776160" y="8906400"/>
            <a:ext cx="5150520" cy="5031360"/>
            <a:chOff x="-776160" y="8906400"/>
            <a:chExt cx="5150520" cy="5031360"/>
          </a:xfrm>
        </p:grpSpPr>
        <p:sp>
          <p:nvSpPr>
            <p:cNvPr id="16"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8" name="Group 8"/>
          <p:cNvGrpSpPr/>
          <p:nvPr/>
        </p:nvGrpSpPr>
        <p:grpSpPr>
          <a:xfrm>
            <a:off x="14316840" y="-4223880"/>
            <a:ext cx="10423800" cy="10182600"/>
            <a:chOff x="14316840" y="-4223880"/>
            <a:chExt cx="10423800" cy="10182600"/>
          </a:xfrm>
        </p:grpSpPr>
        <p:sp>
          <p:nvSpPr>
            <p:cNvPr id="19"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0"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1" name="Group 11"/>
          <p:cNvGrpSpPr/>
          <p:nvPr/>
        </p:nvGrpSpPr>
        <p:grpSpPr>
          <a:xfrm>
            <a:off x="15262200" y="-3572280"/>
            <a:ext cx="5150880" cy="5031360"/>
            <a:chOff x="15262200" y="-3572280"/>
            <a:chExt cx="5150880" cy="5031360"/>
          </a:xfrm>
        </p:grpSpPr>
        <p:sp>
          <p:nvSpPr>
            <p:cNvPr id="22"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3"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4" name="Group 14"/>
          <p:cNvGrpSpPr/>
          <p:nvPr/>
        </p:nvGrpSpPr>
        <p:grpSpPr>
          <a:xfrm>
            <a:off x="13810680" y="8219880"/>
            <a:ext cx="4098960" cy="4003920"/>
            <a:chOff x="13810680" y="8219880"/>
            <a:chExt cx="4098960" cy="4003920"/>
          </a:xfrm>
        </p:grpSpPr>
        <p:sp>
          <p:nvSpPr>
            <p:cNvPr id="25"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6"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7" name="Group 17"/>
          <p:cNvGrpSpPr/>
          <p:nvPr/>
        </p:nvGrpSpPr>
        <p:grpSpPr>
          <a:xfrm>
            <a:off x="908640" y="-1966680"/>
            <a:ext cx="4117680" cy="4021920"/>
            <a:chOff x="908640" y="-1966680"/>
            <a:chExt cx="4117680" cy="4021920"/>
          </a:xfrm>
        </p:grpSpPr>
        <p:sp>
          <p:nvSpPr>
            <p:cNvPr id="28"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9"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0" name="TextBox 20"/>
          <p:cNvSpPr/>
          <p:nvPr/>
        </p:nvSpPr>
        <p:spPr>
          <a:xfrm>
            <a:off x="1695960" y="2551320"/>
            <a:ext cx="14921640" cy="4514040"/>
          </a:xfrm>
          <a:prstGeom prst="rect">
            <a:avLst/>
          </a:prstGeom>
          <a:noFill/>
          <a:ln w="0">
            <a:noFill/>
          </a:ln>
        </p:spPr>
        <p:style>
          <a:lnRef idx="0"/>
          <a:fillRef idx="0"/>
          <a:effectRef idx="0"/>
          <a:fontRef idx="minor"/>
        </p:style>
        <p:txBody>
          <a:bodyPr lIns="0" rIns="0" tIns="0" bIns="0" anchor="t">
            <a:spAutoFit/>
          </a:bodyPr>
          <a:p>
            <a:pPr algn="ctr" defTabSz="914400">
              <a:lnSpc>
                <a:spcPts val="11849"/>
              </a:lnSpc>
            </a:pPr>
            <a:r>
              <a:rPr b="0" lang="en-US" sz="13939" spc="-1" strike="noStrike">
                <a:solidFill>
                  <a:srgbClr val="545454"/>
                </a:solidFill>
                <a:latin typeface="Bold Ink"/>
                <a:ea typeface="Bold Ink"/>
              </a:rPr>
              <a:t>SOFTWARE REQUIREMENT SPECIFICATION</a:t>
            </a:r>
            <a:endParaRPr b="0" lang="en-PH" sz="1393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1" name="Group 2"/>
          <p:cNvGrpSpPr/>
          <p:nvPr/>
        </p:nvGrpSpPr>
        <p:grpSpPr>
          <a:xfrm>
            <a:off x="-5321520" y="5285880"/>
            <a:ext cx="8988840" cy="8780760"/>
            <a:chOff x="-5321520" y="5285880"/>
            <a:chExt cx="8988840" cy="8780760"/>
          </a:xfrm>
        </p:grpSpPr>
        <p:sp>
          <p:nvSpPr>
            <p:cNvPr id="3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4" name="Group 5"/>
          <p:cNvGrpSpPr/>
          <p:nvPr/>
        </p:nvGrpSpPr>
        <p:grpSpPr>
          <a:xfrm>
            <a:off x="-1367280" y="9054360"/>
            <a:ext cx="4441320" cy="4338360"/>
            <a:chOff x="-1367280" y="9054360"/>
            <a:chExt cx="4441320" cy="4338360"/>
          </a:xfrm>
        </p:grpSpPr>
        <p:sp>
          <p:nvSpPr>
            <p:cNvPr id="3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7" name="Group 8"/>
          <p:cNvGrpSpPr/>
          <p:nvPr/>
        </p:nvGrpSpPr>
        <p:grpSpPr>
          <a:xfrm>
            <a:off x="15163920" y="-4197240"/>
            <a:ext cx="9577080" cy="9354960"/>
            <a:chOff x="15163920" y="-4197240"/>
            <a:chExt cx="9577080" cy="9354960"/>
          </a:xfrm>
        </p:grpSpPr>
        <p:sp>
          <p:nvSpPr>
            <p:cNvPr id="3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0" name="Group 11"/>
          <p:cNvGrpSpPr/>
          <p:nvPr/>
        </p:nvGrpSpPr>
        <p:grpSpPr>
          <a:xfrm>
            <a:off x="16032240" y="-3598920"/>
            <a:ext cx="4732200" cy="4622400"/>
            <a:chOff x="16032240" y="-3598920"/>
            <a:chExt cx="4732200" cy="4622400"/>
          </a:xfrm>
        </p:grpSpPr>
        <p:sp>
          <p:nvSpPr>
            <p:cNvPr id="4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3" name="Group 14"/>
          <p:cNvGrpSpPr/>
          <p:nvPr/>
        </p:nvGrpSpPr>
        <p:grpSpPr>
          <a:xfrm>
            <a:off x="12844800" y="8637480"/>
            <a:ext cx="4098960" cy="4003920"/>
            <a:chOff x="12844800" y="8637480"/>
            <a:chExt cx="4098960" cy="4003920"/>
          </a:xfrm>
        </p:grpSpPr>
        <p:sp>
          <p:nvSpPr>
            <p:cNvPr id="4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6" name="Group 17"/>
          <p:cNvGrpSpPr/>
          <p:nvPr/>
        </p:nvGrpSpPr>
        <p:grpSpPr>
          <a:xfrm>
            <a:off x="1352160" y="-2332080"/>
            <a:ext cx="4118040" cy="4021920"/>
            <a:chOff x="1352160" y="-2332080"/>
            <a:chExt cx="4118040" cy="4021920"/>
          </a:xfrm>
        </p:grpSpPr>
        <p:sp>
          <p:nvSpPr>
            <p:cNvPr id="4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9" name="TextBox 20"/>
          <p:cNvSpPr/>
          <p:nvPr/>
        </p:nvSpPr>
        <p:spPr>
          <a:xfrm>
            <a:off x="2707200" y="1864440"/>
            <a:ext cx="13605840" cy="7933680"/>
          </a:xfrm>
          <a:prstGeom prst="rect">
            <a:avLst/>
          </a:prstGeom>
          <a:noFill/>
          <a:ln w="0">
            <a:noFill/>
          </a:ln>
        </p:spPr>
        <p:style>
          <a:lnRef idx="0"/>
          <a:fillRef idx="0"/>
          <a:effectRef idx="0"/>
          <a:fontRef idx="minor"/>
        </p:style>
        <p:txBody>
          <a:bodyPr lIns="0" rIns="0" tIns="0" bIns="0" anchor="t">
            <a:spAutoFit/>
          </a:bodyPr>
          <a:p>
            <a:pPr algn="ctr" defTabSz="914400">
              <a:lnSpc>
                <a:spcPts val="7464"/>
              </a:lnSpc>
            </a:pPr>
            <a:r>
              <a:rPr b="0" lang="en-US" sz="8780" spc="-1" strike="noStrike">
                <a:solidFill>
                  <a:srgbClr val="545454"/>
                </a:solidFill>
                <a:latin typeface="Bold Ink"/>
                <a:ea typeface="Bold Ink"/>
              </a:rPr>
              <a:t>LEARNING OBJECTIVES </a:t>
            </a:r>
            <a:endParaRPr b="0" lang="en-PH" sz="8780" spc="-1" strike="noStrike">
              <a:solidFill>
                <a:srgbClr val="000000"/>
              </a:solidFill>
              <a:latin typeface="Arial"/>
            </a:endParaRPr>
          </a:p>
          <a:p>
            <a:pPr algn="ctr" defTabSz="914400">
              <a:lnSpc>
                <a:spcPts val="7464"/>
              </a:lnSpc>
            </a:pPr>
            <a:endParaRPr b="0" lang="en-PH" sz="1800" spc="-1" strike="noStrike">
              <a:solidFill>
                <a:srgbClr val="000000"/>
              </a:solidFill>
              <a:latin typeface="Arial"/>
            </a:endParaRPr>
          </a:p>
          <a:p>
            <a:pPr lvl="1" marL="1054080" indent="-527040" defTabSz="914400">
              <a:lnSpc>
                <a:spcPts val="4150"/>
              </a:lnSpc>
              <a:buClr>
                <a:srgbClr val="545454"/>
              </a:buClr>
              <a:buFont typeface="Arial"/>
              <a:buChar char="•"/>
            </a:pPr>
            <a:r>
              <a:rPr b="0" lang="en-US" sz="4880" spc="-1" strike="noStrike">
                <a:solidFill>
                  <a:srgbClr val="545454"/>
                </a:solidFill>
                <a:latin typeface="Bold Ink"/>
                <a:ea typeface="Bold Ink"/>
              </a:rPr>
              <a:t>UNDERSTAND THE IMPORTANCE AND USE OF SOFTWARE REQUIREMENTS SPECIFICATION REPORT IN SOFTWARE DEVELOPMENT</a:t>
            </a:r>
            <a:endParaRPr b="0" lang="en-PH" sz="4880" spc="-1" strike="noStrike">
              <a:solidFill>
                <a:srgbClr val="000000"/>
              </a:solidFill>
              <a:latin typeface="Arial"/>
            </a:endParaRPr>
          </a:p>
          <a:p>
            <a:pPr defTabSz="914400">
              <a:lnSpc>
                <a:spcPts val="4150"/>
              </a:lnSpc>
            </a:pPr>
            <a:endParaRPr b="0" lang="en-PH" sz="1800" spc="-1" strike="noStrike">
              <a:solidFill>
                <a:srgbClr val="000000"/>
              </a:solidFill>
              <a:latin typeface="Arial"/>
            </a:endParaRPr>
          </a:p>
          <a:p>
            <a:pPr lvl="1" marL="1054080" indent="-527040" defTabSz="914400">
              <a:lnSpc>
                <a:spcPts val="4150"/>
              </a:lnSpc>
              <a:buClr>
                <a:srgbClr val="545454"/>
              </a:buClr>
              <a:buFont typeface="Arial"/>
              <a:buChar char="•"/>
            </a:pPr>
            <a:r>
              <a:rPr b="0" lang="en-US" sz="4880" spc="-1" strike="noStrike">
                <a:solidFill>
                  <a:srgbClr val="545454"/>
                </a:solidFill>
                <a:latin typeface="Bold Ink"/>
                <a:ea typeface="Bold Ink"/>
              </a:rPr>
              <a:t>LEARN THE DIFFERENT FEATURES AND PROPERTIES OF A GOOD SRS DOCUMENT</a:t>
            </a:r>
            <a:endParaRPr b="0" lang="en-PH" sz="4880" spc="-1" strike="noStrike">
              <a:solidFill>
                <a:srgbClr val="000000"/>
              </a:solidFill>
              <a:latin typeface="Arial"/>
            </a:endParaRPr>
          </a:p>
          <a:p>
            <a:pPr defTabSz="914400">
              <a:lnSpc>
                <a:spcPts val="4150"/>
              </a:lnSpc>
            </a:pPr>
            <a:endParaRPr b="0" lang="en-PH" sz="1800" spc="-1" strike="noStrike">
              <a:solidFill>
                <a:srgbClr val="000000"/>
              </a:solidFill>
              <a:latin typeface="Arial"/>
            </a:endParaRPr>
          </a:p>
          <a:p>
            <a:pPr lvl="1" marL="1054080" indent="-527040" defTabSz="914400">
              <a:lnSpc>
                <a:spcPts val="4150"/>
              </a:lnSpc>
              <a:buClr>
                <a:srgbClr val="545454"/>
              </a:buClr>
              <a:buFont typeface="Arial"/>
              <a:buChar char="•"/>
            </a:pPr>
            <a:r>
              <a:rPr b="0" lang="en-US" sz="4880" spc="-1" strike="noStrike">
                <a:solidFill>
                  <a:srgbClr val="545454"/>
                </a:solidFill>
                <a:latin typeface="Bold Ink"/>
                <a:ea typeface="Bold Ink"/>
              </a:rPr>
              <a:t>CONSTRUCT A SOFTWARE REQUIREMENTS SPECIFICATION REPORT</a:t>
            </a:r>
            <a:endParaRPr b="0" lang="en-PH" sz="4880" spc="-1" strike="noStrike">
              <a:solidFill>
                <a:srgbClr val="000000"/>
              </a:solidFill>
              <a:latin typeface="Arial"/>
            </a:endParaRPr>
          </a:p>
          <a:p>
            <a:pPr algn="ctr" defTabSz="914400">
              <a:lnSpc>
                <a:spcPts val="6046"/>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0" name="Group 2"/>
          <p:cNvGrpSpPr/>
          <p:nvPr/>
        </p:nvGrpSpPr>
        <p:grpSpPr>
          <a:xfrm>
            <a:off x="-5321520" y="5285880"/>
            <a:ext cx="8988840" cy="8780760"/>
            <a:chOff x="-5321520" y="5285880"/>
            <a:chExt cx="8988840" cy="8780760"/>
          </a:xfrm>
        </p:grpSpPr>
        <p:sp>
          <p:nvSpPr>
            <p:cNvPr id="5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3" name="Group 5"/>
          <p:cNvGrpSpPr/>
          <p:nvPr/>
        </p:nvGrpSpPr>
        <p:grpSpPr>
          <a:xfrm>
            <a:off x="-1367280" y="9054360"/>
            <a:ext cx="4441320" cy="4338360"/>
            <a:chOff x="-1367280" y="9054360"/>
            <a:chExt cx="4441320" cy="4338360"/>
          </a:xfrm>
        </p:grpSpPr>
        <p:sp>
          <p:nvSpPr>
            <p:cNvPr id="5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6" name="Group 8"/>
          <p:cNvGrpSpPr/>
          <p:nvPr/>
        </p:nvGrpSpPr>
        <p:grpSpPr>
          <a:xfrm>
            <a:off x="15163920" y="-4197240"/>
            <a:ext cx="9577080" cy="9354960"/>
            <a:chOff x="15163920" y="-4197240"/>
            <a:chExt cx="9577080" cy="9354960"/>
          </a:xfrm>
        </p:grpSpPr>
        <p:sp>
          <p:nvSpPr>
            <p:cNvPr id="5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9" name="Group 11"/>
          <p:cNvGrpSpPr/>
          <p:nvPr/>
        </p:nvGrpSpPr>
        <p:grpSpPr>
          <a:xfrm>
            <a:off x="16032240" y="-3598920"/>
            <a:ext cx="4732200" cy="4622400"/>
            <a:chOff x="16032240" y="-3598920"/>
            <a:chExt cx="4732200" cy="4622400"/>
          </a:xfrm>
        </p:grpSpPr>
        <p:sp>
          <p:nvSpPr>
            <p:cNvPr id="6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2" name="Group 14"/>
          <p:cNvGrpSpPr/>
          <p:nvPr/>
        </p:nvGrpSpPr>
        <p:grpSpPr>
          <a:xfrm>
            <a:off x="12844800" y="8637480"/>
            <a:ext cx="4098960" cy="4003920"/>
            <a:chOff x="12844800" y="8637480"/>
            <a:chExt cx="4098960" cy="4003920"/>
          </a:xfrm>
        </p:grpSpPr>
        <p:sp>
          <p:nvSpPr>
            <p:cNvPr id="6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5" name="Group 17"/>
          <p:cNvGrpSpPr/>
          <p:nvPr/>
        </p:nvGrpSpPr>
        <p:grpSpPr>
          <a:xfrm>
            <a:off x="1352160" y="-2332080"/>
            <a:ext cx="4118040" cy="4021920"/>
            <a:chOff x="1352160" y="-2332080"/>
            <a:chExt cx="4118040" cy="4021920"/>
          </a:xfrm>
        </p:grpSpPr>
        <p:sp>
          <p:nvSpPr>
            <p:cNvPr id="6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8" name="TextBox 20"/>
          <p:cNvSpPr/>
          <p:nvPr/>
        </p:nvSpPr>
        <p:spPr>
          <a:xfrm>
            <a:off x="3873600" y="971280"/>
            <a:ext cx="1053792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WHAT IS SRS</a:t>
            </a:r>
            <a:endParaRPr b="0" lang="en-PH" sz="10550" spc="-1" strike="noStrike">
              <a:solidFill>
                <a:srgbClr val="000000"/>
              </a:solidFill>
              <a:latin typeface="Arial"/>
            </a:endParaRPr>
          </a:p>
        </p:txBody>
      </p:sp>
      <p:sp>
        <p:nvSpPr>
          <p:cNvPr id="69" name="TextBox 21"/>
          <p:cNvSpPr/>
          <p:nvPr/>
        </p:nvSpPr>
        <p:spPr>
          <a:xfrm>
            <a:off x="2524680" y="2502360"/>
            <a:ext cx="13642560" cy="5329440"/>
          </a:xfrm>
          <a:prstGeom prst="rect">
            <a:avLst/>
          </a:prstGeom>
          <a:noFill/>
          <a:ln w="0">
            <a:noFill/>
          </a:ln>
        </p:spPr>
        <p:style>
          <a:lnRef idx="0"/>
          <a:fillRef idx="0"/>
          <a:effectRef idx="0"/>
          <a:fontRef idx="minor"/>
        </p:style>
        <p:txBody>
          <a:bodyPr lIns="0" rIns="0" tIns="0" bIns="0" anchor="t">
            <a:spAutoFit/>
          </a:bodyPr>
          <a:p>
            <a:pPr algn="just" defTabSz="914400">
              <a:lnSpc>
                <a:spcPts val="5995"/>
              </a:lnSpc>
            </a:pPr>
            <a:r>
              <a:rPr b="0" lang="en-US" sz="4280" spc="-1" strike="noStrike">
                <a:solidFill>
                  <a:srgbClr val="61654d"/>
                </a:solidFill>
                <a:latin typeface="Akzidenz-Grotesk"/>
                <a:ea typeface="Akzidenz-Grotesk"/>
              </a:rPr>
              <a:t>The production of the requirements stage of the software development process is Software Requirements Specifications (SRS) (also called a requirements document).</a:t>
            </a:r>
            <a:endParaRPr b="0" lang="en-PH" sz="4280" spc="-1" strike="noStrike">
              <a:solidFill>
                <a:srgbClr val="000000"/>
              </a:solidFill>
              <a:latin typeface="Arial"/>
            </a:endParaRPr>
          </a:p>
          <a:p>
            <a:pPr algn="just" defTabSz="914400">
              <a:lnSpc>
                <a:spcPts val="5995"/>
              </a:lnSpc>
            </a:pPr>
            <a:r>
              <a:rPr b="0" lang="en-US" sz="4280" spc="-1" strike="noStrike">
                <a:solidFill>
                  <a:srgbClr val="61654d"/>
                </a:solidFill>
                <a:latin typeface="Akzidenz-Grotesk"/>
                <a:ea typeface="Akzidenz-Grotesk"/>
              </a:rPr>
              <a:t>The SRS is a specification for a specific software product, program, or set of applications that perform particular functions in a specific environment. </a:t>
            </a:r>
            <a:endParaRPr b="0" lang="en-PH" sz="42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 name="Group 2"/>
          <p:cNvGrpSpPr/>
          <p:nvPr/>
        </p:nvGrpSpPr>
        <p:grpSpPr>
          <a:xfrm>
            <a:off x="-5321520" y="5285880"/>
            <a:ext cx="8988840" cy="8780760"/>
            <a:chOff x="-5321520" y="5285880"/>
            <a:chExt cx="8988840" cy="8780760"/>
          </a:xfrm>
        </p:grpSpPr>
        <p:sp>
          <p:nvSpPr>
            <p:cNvPr id="7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3" name="Group 5"/>
          <p:cNvGrpSpPr/>
          <p:nvPr/>
        </p:nvGrpSpPr>
        <p:grpSpPr>
          <a:xfrm>
            <a:off x="-1367280" y="9054360"/>
            <a:ext cx="4441320" cy="4338360"/>
            <a:chOff x="-1367280" y="9054360"/>
            <a:chExt cx="4441320" cy="4338360"/>
          </a:xfrm>
        </p:grpSpPr>
        <p:sp>
          <p:nvSpPr>
            <p:cNvPr id="7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6" name="Group 8"/>
          <p:cNvGrpSpPr/>
          <p:nvPr/>
        </p:nvGrpSpPr>
        <p:grpSpPr>
          <a:xfrm>
            <a:off x="15163920" y="-4197240"/>
            <a:ext cx="9577080" cy="9354960"/>
            <a:chOff x="15163920" y="-4197240"/>
            <a:chExt cx="9577080" cy="9354960"/>
          </a:xfrm>
        </p:grpSpPr>
        <p:sp>
          <p:nvSpPr>
            <p:cNvPr id="7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9" name="Group 11"/>
          <p:cNvGrpSpPr/>
          <p:nvPr/>
        </p:nvGrpSpPr>
        <p:grpSpPr>
          <a:xfrm>
            <a:off x="16032240" y="-3598920"/>
            <a:ext cx="4732200" cy="4622400"/>
            <a:chOff x="16032240" y="-3598920"/>
            <a:chExt cx="4732200" cy="4622400"/>
          </a:xfrm>
        </p:grpSpPr>
        <p:sp>
          <p:nvSpPr>
            <p:cNvPr id="8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2" name="Group 14"/>
          <p:cNvGrpSpPr/>
          <p:nvPr/>
        </p:nvGrpSpPr>
        <p:grpSpPr>
          <a:xfrm>
            <a:off x="12844800" y="8637480"/>
            <a:ext cx="4098960" cy="4003920"/>
            <a:chOff x="12844800" y="8637480"/>
            <a:chExt cx="4098960" cy="4003920"/>
          </a:xfrm>
        </p:grpSpPr>
        <p:sp>
          <p:nvSpPr>
            <p:cNvPr id="8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5" name="Group 17"/>
          <p:cNvGrpSpPr/>
          <p:nvPr/>
        </p:nvGrpSpPr>
        <p:grpSpPr>
          <a:xfrm>
            <a:off x="1352160" y="-2332080"/>
            <a:ext cx="4118040" cy="4021920"/>
            <a:chOff x="1352160" y="-2332080"/>
            <a:chExt cx="4118040" cy="4021920"/>
          </a:xfrm>
        </p:grpSpPr>
        <p:sp>
          <p:nvSpPr>
            <p:cNvPr id="8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8" name="TextBox 20"/>
          <p:cNvSpPr/>
          <p:nvPr/>
        </p:nvSpPr>
        <p:spPr>
          <a:xfrm>
            <a:off x="314640" y="952200"/>
            <a:ext cx="15852240" cy="1073880"/>
          </a:xfrm>
          <a:prstGeom prst="rect">
            <a:avLst/>
          </a:prstGeom>
          <a:noFill/>
          <a:ln w="0">
            <a:noFill/>
          </a:ln>
        </p:spPr>
        <p:style>
          <a:lnRef idx="0"/>
          <a:fillRef idx="0"/>
          <a:effectRef idx="0"/>
          <a:fontRef idx="minor"/>
        </p:style>
        <p:txBody>
          <a:bodyPr lIns="0" rIns="0" tIns="0" bIns="0" anchor="t">
            <a:spAutoFit/>
          </a:bodyPr>
          <a:p>
            <a:pPr algn="ctr" defTabSz="914400">
              <a:lnSpc>
                <a:spcPts val="8459"/>
              </a:lnSpc>
            </a:pPr>
            <a:r>
              <a:rPr b="0" lang="en-US" sz="9950" spc="-1" strike="noStrike">
                <a:solidFill>
                  <a:srgbClr val="545454"/>
                </a:solidFill>
                <a:latin typeface="Bold Ink"/>
                <a:ea typeface="Bold Ink"/>
              </a:rPr>
              <a:t>CONTENTS/PARTS OF SRS</a:t>
            </a:r>
            <a:endParaRPr b="0" lang="en-PH" sz="9950" spc="-1" strike="noStrike">
              <a:solidFill>
                <a:srgbClr val="000000"/>
              </a:solidFill>
              <a:latin typeface="Arial"/>
            </a:endParaRPr>
          </a:p>
        </p:txBody>
      </p:sp>
      <p:sp>
        <p:nvSpPr>
          <p:cNvPr id="89" name="TextBox 21"/>
          <p:cNvSpPr/>
          <p:nvPr/>
        </p:nvSpPr>
        <p:spPr>
          <a:xfrm>
            <a:off x="2524680" y="2502360"/>
            <a:ext cx="13642560" cy="5329440"/>
          </a:xfrm>
          <a:prstGeom prst="rect">
            <a:avLst/>
          </a:prstGeom>
          <a:noFill/>
          <a:ln w="0">
            <a:noFill/>
          </a:ln>
        </p:spPr>
        <p:style>
          <a:lnRef idx="0"/>
          <a:fillRef idx="0"/>
          <a:effectRef idx="0"/>
          <a:fontRef idx="minor"/>
        </p:style>
        <p:txBody>
          <a:bodyPr lIns="0" rIns="0" tIns="0" bIns="0" anchor="t">
            <a:spAutoFit/>
          </a:bodyPr>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Introduction.</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Functional data description.</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Subsystem description.</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System modeling and simulation results.</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Products.</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Appendices.</a:t>
            </a:r>
            <a:endParaRPr b="0" lang="en-PH" sz="4280" spc="-1" strike="noStrike">
              <a:solidFill>
                <a:srgbClr val="000000"/>
              </a:solidFill>
              <a:latin typeface="Arial"/>
            </a:endParaRPr>
          </a:p>
          <a:p>
            <a:pPr algn="just" defTabSz="914400">
              <a:lnSpc>
                <a:spcPts val="5995"/>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0" name="Group 2"/>
          <p:cNvGrpSpPr/>
          <p:nvPr/>
        </p:nvGrpSpPr>
        <p:grpSpPr>
          <a:xfrm>
            <a:off x="-5321520" y="5285880"/>
            <a:ext cx="8988840" cy="8780760"/>
            <a:chOff x="-5321520" y="5285880"/>
            <a:chExt cx="8988840" cy="8780760"/>
          </a:xfrm>
        </p:grpSpPr>
        <p:sp>
          <p:nvSpPr>
            <p:cNvPr id="9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3" name="Group 5"/>
          <p:cNvGrpSpPr/>
          <p:nvPr/>
        </p:nvGrpSpPr>
        <p:grpSpPr>
          <a:xfrm>
            <a:off x="-1367280" y="9054360"/>
            <a:ext cx="4441320" cy="4338360"/>
            <a:chOff x="-1367280" y="9054360"/>
            <a:chExt cx="4441320" cy="4338360"/>
          </a:xfrm>
        </p:grpSpPr>
        <p:sp>
          <p:nvSpPr>
            <p:cNvPr id="9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6" name="Group 8"/>
          <p:cNvGrpSpPr/>
          <p:nvPr/>
        </p:nvGrpSpPr>
        <p:grpSpPr>
          <a:xfrm>
            <a:off x="15163920" y="-4197240"/>
            <a:ext cx="9577080" cy="9354960"/>
            <a:chOff x="15163920" y="-4197240"/>
            <a:chExt cx="9577080" cy="9354960"/>
          </a:xfrm>
        </p:grpSpPr>
        <p:sp>
          <p:nvSpPr>
            <p:cNvPr id="9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9" name="Group 11"/>
          <p:cNvGrpSpPr/>
          <p:nvPr/>
        </p:nvGrpSpPr>
        <p:grpSpPr>
          <a:xfrm>
            <a:off x="16032240" y="-3598920"/>
            <a:ext cx="4732200" cy="4622400"/>
            <a:chOff x="16032240" y="-3598920"/>
            <a:chExt cx="4732200" cy="4622400"/>
          </a:xfrm>
        </p:grpSpPr>
        <p:sp>
          <p:nvSpPr>
            <p:cNvPr id="10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2" name="Group 14"/>
          <p:cNvGrpSpPr/>
          <p:nvPr/>
        </p:nvGrpSpPr>
        <p:grpSpPr>
          <a:xfrm>
            <a:off x="12844800" y="8637480"/>
            <a:ext cx="4098960" cy="4003920"/>
            <a:chOff x="12844800" y="8637480"/>
            <a:chExt cx="4098960" cy="4003920"/>
          </a:xfrm>
        </p:grpSpPr>
        <p:sp>
          <p:nvSpPr>
            <p:cNvPr id="10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5" name="Group 17"/>
          <p:cNvGrpSpPr/>
          <p:nvPr/>
        </p:nvGrpSpPr>
        <p:grpSpPr>
          <a:xfrm>
            <a:off x="1352160" y="-2332080"/>
            <a:ext cx="4118040" cy="4021920"/>
            <a:chOff x="1352160" y="-2332080"/>
            <a:chExt cx="4118040" cy="4021920"/>
          </a:xfrm>
        </p:grpSpPr>
        <p:sp>
          <p:nvSpPr>
            <p:cNvPr id="10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8" name="TextBox 20"/>
          <p:cNvSpPr/>
          <p:nvPr/>
        </p:nvSpPr>
        <p:spPr>
          <a:xfrm>
            <a:off x="314640" y="952200"/>
            <a:ext cx="15852240" cy="1073880"/>
          </a:xfrm>
          <a:prstGeom prst="rect">
            <a:avLst/>
          </a:prstGeom>
          <a:noFill/>
          <a:ln w="0">
            <a:noFill/>
          </a:ln>
        </p:spPr>
        <p:style>
          <a:lnRef idx="0"/>
          <a:fillRef idx="0"/>
          <a:effectRef idx="0"/>
          <a:fontRef idx="minor"/>
        </p:style>
        <p:txBody>
          <a:bodyPr lIns="0" rIns="0" tIns="0" bIns="0" anchor="t">
            <a:spAutoFit/>
          </a:bodyPr>
          <a:p>
            <a:pPr algn="ctr" defTabSz="914400">
              <a:lnSpc>
                <a:spcPts val="8459"/>
              </a:lnSpc>
            </a:pPr>
            <a:r>
              <a:rPr b="0" lang="en-US" sz="9950" spc="-1" strike="noStrike">
                <a:solidFill>
                  <a:srgbClr val="545454"/>
                </a:solidFill>
                <a:latin typeface="Bold Ink"/>
                <a:ea typeface="Bold Ink"/>
              </a:rPr>
              <a:t>TYPES OF REQUIREMENTS</a:t>
            </a:r>
            <a:endParaRPr b="0" lang="en-PH" sz="9950" spc="-1" strike="noStrike">
              <a:solidFill>
                <a:srgbClr val="000000"/>
              </a:solidFill>
              <a:latin typeface="Arial"/>
            </a:endParaRPr>
          </a:p>
        </p:txBody>
      </p:sp>
      <p:sp>
        <p:nvSpPr>
          <p:cNvPr id="109" name="TextBox 21"/>
          <p:cNvSpPr/>
          <p:nvPr/>
        </p:nvSpPr>
        <p:spPr>
          <a:xfrm>
            <a:off x="2524680" y="2502360"/>
            <a:ext cx="13642560" cy="2283840"/>
          </a:xfrm>
          <a:prstGeom prst="rect">
            <a:avLst/>
          </a:prstGeom>
          <a:noFill/>
          <a:ln w="0">
            <a:noFill/>
          </a:ln>
        </p:spPr>
        <p:style>
          <a:lnRef idx="0"/>
          <a:fillRef idx="0"/>
          <a:effectRef idx="0"/>
          <a:fontRef idx="minor"/>
        </p:style>
        <p:txBody>
          <a:bodyPr lIns="0" rIns="0" tIns="0" bIns="0" anchor="t">
            <a:spAutoFit/>
          </a:bodyPr>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Functional requirements:</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Non-functional requirements:</a:t>
            </a:r>
            <a:endParaRPr b="0" lang="en-PH" sz="4280" spc="-1" strike="noStrike">
              <a:solidFill>
                <a:srgbClr val="000000"/>
              </a:solidFill>
              <a:latin typeface="Arial"/>
            </a:endParaRPr>
          </a:p>
          <a:p>
            <a:pPr algn="just" defTabSz="914400">
              <a:lnSpc>
                <a:spcPts val="5995"/>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0" name="Group 2"/>
          <p:cNvGrpSpPr/>
          <p:nvPr/>
        </p:nvGrpSpPr>
        <p:grpSpPr>
          <a:xfrm>
            <a:off x="-5321520" y="5285880"/>
            <a:ext cx="8988840" cy="8780760"/>
            <a:chOff x="-5321520" y="5285880"/>
            <a:chExt cx="8988840" cy="8780760"/>
          </a:xfrm>
        </p:grpSpPr>
        <p:sp>
          <p:nvSpPr>
            <p:cNvPr id="11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3" name="Group 5"/>
          <p:cNvGrpSpPr/>
          <p:nvPr/>
        </p:nvGrpSpPr>
        <p:grpSpPr>
          <a:xfrm>
            <a:off x="-1367280" y="9054360"/>
            <a:ext cx="4441320" cy="4338360"/>
            <a:chOff x="-1367280" y="9054360"/>
            <a:chExt cx="4441320" cy="4338360"/>
          </a:xfrm>
        </p:grpSpPr>
        <p:sp>
          <p:nvSpPr>
            <p:cNvPr id="11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6" name="Group 8"/>
          <p:cNvGrpSpPr/>
          <p:nvPr/>
        </p:nvGrpSpPr>
        <p:grpSpPr>
          <a:xfrm>
            <a:off x="15163920" y="-4197240"/>
            <a:ext cx="9577080" cy="9354960"/>
            <a:chOff x="15163920" y="-4197240"/>
            <a:chExt cx="9577080" cy="9354960"/>
          </a:xfrm>
        </p:grpSpPr>
        <p:sp>
          <p:nvSpPr>
            <p:cNvPr id="11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9" name="Group 11"/>
          <p:cNvGrpSpPr/>
          <p:nvPr/>
        </p:nvGrpSpPr>
        <p:grpSpPr>
          <a:xfrm>
            <a:off x="16032240" y="-3598920"/>
            <a:ext cx="4732200" cy="4622400"/>
            <a:chOff x="16032240" y="-3598920"/>
            <a:chExt cx="4732200" cy="4622400"/>
          </a:xfrm>
        </p:grpSpPr>
        <p:sp>
          <p:nvSpPr>
            <p:cNvPr id="12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2" name="Group 14"/>
          <p:cNvGrpSpPr/>
          <p:nvPr/>
        </p:nvGrpSpPr>
        <p:grpSpPr>
          <a:xfrm>
            <a:off x="12844800" y="8637480"/>
            <a:ext cx="4098960" cy="4003920"/>
            <a:chOff x="12844800" y="8637480"/>
            <a:chExt cx="4098960" cy="4003920"/>
          </a:xfrm>
        </p:grpSpPr>
        <p:sp>
          <p:nvSpPr>
            <p:cNvPr id="12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5" name="Group 17"/>
          <p:cNvGrpSpPr/>
          <p:nvPr/>
        </p:nvGrpSpPr>
        <p:grpSpPr>
          <a:xfrm>
            <a:off x="1352160" y="-2332080"/>
            <a:ext cx="4118040" cy="4021920"/>
            <a:chOff x="1352160" y="-2332080"/>
            <a:chExt cx="4118040" cy="4021920"/>
          </a:xfrm>
        </p:grpSpPr>
        <p:sp>
          <p:nvSpPr>
            <p:cNvPr id="12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FUNCTIONAL REQUIREMENTS</a:t>
            </a:r>
            <a:endParaRPr b="0" lang="en-PH" sz="8650" spc="-1" strike="noStrike">
              <a:solidFill>
                <a:srgbClr val="000000"/>
              </a:solidFill>
              <a:latin typeface="Arial"/>
            </a:endParaRPr>
          </a:p>
        </p:txBody>
      </p:sp>
      <p:sp>
        <p:nvSpPr>
          <p:cNvPr id="129" name="TextBox 21"/>
          <p:cNvSpPr/>
          <p:nvPr/>
        </p:nvSpPr>
        <p:spPr>
          <a:xfrm>
            <a:off x="2524680" y="2502360"/>
            <a:ext cx="13642560" cy="3045240"/>
          </a:xfrm>
          <a:prstGeom prst="rect">
            <a:avLst/>
          </a:prstGeom>
          <a:noFill/>
          <a:ln w="0">
            <a:noFill/>
          </a:ln>
        </p:spPr>
        <p:style>
          <a:lnRef idx="0"/>
          <a:fillRef idx="0"/>
          <a:effectRef idx="0"/>
          <a:fontRef idx="minor"/>
        </p:style>
        <p:txBody>
          <a:bodyPr lIns="0" rIns="0" tIns="0" bIns="0" anchor="t">
            <a:spAutoFit/>
          </a:bodyPr>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input/output</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Processing.</a:t>
            </a:r>
            <a:endParaRPr b="0" lang="en-PH" sz="4280" spc="-1" strike="noStrike">
              <a:solidFill>
                <a:srgbClr val="000000"/>
              </a:solidFill>
              <a:latin typeface="Arial"/>
            </a:endParaRPr>
          </a:p>
          <a:p>
            <a:pPr lvl="1" marL="924480" indent="-462240" algn="just" defTabSz="914400">
              <a:lnSpc>
                <a:spcPts val="5995"/>
              </a:lnSpc>
              <a:buClr>
                <a:srgbClr val="61654d"/>
              </a:buClr>
              <a:buFont typeface="OpenSymbol"/>
              <a:buAutoNum type="arabicPeriod"/>
            </a:pPr>
            <a:r>
              <a:rPr b="0" lang="en-US" sz="4280" spc="-1" strike="noStrike">
                <a:solidFill>
                  <a:srgbClr val="61654d"/>
                </a:solidFill>
                <a:latin typeface="Akzidenz-Grotesk"/>
                <a:ea typeface="Akzidenz-Grotesk"/>
              </a:rPr>
              <a:t>Error handling.</a:t>
            </a:r>
            <a:endParaRPr b="0" lang="en-PH" sz="4280" spc="-1" strike="noStrike">
              <a:solidFill>
                <a:srgbClr val="000000"/>
              </a:solidFill>
              <a:latin typeface="Arial"/>
            </a:endParaRPr>
          </a:p>
          <a:p>
            <a:pPr algn="just" defTabSz="914400">
              <a:lnSpc>
                <a:spcPts val="5995"/>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0" name="Group 2"/>
          <p:cNvGrpSpPr/>
          <p:nvPr/>
        </p:nvGrpSpPr>
        <p:grpSpPr>
          <a:xfrm>
            <a:off x="-5321520" y="5285880"/>
            <a:ext cx="8988840" cy="8780760"/>
            <a:chOff x="-5321520" y="5285880"/>
            <a:chExt cx="8988840" cy="8780760"/>
          </a:xfrm>
        </p:grpSpPr>
        <p:sp>
          <p:nvSpPr>
            <p:cNvPr id="13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3" name="Group 5"/>
          <p:cNvGrpSpPr/>
          <p:nvPr/>
        </p:nvGrpSpPr>
        <p:grpSpPr>
          <a:xfrm>
            <a:off x="-1367280" y="9054360"/>
            <a:ext cx="4441320" cy="4338360"/>
            <a:chOff x="-1367280" y="9054360"/>
            <a:chExt cx="4441320" cy="4338360"/>
          </a:xfrm>
        </p:grpSpPr>
        <p:sp>
          <p:nvSpPr>
            <p:cNvPr id="13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6" name="Group 8"/>
          <p:cNvGrpSpPr/>
          <p:nvPr/>
        </p:nvGrpSpPr>
        <p:grpSpPr>
          <a:xfrm>
            <a:off x="15163920" y="-4197240"/>
            <a:ext cx="9577080" cy="9354960"/>
            <a:chOff x="15163920" y="-4197240"/>
            <a:chExt cx="9577080" cy="9354960"/>
          </a:xfrm>
        </p:grpSpPr>
        <p:sp>
          <p:nvSpPr>
            <p:cNvPr id="13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9" name="Group 11"/>
          <p:cNvGrpSpPr/>
          <p:nvPr/>
        </p:nvGrpSpPr>
        <p:grpSpPr>
          <a:xfrm>
            <a:off x="16032240" y="-3598920"/>
            <a:ext cx="4732200" cy="4622400"/>
            <a:chOff x="16032240" y="-3598920"/>
            <a:chExt cx="4732200" cy="4622400"/>
          </a:xfrm>
        </p:grpSpPr>
        <p:sp>
          <p:nvSpPr>
            <p:cNvPr id="14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2" name="Group 14"/>
          <p:cNvGrpSpPr/>
          <p:nvPr/>
        </p:nvGrpSpPr>
        <p:grpSpPr>
          <a:xfrm>
            <a:off x="12844800" y="8637480"/>
            <a:ext cx="4098960" cy="4003920"/>
            <a:chOff x="12844800" y="8637480"/>
            <a:chExt cx="4098960" cy="4003920"/>
          </a:xfrm>
        </p:grpSpPr>
        <p:sp>
          <p:nvSpPr>
            <p:cNvPr id="14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5" name="Group 17"/>
          <p:cNvGrpSpPr/>
          <p:nvPr/>
        </p:nvGrpSpPr>
        <p:grpSpPr>
          <a:xfrm>
            <a:off x="1352160" y="-2332080"/>
            <a:ext cx="4118040" cy="4021920"/>
            <a:chOff x="1352160" y="-2332080"/>
            <a:chExt cx="4118040" cy="4021920"/>
          </a:xfrm>
        </p:grpSpPr>
        <p:sp>
          <p:nvSpPr>
            <p:cNvPr id="14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NON-FUNCTIONAL </a:t>
            </a:r>
            <a:endParaRPr b="0" lang="en-PH" sz="8650" spc="-1" strike="noStrike">
              <a:solidFill>
                <a:srgbClr val="000000"/>
              </a:solidFill>
              <a:latin typeface="Arial"/>
            </a:endParaRPr>
          </a:p>
        </p:txBody>
      </p:sp>
      <p:sp>
        <p:nvSpPr>
          <p:cNvPr id="149" name="TextBox 21"/>
          <p:cNvSpPr/>
          <p:nvPr/>
        </p:nvSpPr>
        <p:spPr>
          <a:xfrm>
            <a:off x="2524680" y="2003400"/>
            <a:ext cx="13642560" cy="7785000"/>
          </a:xfrm>
          <a:prstGeom prst="rect">
            <a:avLst/>
          </a:prstGeom>
          <a:noFill/>
          <a:ln w="0">
            <a:noFill/>
          </a:ln>
        </p:spPr>
        <p:style>
          <a:lnRef idx="0"/>
          <a:fillRef idx="0"/>
          <a:effectRef idx="0"/>
          <a:fontRef idx="minor"/>
        </p:style>
        <p:txBody>
          <a:bodyPr lIns="0" rIns="0" tIns="0" bIns="0" anchor="t">
            <a:spAutoFit/>
          </a:bodyPr>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Physical environment (equipment locations, multiple sites, etc.).ber</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Interfaces (data medium etc.).</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User &amp; human factors (who are the users, their skill level etc.).</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Performance (how well is system functioning).</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Documentation.</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Data (qualitative stuff).</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Resources (finding, physical space).</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Security (backup, firewall).</a:t>
            </a:r>
            <a:endParaRPr b="0" lang="en-PH" sz="3980" spc="-1" strike="noStrike">
              <a:solidFill>
                <a:srgbClr val="000000"/>
              </a:solidFill>
              <a:latin typeface="Arial"/>
            </a:endParaRPr>
          </a:p>
          <a:p>
            <a:pPr lvl="1" marL="859680" indent="-429840" algn="just" defTabSz="914400">
              <a:lnSpc>
                <a:spcPts val="5573"/>
              </a:lnSpc>
              <a:buClr>
                <a:srgbClr val="61654d"/>
              </a:buClr>
              <a:buFont typeface="OpenSymbol"/>
              <a:buAutoNum type="arabicPeriod"/>
            </a:pPr>
            <a:r>
              <a:rPr b="0" lang="en-US" sz="3980" spc="-1" strike="noStrike">
                <a:solidFill>
                  <a:srgbClr val="61654d"/>
                </a:solidFill>
                <a:latin typeface="Akzidenz-Grotesk"/>
                <a:ea typeface="Akzidenz-Grotesk"/>
              </a:rPr>
              <a:t>Quality assurance (max. down time, MTBF, etc.).</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0" name="Group 2"/>
          <p:cNvGrpSpPr/>
          <p:nvPr/>
        </p:nvGrpSpPr>
        <p:grpSpPr>
          <a:xfrm>
            <a:off x="-5321520" y="5285880"/>
            <a:ext cx="8988840" cy="8780760"/>
            <a:chOff x="-5321520" y="5285880"/>
            <a:chExt cx="8988840" cy="8780760"/>
          </a:xfrm>
        </p:grpSpPr>
        <p:sp>
          <p:nvSpPr>
            <p:cNvPr id="15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3" name="Group 5"/>
          <p:cNvGrpSpPr/>
          <p:nvPr/>
        </p:nvGrpSpPr>
        <p:grpSpPr>
          <a:xfrm>
            <a:off x="-1367280" y="9054360"/>
            <a:ext cx="4441320" cy="4338360"/>
            <a:chOff x="-1367280" y="9054360"/>
            <a:chExt cx="4441320" cy="4338360"/>
          </a:xfrm>
        </p:grpSpPr>
        <p:sp>
          <p:nvSpPr>
            <p:cNvPr id="15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6" name="Group 8"/>
          <p:cNvGrpSpPr/>
          <p:nvPr/>
        </p:nvGrpSpPr>
        <p:grpSpPr>
          <a:xfrm>
            <a:off x="15163920" y="-4197240"/>
            <a:ext cx="9577080" cy="9354960"/>
            <a:chOff x="15163920" y="-4197240"/>
            <a:chExt cx="9577080" cy="9354960"/>
          </a:xfrm>
        </p:grpSpPr>
        <p:sp>
          <p:nvSpPr>
            <p:cNvPr id="15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9" name="Group 11"/>
          <p:cNvGrpSpPr/>
          <p:nvPr/>
        </p:nvGrpSpPr>
        <p:grpSpPr>
          <a:xfrm>
            <a:off x="16032240" y="-3598920"/>
            <a:ext cx="4732200" cy="4622400"/>
            <a:chOff x="16032240" y="-3598920"/>
            <a:chExt cx="4732200" cy="4622400"/>
          </a:xfrm>
        </p:grpSpPr>
        <p:sp>
          <p:nvSpPr>
            <p:cNvPr id="16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2" name="Group 14"/>
          <p:cNvGrpSpPr/>
          <p:nvPr/>
        </p:nvGrpSpPr>
        <p:grpSpPr>
          <a:xfrm>
            <a:off x="12844800" y="8637480"/>
            <a:ext cx="4098960" cy="4003920"/>
            <a:chOff x="12844800" y="8637480"/>
            <a:chExt cx="4098960" cy="4003920"/>
          </a:xfrm>
        </p:grpSpPr>
        <p:sp>
          <p:nvSpPr>
            <p:cNvPr id="16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5" name="Group 17"/>
          <p:cNvGrpSpPr/>
          <p:nvPr/>
        </p:nvGrpSpPr>
        <p:grpSpPr>
          <a:xfrm>
            <a:off x="1352160" y="-2332080"/>
            <a:ext cx="4118040" cy="4021920"/>
            <a:chOff x="1352160" y="-2332080"/>
            <a:chExt cx="4118040" cy="4021920"/>
          </a:xfrm>
        </p:grpSpPr>
        <p:sp>
          <p:nvSpPr>
            <p:cNvPr id="16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8" name="Freeform 20"/>
          <p:cNvSpPr/>
          <p:nvPr/>
        </p:nvSpPr>
        <p:spPr>
          <a:xfrm>
            <a:off x="3913200" y="2599200"/>
            <a:ext cx="9048600" cy="7544520"/>
          </a:xfrm>
          <a:custGeom>
            <a:avLst/>
            <a:gdLst>
              <a:gd name="textAreaLeft" fmla="*/ 0 w 9048600"/>
              <a:gd name="textAreaRight" fmla="*/ 9051120 w 9048600"/>
              <a:gd name="textAreaTop" fmla="*/ 0 h 7544520"/>
              <a:gd name="textAreaBottom" fmla="*/ 7547040 h 7544520"/>
            </a:gdLst>
            <a:ahLst/>
            <a:rect l="textAreaLeft" t="textAreaTop" r="textAreaRight" b="textAreaBottom"/>
            <a:pathLst>
              <a:path w="9051159" h="7547069">
                <a:moveTo>
                  <a:pt x="0" y="0"/>
                </a:moveTo>
                <a:lnTo>
                  <a:pt x="9051158" y="0"/>
                </a:lnTo>
                <a:lnTo>
                  <a:pt x="9051158" y="7547069"/>
                </a:lnTo>
                <a:lnTo>
                  <a:pt x="0" y="7547069"/>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69" name="TextBox 21"/>
          <p:cNvSpPr/>
          <p:nvPr/>
        </p:nvSpPr>
        <p:spPr>
          <a:xfrm>
            <a:off x="314640" y="904680"/>
            <a:ext cx="15852240" cy="186732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OF GOOD SRS</a:t>
            </a:r>
            <a:endParaRPr b="0" lang="en-PH" sz="8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0" name="Group 2"/>
          <p:cNvGrpSpPr/>
          <p:nvPr/>
        </p:nvGrpSpPr>
        <p:grpSpPr>
          <a:xfrm>
            <a:off x="-5321520" y="5285880"/>
            <a:ext cx="8988840" cy="8780760"/>
            <a:chOff x="-5321520" y="5285880"/>
            <a:chExt cx="8988840" cy="8780760"/>
          </a:xfrm>
        </p:grpSpPr>
        <p:sp>
          <p:nvSpPr>
            <p:cNvPr id="17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3" name="Group 5"/>
          <p:cNvGrpSpPr/>
          <p:nvPr/>
        </p:nvGrpSpPr>
        <p:grpSpPr>
          <a:xfrm>
            <a:off x="-1367280" y="9054360"/>
            <a:ext cx="4441320" cy="4338360"/>
            <a:chOff x="-1367280" y="9054360"/>
            <a:chExt cx="4441320" cy="4338360"/>
          </a:xfrm>
        </p:grpSpPr>
        <p:sp>
          <p:nvSpPr>
            <p:cNvPr id="17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6" name="Group 8"/>
          <p:cNvGrpSpPr/>
          <p:nvPr/>
        </p:nvGrpSpPr>
        <p:grpSpPr>
          <a:xfrm>
            <a:off x="15163920" y="-4197240"/>
            <a:ext cx="9577080" cy="9354960"/>
            <a:chOff x="15163920" y="-4197240"/>
            <a:chExt cx="9577080" cy="9354960"/>
          </a:xfrm>
        </p:grpSpPr>
        <p:sp>
          <p:nvSpPr>
            <p:cNvPr id="17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9" name="Group 11"/>
          <p:cNvGrpSpPr/>
          <p:nvPr/>
        </p:nvGrpSpPr>
        <p:grpSpPr>
          <a:xfrm>
            <a:off x="16032240" y="-3598920"/>
            <a:ext cx="4732200" cy="4622400"/>
            <a:chOff x="16032240" y="-3598920"/>
            <a:chExt cx="4732200" cy="4622400"/>
          </a:xfrm>
        </p:grpSpPr>
        <p:sp>
          <p:nvSpPr>
            <p:cNvPr id="18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8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82" name="Group 14"/>
          <p:cNvGrpSpPr/>
          <p:nvPr/>
        </p:nvGrpSpPr>
        <p:grpSpPr>
          <a:xfrm>
            <a:off x="12844800" y="8637480"/>
            <a:ext cx="4098960" cy="4003920"/>
            <a:chOff x="12844800" y="8637480"/>
            <a:chExt cx="4098960" cy="4003920"/>
          </a:xfrm>
        </p:grpSpPr>
        <p:sp>
          <p:nvSpPr>
            <p:cNvPr id="18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8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85" name="Group 17"/>
          <p:cNvGrpSpPr/>
          <p:nvPr/>
        </p:nvGrpSpPr>
        <p:grpSpPr>
          <a:xfrm>
            <a:off x="1352160" y="-2332080"/>
            <a:ext cx="4118040" cy="4021920"/>
            <a:chOff x="1352160" y="-2332080"/>
            <a:chExt cx="4118040" cy="4021920"/>
          </a:xfrm>
        </p:grpSpPr>
        <p:sp>
          <p:nvSpPr>
            <p:cNvPr id="18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8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8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189" name="TextBox 21"/>
          <p:cNvSpPr/>
          <p:nvPr/>
        </p:nvSpPr>
        <p:spPr>
          <a:xfrm>
            <a:off x="2768400" y="3985200"/>
            <a:ext cx="13642560" cy="28306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Correctness:</a:t>
            </a:r>
            <a:r>
              <a:rPr b="0" lang="en-US" sz="3980" spc="-1" strike="noStrike">
                <a:solidFill>
                  <a:srgbClr val="61654d"/>
                </a:solidFill>
                <a:latin typeface="Akzidenz-Grotesk"/>
                <a:ea typeface="Akzidenz-Grotesk"/>
              </a:rPr>
              <a:t> User review is used to provide the accuracy of requirements stated in the SRS. SRS is said to be perfect if it covers all the needs that are truly expected from the system.</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90" name="Group 2"/>
          <p:cNvGrpSpPr/>
          <p:nvPr/>
        </p:nvGrpSpPr>
        <p:grpSpPr>
          <a:xfrm>
            <a:off x="-5321520" y="5285880"/>
            <a:ext cx="8988840" cy="8780760"/>
            <a:chOff x="-5321520" y="5285880"/>
            <a:chExt cx="8988840" cy="8780760"/>
          </a:xfrm>
        </p:grpSpPr>
        <p:sp>
          <p:nvSpPr>
            <p:cNvPr id="19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9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93" name="Group 5"/>
          <p:cNvGrpSpPr/>
          <p:nvPr/>
        </p:nvGrpSpPr>
        <p:grpSpPr>
          <a:xfrm>
            <a:off x="-1367280" y="9054360"/>
            <a:ext cx="4441320" cy="4338360"/>
            <a:chOff x="-1367280" y="9054360"/>
            <a:chExt cx="4441320" cy="4338360"/>
          </a:xfrm>
        </p:grpSpPr>
        <p:sp>
          <p:nvSpPr>
            <p:cNvPr id="19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9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96" name="Group 8"/>
          <p:cNvGrpSpPr/>
          <p:nvPr/>
        </p:nvGrpSpPr>
        <p:grpSpPr>
          <a:xfrm>
            <a:off x="15163920" y="-4197240"/>
            <a:ext cx="9577080" cy="9354960"/>
            <a:chOff x="15163920" y="-4197240"/>
            <a:chExt cx="9577080" cy="9354960"/>
          </a:xfrm>
        </p:grpSpPr>
        <p:sp>
          <p:nvSpPr>
            <p:cNvPr id="19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9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99" name="Group 11"/>
          <p:cNvGrpSpPr/>
          <p:nvPr/>
        </p:nvGrpSpPr>
        <p:grpSpPr>
          <a:xfrm>
            <a:off x="16032240" y="-3598920"/>
            <a:ext cx="4732200" cy="4622400"/>
            <a:chOff x="16032240" y="-3598920"/>
            <a:chExt cx="4732200" cy="4622400"/>
          </a:xfrm>
        </p:grpSpPr>
        <p:sp>
          <p:nvSpPr>
            <p:cNvPr id="20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0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02" name="Group 14"/>
          <p:cNvGrpSpPr/>
          <p:nvPr/>
        </p:nvGrpSpPr>
        <p:grpSpPr>
          <a:xfrm>
            <a:off x="12844800" y="8637480"/>
            <a:ext cx="4098960" cy="4003920"/>
            <a:chOff x="12844800" y="8637480"/>
            <a:chExt cx="4098960" cy="4003920"/>
          </a:xfrm>
        </p:grpSpPr>
        <p:sp>
          <p:nvSpPr>
            <p:cNvPr id="20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0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05" name="Group 17"/>
          <p:cNvGrpSpPr/>
          <p:nvPr/>
        </p:nvGrpSpPr>
        <p:grpSpPr>
          <a:xfrm>
            <a:off x="1352160" y="-2332080"/>
            <a:ext cx="4118040" cy="4021920"/>
            <a:chOff x="1352160" y="-2332080"/>
            <a:chExt cx="4118040" cy="4021920"/>
          </a:xfrm>
        </p:grpSpPr>
        <p:sp>
          <p:nvSpPr>
            <p:cNvPr id="20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0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20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209" name="TextBox 21"/>
          <p:cNvSpPr/>
          <p:nvPr/>
        </p:nvSpPr>
        <p:spPr>
          <a:xfrm>
            <a:off x="2849400" y="2463480"/>
            <a:ext cx="13642560" cy="849276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Completeness: </a:t>
            </a:r>
            <a:r>
              <a:rPr b="0" lang="en-US" sz="3980" spc="-1" strike="noStrike">
                <a:solidFill>
                  <a:srgbClr val="61654d"/>
                </a:solidFill>
                <a:latin typeface="Akzidenz-Grotesk"/>
                <a:ea typeface="Akzidenz-Grotesk"/>
              </a:rPr>
              <a:t>The SRS is complete if, and only if, it includes the following elements:</a:t>
            </a:r>
            <a:endParaRPr b="0" lang="en-PH" sz="3980" spc="-1" strike="noStrike">
              <a:solidFill>
                <a:srgbClr val="000000"/>
              </a:solidFill>
              <a:latin typeface="Arial"/>
            </a:endParaRPr>
          </a:p>
          <a:p>
            <a:pPr algn="just" defTabSz="914400">
              <a:lnSpc>
                <a:spcPts val="5573"/>
              </a:lnSpc>
            </a:pPr>
            <a:r>
              <a:rPr b="0" lang="en-US" sz="3980" spc="-1" strike="noStrike">
                <a:solidFill>
                  <a:srgbClr val="61654d"/>
                </a:solidFill>
                <a:latin typeface="Akzidenz-Grotesk"/>
                <a:ea typeface="Akzidenz-Grotesk"/>
              </a:rPr>
              <a:t>(1). All essential requirements, whether relating to functionality, performance, design, constraints, attributes, or external interfaces.</a:t>
            </a:r>
            <a:endParaRPr b="0" lang="en-PH" sz="3980" spc="-1" strike="noStrike">
              <a:solidFill>
                <a:srgbClr val="000000"/>
              </a:solidFill>
              <a:latin typeface="Arial"/>
            </a:endParaRPr>
          </a:p>
          <a:p>
            <a:pPr algn="just" defTabSz="914400">
              <a:lnSpc>
                <a:spcPts val="5573"/>
              </a:lnSpc>
            </a:pPr>
            <a:r>
              <a:rPr b="0" lang="en-US" sz="3980" spc="-1" strike="noStrike">
                <a:solidFill>
                  <a:srgbClr val="61654d"/>
                </a:solidFill>
                <a:latin typeface="Akzidenz-Grotesk"/>
                <a:ea typeface="Akzidenz-Grotesk"/>
              </a:rPr>
              <a:t>(2). Definition of their responses of the software to all realizable classes of input data in all available categories of situations.</a:t>
            </a:r>
            <a:endParaRPr b="0" lang="en-PH" sz="3980" spc="-1" strike="noStrike">
              <a:solidFill>
                <a:srgbClr val="000000"/>
              </a:solidFill>
              <a:latin typeface="Arial"/>
            </a:endParaRPr>
          </a:p>
          <a:p>
            <a:pPr algn="just" defTabSz="914400">
              <a:lnSpc>
                <a:spcPts val="5573"/>
              </a:lnSpc>
            </a:pPr>
            <a:r>
              <a:rPr b="0" lang="en-US" sz="3980" spc="-1" strike="noStrike">
                <a:solidFill>
                  <a:srgbClr val="61654d"/>
                </a:solidFill>
                <a:latin typeface="Akzidenz-Grotesk"/>
                <a:ea typeface="Akzidenz-Grotesk"/>
              </a:rPr>
              <a:t>(3). Full labels and references to all figures, tables, and diagrams in the SRS and definitions of all terms and units of measure.</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0" name="Group 2"/>
          <p:cNvGrpSpPr/>
          <p:nvPr/>
        </p:nvGrpSpPr>
        <p:grpSpPr>
          <a:xfrm>
            <a:off x="-5321520" y="5285880"/>
            <a:ext cx="8988840" cy="8780760"/>
            <a:chOff x="-5321520" y="5285880"/>
            <a:chExt cx="8988840" cy="8780760"/>
          </a:xfrm>
        </p:grpSpPr>
        <p:sp>
          <p:nvSpPr>
            <p:cNvPr id="21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1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13" name="Group 5"/>
          <p:cNvGrpSpPr/>
          <p:nvPr/>
        </p:nvGrpSpPr>
        <p:grpSpPr>
          <a:xfrm>
            <a:off x="-1367280" y="9054360"/>
            <a:ext cx="4441320" cy="4338360"/>
            <a:chOff x="-1367280" y="9054360"/>
            <a:chExt cx="4441320" cy="4338360"/>
          </a:xfrm>
        </p:grpSpPr>
        <p:sp>
          <p:nvSpPr>
            <p:cNvPr id="21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1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16" name="Group 8"/>
          <p:cNvGrpSpPr/>
          <p:nvPr/>
        </p:nvGrpSpPr>
        <p:grpSpPr>
          <a:xfrm>
            <a:off x="15163920" y="-4197240"/>
            <a:ext cx="9577080" cy="9354960"/>
            <a:chOff x="15163920" y="-4197240"/>
            <a:chExt cx="9577080" cy="9354960"/>
          </a:xfrm>
        </p:grpSpPr>
        <p:sp>
          <p:nvSpPr>
            <p:cNvPr id="21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1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19" name="Group 11"/>
          <p:cNvGrpSpPr/>
          <p:nvPr/>
        </p:nvGrpSpPr>
        <p:grpSpPr>
          <a:xfrm>
            <a:off x="16032240" y="-3598920"/>
            <a:ext cx="4732200" cy="4622400"/>
            <a:chOff x="16032240" y="-3598920"/>
            <a:chExt cx="4732200" cy="4622400"/>
          </a:xfrm>
        </p:grpSpPr>
        <p:sp>
          <p:nvSpPr>
            <p:cNvPr id="22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2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22" name="Group 14"/>
          <p:cNvGrpSpPr/>
          <p:nvPr/>
        </p:nvGrpSpPr>
        <p:grpSpPr>
          <a:xfrm>
            <a:off x="12844800" y="8637480"/>
            <a:ext cx="4098960" cy="4003920"/>
            <a:chOff x="12844800" y="8637480"/>
            <a:chExt cx="4098960" cy="4003920"/>
          </a:xfrm>
        </p:grpSpPr>
        <p:sp>
          <p:nvSpPr>
            <p:cNvPr id="22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2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25" name="Group 17"/>
          <p:cNvGrpSpPr/>
          <p:nvPr/>
        </p:nvGrpSpPr>
        <p:grpSpPr>
          <a:xfrm>
            <a:off x="1352160" y="-2332080"/>
            <a:ext cx="4118040" cy="4021920"/>
            <a:chOff x="1352160" y="-2332080"/>
            <a:chExt cx="4118040" cy="4021920"/>
          </a:xfrm>
        </p:grpSpPr>
        <p:sp>
          <p:nvSpPr>
            <p:cNvPr id="22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2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22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229" name="TextBox 21"/>
          <p:cNvSpPr/>
          <p:nvPr/>
        </p:nvSpPr>
        <p:spPr>
          <a:xfrm>
            <a:off x="2849400" y="2463480"/>
            <a:ext cx="13642560" cy="28306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Consistency: </a:t>
            </a:r>
            <a:r>
              <a:rPr b="0" lang="en-US" sz="3980" spc="-1" strike="noStrike">
                <a:solidFill>
                  <a:srgbClr val="61654d"/>
                </a:solidFill>
                <a:latin typeface="Akzidenz-Grotesk"/>
                <a:ea typeface="Akzidenz-Grotesk"/>
              </a:rPr>
              <a:t>The SRS is consistent if, and only if, no subset of individual requirements described in its conflict.</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30" name="Group 2"/>
          <p:cNvGrpSpPr/>
          <p:nvPr/>
        </p:nvGrpSpPr>
        <p:grpSpPr>
          <a:xfrm>
            <a:off x="-5321520" y="5285880"/>
            <a:ext cx="8988840" cy="8780760"/>
            <a:chOff x="-5321520" y="5285880"/>
            <a:chExt cx="8988840" cy="8780760"/>
          </a:xfrm>
        </p:grpSpPr>
        <p:sp>
          <p:nvSpPr>
            <p:cNvPr id="23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3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33" name="Group 5"/>
          <p:cNvGrpSpPr/>
          <p:nvPr/>
        </p:nvGrpSpPr>
        <p:grpSpPr>
          <a:xfrm>
            <a:off x="-1367280" y="9054360"/>
            <a:ext cx="4441320" cy="4338360"/>
            <a:chOff x="-1367280" y="9054360"/>
            <a:chExt cx="4441320" cy="4338360"/>
          </a:xfrm>
        </p:grpSpPr>
        <p:sp>
          <p:nvSpPr>
            <p:cNvPr id="23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3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36" name="Group 8"/>
          <p:cNvGrpSpPr/>
          <p:nvPr/>
        </p:nvGrpSpPr>
        <p:grpSpPr>
          <a:xfrm>
            <a:off x="15163920" y="-4197240"/>
            <a:ext cx="9577080" cy="9354960"/>
            <a:chOff x="15163920" y="-4197240"/>
            <a:chExt cx="9577080" cy="9354960"/>
          </a:xfrm>
        </p:grpSpPr>
        <p:sp>
          <p:nvSpPr>
            <p:cNvPr id="23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3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39" name="Group 11"/>
          <p:cNvGrpSpPr/>
          <p:nvPr/>
        </p:nvGrpSpPr>
        <p:grpSpPr>
          <a:xfrm>
            <a:off x="16032240" y="-3598920"/>
            <a:ext cx="4732200" cy="4622400"/>
            <a:chOff x="16032240" y="-3598920"/>
            <a:chExt cx="4732200" cy="4622400"/>
          </a:xfrm>
        </p:grpSpPr>
        <p:sp>
          <p:nvSpPr>
            <p:cNvPr id="24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4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42" name="Group 14"/>
          <p:cNvGrpSpPr/>
          <p:nvPr/>
        </p:nvGrpSpPr>
        <p:grpSpPr>
          <a:xfrm>
            <a:off x="12844800" y="8637480"/>
            <a:ext cx="4098960" cy="4003920"/>
            <a:chOff x="12844800" y="8637480"/>
            <a:chExt cx="4098960" cy="4003920"/>
          </a:xfrm>
        </p:grpSpPr>
        <p:sp>
          <p:nvSpPr>
            <p:cNvPr id="24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4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45" name="Group 17"/>
          <p:cNvGrpSpPr/>
          <p:nvPr/>
        </p:nvGrpSpPr>
        <p:grpSpPr>
          <a:xfrm>
            <a:off x="1352160" y="-2332080"/>
            <a:ext cx="4118040" cy="4021920"/>
            <a:chOff x="1352160" y="-2332080"/>
            <a:chExt cx="4118040" cy="4021920"/>
          </a:xfrm>
        </p:grpSpPr>
        <p:sp>
          <p:nvSpPr>
            <p:cNvPr id="24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4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24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249" name="TextBox 21"/>
          <p:cNvSpPr/>
          <p:nvPr/>
        </p:nvSpPr>
        <p:spPr>
          <a:xfrm>
            <a:off x="2849400" y="2463480"/>
            <a:ext cx="13642560" cy="424620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Unambiguousness: </a:t>
            </a:r>
            <a:r>
              <a:rPr b="0" lang="en-US" sz="3980" spc="-1" strike="noStrike">
                <a:solidFill>
                  <a:srgbClr val="61654d"/>
                </a:solidFill>
                <a:latin typeface="Akzidenz-Grotesk"/>
                <a:ea typeface="Akzidenz-Grotesk"/>
              </a:rPr>
              <a:t>SRS is unambiguous when every fixed requirement has only one interpretation. This suggests that each element is uniquely interpreted. In case there is a method used with multiple definitions, the requirements report should determine the implications in the SRS so that it is clear and simple to understand.</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0" name="Group 2"/>
          <p:cNvGrpSpPr/>
          <p:nvPr/>
        </p:nvGrpSpPr>
        <p:grpSpPr>
          <a:xfrm>
            <a:off x="-5321520" y="5285880"/>
            <a:ext cx="8988840" cy="8780760"/>
            <a:chOff x="-5321520" y="5285880"/>
            <a:chExt cx="8988840" cy="8780760"/>
          </a:xfrm>
        </p:grpSpPr>
        <p:sp>
          <p:nvSpPr>
            <p:cNvPr id="25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5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53" name="Group 5"/>
          <p:cNvGrpSpPr/>
          <p:nvPr/>
        </p:nvGrpSpPr>
        <p:grpSpPr>
          <a:xfrm>
            <a:off x="-1367280" y="9054360"/>
            <a:ext cx="4441320" cy="4338360"/>
            <a:chOff x="-1367280" y="9054360"/>
            <a:chExt cx="4441320" cy="4338360"/>
          </a:xfrm>
        </p:grpSpPr>
        <p:sp>
          <p:nvSpPr>
            <p:cNvPr id="25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5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56" name="Group 8"/>
          <p:cNvGrpSpPr/>
          <p:nvPr/>
        </p:nvGrpSpPr>
        <p:grpSpPr>
          <a:xfrm>
            <a:off x="15163920" y="-4197240"/>
            <a:ext cx="9577080" cy="9354960"/>
            <a:chOff x="15163920" y="-4197240"/>
            <a:chExt cx="9577080" cy="9354960"/>
          </a:xfrm>
        </p:grpSpPr>
        <p:sp>
          <p:nvSpPr>
            <p:cNvPr id="25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5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59" name="Group 11"/>
          <p:cNvGrpSpPr/>
          <p:nvPr/>
        </p:nvGrpSpPr>
        <p:grpSpPr>
          <a:xfrm>
            <a:off x="16032240" y="-3598920"/>
            <a:ext cx="4732200" cy="4622400"/>
            <a:chOff x="16032240" y="-3598920"/>
            <a:chExt cx="4732200" cy="4622400"/>
          </a:xfrm>
        </p:grpSpPr>
        <p:sp>
          <p:nvSpPr>
            <p:cNvPr id="26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6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62" name="Group 14"/>
          <p:cNvGrpSpPr/>
          <p:nvPr/>
        </p:nvGrpSpPr>
        <p:grpSpPr>
          <a:xfrm>
            <a:off x="12844800" y="8637480"/>
            <a:ext cx="4098960" cy="4003920"/>
            <a:chOff x="12844800" y="8637480"/>
            <a:chExt cx="4098960" cy="4003920"/>
          </a:xfrm>
        </p:grpSpPr>
        <p:sp>
          <p:nvSpPr>
            <p:cNvPr id="26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6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65" name="Group 17"/>
          <p:cNvGrpSpPr/>
          <p:nvPr/>
        </p:nvGrpSpPr>
        <p:grpSpPr>
          <a:xfrm>
            <a:off x="1352160" y="-2332080"/>
            <a:ext cx="4118040" cy="4021920"/>
            <a:chOff x="1352160" y="-2332080"/>
            <a:chExt cx="4118040" cy="4021920"/>
          </a:xfrm>
        </p:grpSpPr>
        <p:sp>
          <p:nvSpPr>
            <p:cNvPr id="26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6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26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269" name="TextBox 21"/>
          <p:cNvSpPr/>
          <p:nvPr/>
        </p:nvSpPr>
        <p:spPr>
          <a:xfrm>
            <a:off x="2849400" y="2463480"/>
            <a:ext cx="13642560" cy="28306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Ranking for importance and stability: </a:t>
            </a:r>
            <a:r>
              <a:rPr b="0" lang="en-US" sz="3980" spc="-1" strike="noStrike">
                <a:solidFill>
                  <a:srgbClr val="61654d"/>
                </a:solidFill>
                <a:latin typeface="Akzidenz-Grotesk"/>
                <a:ea typeface="Akzidenz-Grotesk"/>
              </a:rPr>
              <a:t>The SRS is ranked for importance and stability if each requirement in it has an identifier to indicate either the significance or stability of that particular requirement.</a:t>
            </a:r>
            <a:endParaRPr b="0" lang="en-PH" sz="3980" spc="-1" strike="noStrike">
              <a:solidFill>
                <a:srgbClr val="000000"/>
              </a:solidFill>
              <a:latin typeface="Arial"/>
            </a:endParaRPr>
          </a:p>
        </p:txBody>
      </p:sp>
      <p:pic>
        <p:nvPicPr>
          <p:cNvPr id="270" name="" descr=""/>
          <p:cNvPicPr/>
          <p:nvPr/>
        </p:nvPicPr>
        <p:blipFill>
          <a:blip r:embed="rId1"/>
          <a:stretch/>
        </p:blipFill>
        <p:spPr>
          <a:xfrm>
            <a:off x="4642560" y="5518800"/>
            <a:ext cx="9073440" cy="451764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1" name="Group 2"/>
          <p:cNvGrpSpPr/>
          <p:nvPr/>
        </p:nvGrpSpPr>
        <p:grpSpPr>
          <a:xfrm>
            <a:off x="-5321520" y="5285880"/>
            <a:ext cx="8988840" cy="8780760"/>
            <a:chOff x="-5321520" y="5285880"/>
            <a:chExt cx="8988840" cy="8780760"/>
          </a:xfrm>
        </p:grpSpPr>
        <p:sp>
          <p:nvSpPr>
            <p:cNvPr id="27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7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74" name="Group 5"/>
          <p:cNvGrpSpPr/>
          <p:nvPr/>
        </p:nvGrpSpPr>
        <p:grpSpPr>
          <a:xfrm>
            <a:off x="-1367280" y="9054360"/>
            <a:ext cx="4441320" cy="4338360"/>
            <a:chOff x="-1367280" y="9054360"/>
            <a:chExt cx="4441320" cy="4338360"/>
          </a:xfrm>
        </p:grpSpPr>
        <p:sp>
          <p:nvSpPr>
            <p:cNvPr id="27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7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77" name="Group 8"/>
          <p:cNvGrpSpPr/>
          <p:nvPr/>
        </p:nvGrpSpPr>
        <p:grpSpPr>
          <a:xfrm>
            <a:off x="15163920" y="-4197240"/>
            <a:ext cx="9577080" cy="9354960"/>
            <a:chOff x="15163920" y="-4197240"/>
            <a:chExt cx="9577080" cy="9354960"/>
          </a:xfrm>
        </p:grpSpPr>
        <p:sp>
          <p:nvSpPr>
            <p:cNvPr id="27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7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80" name="Group 11"/>
          <p:cNvGrpSpPr/>
          <p:nvPr/>
        </p:nvGrpSpPr>
        <p:grpSpPr>
          <a:xfrm>
            <a:off x="16032240" y="-3598920"/>
            <a:ext cx="4732200" cy="4622400"/>
            <a:chOff x="16032240" y="-3598920"/>
            <a:chExt cx="4732200" cy="4622400"/>
          </a:xfrm>
        </p:grpSpPr>
        <p:sp>
          <p:nvSpPr>
            <p:cNvPr id="28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8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83" name="Group 14"/>
          <p:cNvGrpSpPr/>
          <p:nvPr/>
        </p:nvGrpSpPr>
        <p:grpSpPr>
          <a:xfrm>
            <a:off x="12844800" y="8637480"/>
            <a:ext cx="4098960" cy="4003920"/>
            <a:chOff x="12844800" y="8637480"/>
            <a:chExt cx="4098960" cy="4003920"/>
          </a:xfrm>
        </p:grpSpPr>
        <p:sp>
          <p:nvSpPr>
            <p:cNvPr id="28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8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86" name="Group 17"/>
          <p:cNvGrpSpPr/>
          <p:nvPr/>
        </p:nvGrpSpPr>
        <p:grpSpPr>
          <a:xfrm>
            <a:off x="1352160" y="-2332080"/>
            <a:ext cx="4118040" cy="4021920"/>
            <a:chOff x="1352160" y="-2332080"/>
            <a:chExt cx="4118040" cy="4021920"/>
          </a:xfrm>
        </p:grpSpPr>
        <p:sp>
          <p:nvSpPr>
            <p:cNvPr id="28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8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28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290" name="TextBox 21"/>
          <p:cNvSpPr/>
          <p:nvPr/>
        </p:nvSpPr>
        <p:spPr>
          <a:xfrm>
            <a:off x="2849400" y="2463480"/>
            <a:ext cx="13642560" cy="353844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Modifiability: </a:t>
            </a:r>
            <a:r>
              <a:rPr b="0" lang="en-US" sz="3980" spc="-1" strike="noStrike">
                <a:solidFill>
                  <a:srgbClr val="61654d"/>
                </a:solidFill>
                <a:latin typeface="Akzidenz-Grotesk"/>
                <a:ea typeface="Akzidenz-Grotesk"/>
              </a:rPr>
              <a:t>SRS should be made as modifiable as likely and should be capable of quickly obtain changes to the system to some extent. Modifications should be perfectly indexed and cross-referenced.</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91" name="Group 2"/>
          <p:cNvGrpSpPr/>
          <p:nvPr/>
        </p:nvGrpSpPr>
        <p:grpSpPr>
          <a:xfrm>
            <a:off x="-5321520" y="5285880"/>
            <a:ext cx="8988840" cy="8780760"/>
            <a:chOff x="-5321520" y="5285880"/>
            <a:chExt cx="8988840" cy="8780760"/>
          </a:xfrm>
        </p:grpSpPr>
        <p:sp>
          <p:nvSpPr>
            <p:cNvPr id="29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9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94" name="Group 5"/>
          <p:cNvGrpSpPr/>
          <p:nvPr/>
        </p:nvGrpSpPr>
        <p:grpSpPr>
          <a:xfrm>
            <a:off x="-1367280" y="9054360"/>
            <a:ext cx="4441320" cy="4338360"/>
            <a:chOff x="-1367280" y="9054360"/>
            <a:chExt cx="4441320" cy="4338360"/>
          </a:xfrm>
        </p:grpSpPr>
        <p:sp>
          <p:nvSpPr>
            <p:cNvPr id="29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9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297" name="Group 8"/>
          <p:cNvGrpSpPr/>
          <p:nvPr/>
        </p:nvGrpSpPr>
        <p:grpSpPr>
          <a:xfrm>
            <a:off x="15163920" y="-4197240"/>
            <a:ext cx="9577080" cy="9354960"/>
            <a:chOff x="15163920" y="-4197240"/>
            <a:chExt cx="9577080" cy="9354960"/>
          </a:xfrm>
        </p:grpSpPr>
        <p:sp>
          <p:nvSpPr>
            <p:cNvPr id="29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29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00" name="Group 11"/>
          <p:cNvGrpSpPr/>
          <p:nvPr/>
        </p:nvGrpSpPr>
        <p:grpSpPr>
          <a:xfrm>
            <a:off x="16032240" y="-3598920"/>
            <a:ext cx="4732200" cy="4622400"/>
            <a:chOff x="16032240" y="-3598920"/>
            <a:chExt cx="4732200" cy="4622400"/>
          </a:xfrm>
        </p:grpSpPr>
        <p:sp>
          <p:nvSpPr>
            <p:cNvPr id="30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0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03" name="Group 14"/>
          <p:cNvGrpSpPr/>
          <p:nvPr/>
        </p:nvGrpSpPr>
        <p:grpSpPr>
          <a:xfrm>
            <a:off x="12844800" y="8637480"/>
            <a:ext cx="4098960" cy="4003920"/>
            <a:chOff x="12844800" y="8637480"/>
            <a:chExt cx="4098960" cy="4003920"/>
          </a:xfrm>
        </p:grpSpPr>
        <p:sp>
          <p:nvSpPr>
            <p:cNvPr id="30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0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06" name="Group 17"/>
          <p:cNvGrpSpPr/>
          <p:nvPr/>
        </p:nvGrpSpPr>
        <p:grpSpPr>
          <a:xfrm>
            <a:off x="1352160" y="-2332080"/>
            <a:ext cx="4118040" cy="4021920"/>
            <a:chOff x="1352160" y="-2332080"/>
            <a:chExt cx="4118040" cy="4021920"/>
          </a:xfrm>
        </p:grpSpPr>
        <p:sp>
          <p:nvSpPr>
            <p:cNvPr id="30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0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0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310" name="TextBox 21"/>
          <p:cNvSpPr/>
          <p:nvPr/>
        </p:nvSpPr>
        <p:spPr>
          <a:xfrm>
            <a:off x="2849400" y="2463480"/>
            <a:ext cx="13642560" cy="424620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Verifiability: </a:t>
            </a:r>
            <a:r>
              <a:rPr b="0" lang="en-US" sz="3980" spc="-1" strike="noStrike">
                <a:solidFill>
                  <a:srgbClr val="61654d"/>
                </a:solidFill>
                <a:latin typeface="Akzidenz-Grotesk"/>
                <a:ea typeface="Akzidenz-Grotesk"/>
              </a:rPr>
              <a:t>SRS is correct when the specified requirements can be verified with a cost-effective system to check whether the final software meets those requirements. The requirements are verified with the help of reviews.</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11" name="Group 2"/>
          <p:cNvGrpSpPr/>
          <p:nvPr/>
        </p:nvGrpSpPr>
        <p:grpSpPr>
          <a:xfrm>
            <a:off x="-5321520" y="5285880"/>
            <a:ext cx="8988840" cy="8780760"/>
            <a:chOff x="-5321520" y="5285880"/>
            <a:chExt cx="8988840" cy="8780760"/>
          </a:xfrm>
        </p:grpSpPr>
        <p:sp>
          <p:nvSpPr>
            <p:cNvPr id="31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1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14" name="Group 5"/>
          <p:cNvGrpSpPr/>
          <p:nvPr/>
        </p:nvGrpSpPr>
        <p:grpSpPr>
          <a:xfrm>
            <a:off x="-1367280" y="9054360"/>
            <a:ext cx="4441320" cy="4338360"/>
            <a:chOff x="-1367280" y="9054360"/>
            <a:chExt cx="4441320" cy="4338360"/>
          </a:xfrm>
        </p:grpSpPr>
        <p:sp>
          <p:nvSpPr>
            <p:cNvPr id="31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1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17" name="Group 8"/>
          <p:cNvGrpSpPr/>
          <p:nvPr/>
        </p:nvGrpSpPr>
        <p:grpSpPr>
          <a:xfrm>
            <a:off x="15163920" y="-4197240"/>
            <a:ext cx="9577080" cy="9354960"/>
            <a:chOff x="15163920" y="-4197240"/>
            <a:chExt cx="9577080" cy="9354960"/>
          </a:xfrm>
        </p:grpSpPr>
        <p:sp>
          <p:nvSpPr>
            <p:cNvPr id="31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1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20" name="Group 11"/>
          <p:cNvGrpSpPr/>
          <p:nvPr/>
        </p:nvGrpSpPr>
        <p:grpSpPr>
          <a:xfrm>
            <a:off x="16032240" y="-3598920"/>
            <a:ext cx="4732200" cy="4622400"/>
            <a:chOff x="16032240" y="-3598920"/>
            <a:chExt cx="4732200" cy="4622400"/>
          </a:xfrm>
        </p:grpSpPr>
        <p:sp>
          <p:nvSpPr>
            <p:cNvPr id="32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2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23" name="Group 14"/>
          <p:cNvGrpSpPr/>
          <p:nvPr/>
        </p:nvGrpSpPr>
        <p:grpSpPr>
          <a:xfrm>
            <a:off x="12844800" y="8637480"/>
            <a:ext cx="4098960" cy="4003920"/>
            <a:chOff x="12844800" y="8637480"/>
            <a:chExt cx="4098960" cy="4003920"/>
          </a:xfrm>
        </p:grpSpPr>
        <p:sp>
          <p:nvSpPr>
            <p:cNvPr id="32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2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26" name="Group 17"/>
          <p:cNvGrpSpPr/>
          <p:nvPr/>
        </p:nvGrpSpPr>
        <p:grpSpPr>
          <a:xfrm>
            <a:off x="1352160" y="-2332080"/>
            <a:ext cx="4118040" cy="4021920"/>
            <a:chOff x="1352160" y="-2332080"/>
            <a:chExt cx="4118040" cy="4021920"/>
          </a:xfrm>
        </p:grpSpPr>
        <p:sp>
          <p:nvSpPr>
            <p:cNvPr id="32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2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2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330" name="TextBox 21"/>
          <p:cNvSpPr/>
          <p:nvPr/>
        </p:nvSpPr>
        <p:spPr>
          <a:xfrm>
            <a:off x="2849400" y="2463480"/>
            <a:ext cx="13642560" cy="849276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Traceability: </a:t>
            </a:r>
            <a:r>
              <a:rPr b="0" lang="en-US" sz="3980" spc="-1" strike="noStrike">
                <a:solidFill>
                  <a:srgbClr val="61654d"/>
                </a:solidFill>
                <a:latin typeface="Akzidenz-Grotesk"/>
                <a:ea typeface="Akzidenz-Grotesk"/>
              </a:rPr>
              <a:t>The SRS is traceable if the origin of each of the requirements is clear and if it facilitates the referencing of each condition in future development or enhancement documentation.</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a:p>
            <a:pPr lvl="1" marL="859680" indent="-429840" algn="just" defTabSz="914400">
              <a:lnSpc>
                <a:spcPts val="5573"/>
              </a:lnSpc>
              <a:buClr>
                <a:srgbClr val="61654d"/>
              </a:buClr>
              <a:buFont typeface="Arial"/>
              <a:buChar char="•"/>
            </a:pPr>
            <a:r>
              <a:rPr b="0" lang="en-US" sz="3980" spc="-1" strike="noStrike">
                <a:solidFill>
                  <a:srgbClr val="61654d"/>
                </a:solidFill>
                <a:latin typeface="Akzidenz-Grotesk"/>
                <a:ea typeface="Akzidenz-Grotesk"/>
              </a:rPr>
              <a:t>1. Backward Traceability: This depends upon each requirement explicitly referencing its source in earlier documents.</a:t>
            </a:r>
            <a:endParaRPr b="0" lang="en-PH" sz="3980" spc="-1" strike="noStrike">
              <a:solidFill>
                <a:srgbClr val="000000"/>
              </a:solidFill>
              <a:latin typeface="Arial"/>
            </a:endParaRPr>
          </a:p>
          <a:p>
            <a:pPr lvl="1" marL="859680" indent="-429840" algn="just" defTabSz="914400">
              <a:lnSpc>
                <a:spcPts val="5573"/>
              </a:lnSpc>
              <a:buClr>
                <a:srgbClr val="61654d"/>
              </a:buClr>
              <a:buFont typeface="Arial"/>
              <a:buChar char="•"/>
            </a:pPr>
            <a:r>
              <a:rPr b="0" lang="en-US" sz="3980" spc="-1" strike="noStrike">
                <a:solidFill>
                  <a:srgbClr val="61654d"/>
                </a:solidFill>
                <a:latin typeface="Akzidenz-Grotesk"/>
                <a:ea typeface="Akzidenz-Grotesk"/>
              </a:rPr>
              <a:t>2. Forward Traceability: This depends upon each element in the SRS having a unique name or reference number.</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31" name="Group 2"/>
          <p:cNvGrpSpPr/>
          <p:nvPr/>
        </p:nvGrpSpPr>
        <p:grpSpPr>
          <a:xfrm>
            <a:off x="-5321520" y="5285880"/>
            <a:ext cx="8988840" cy="8780760"/>
            <a:chOff x="-5321520" y="5285880"/>
            <a:chExt cx="8988840" cy="8780760"/>
          </a:xfrm>
        </p:grpSpPr>
        <p:sp>
          <p:nvSpPr>
            <p:cNvPr id="33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3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34" name="Group 5"/>
          <p:cNvGrpSpPr/>
          <p:nvPr/>
        </p:nvGrpSpPr>
        <p:grpSpPr>
          <a:xfrm>
            <a:off x="-1367280" y="9054360"/>
            <a:ext cx="4441320" cy="4338360"/>
            <a:chOff x="-1367280" y="9054360"/>
            <a:chExt cx="4441320" cy="4338360"/>
          </a:xfrm>
        </p:grpSpPr>
        <p:sp>
          <p:nvSpPr>
            <p:cNvPr id="33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3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37" name="Group 8"/>
          <p:cNvGrpSpPr/>
          <p:nvPr/>
        </p:nvGrpSpPr>
        <p:grpSpPr>
          <a:xfrm>
            <a:off x="15163920" y="-4197240"/>
            <a:ext cx="9577080" cy="9354960"/>
            <a:chOff x="15163920" y="-4197240"/>
            <a:chExt cx="9577080" cy="9354960"/>
          </a:xfrm>
        </p:grpSpPr>
        <p:sp>
          <p:nvSpPr>
            <p:cNvPr id="33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3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40" name="Group 11"/>
          <p:cNvGrpSpPr/>
          <p:nvPr/>
        </p:nvGrpSpPr>
        <p:grpSpPr>
          <a:xfrm>
            <a:off x="16032240" y="-3598920"/>
            <a:ext cx="4732200" cy="4622400"/>
            <a:chOff x="16032240" y="-3598920"/>
            <a:chExt cx="4732200" cy="4622400"/>
          </a:xfrm>
        </p:grpSpPr>
        <p:sp>
          <p:nvSpPr>
            <p:cNvPr id="34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4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43" name="Group 14"/>
          <p:cNvGrpSpPr/>
          <p:nvPr/>
        </p:nvGrpSpPr>
        <p:grpSpPr>
          <a:xfrm>
            <a:off x="12844800" y="8637480"/>
            <a:ext cx="4098960" cy="4003920"/>
            <a:chOff x="12844800" y="8637480"/>
            <a:chExt cx="4098960" cy="4003920"/>
          </a:xfrm>
        </p:grpSpPr>
        <p:sp>
          <p:nvSpPr>
            <p:cNvPr id="34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4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46" name="Group 17"/>
          <p:cNvGrpSpPr/>
          <p:nvPr/>
        </p:nvGrpSpPr>
        <p:grpSpPr>
          <a:xfrm>
            <a:off x="1352160" y="-2332080"/>
            <a:ext cx="4118040" cy="4021920"/>
            <a:chOff x="1352160" y="-2332080"/>
            <a:chExt cx="4118040" cy="4021920"/>
          </a:xfrm>
        </p:grpSpPr>
        <p:sp>
          <p:nvSpPr>
            <p:cNvPr id="34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4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4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350" name="TextBox 21"/>
          <p:cNvSpPr/>
          <p:nvPr/>
        </p:nvSpPr>
        <p:spPr>
          <a:xfrm>
            <a:off x="2849400" y="2463480"/>
            <a:ext cx="13642560" cy="28306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Design Independence:</a:t>
            </a:r>
            <a:r>
              <a:rPr b="0" lang="en-US" sz="3980" spc="-1" strike="noStrike">
                <a:solidFill>
                  <a:srgbClr val="61654d"/>
                </a:solidFill>
                <a:latin typeface="Akzidenz-Grotesk"/>
                <a:ea typeface="Akzidenz-Grotesk"/>
              </a:rPr>
              <a:t> There should be an option to select from multiple design alternatives for the final system. More specifically, the SRS should not contain any implementation details.</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51" name="Group 2"/>
          <p:cNvGrpSpPr/>
          <p:nvPr/>
        </p:nvGrpSpPr>
        <p:grpSpPr>
          <a:xfrm>
            <a:off x="-5321520" y="5285880"/>
            <a:ext cx="8988840" cy="8780760"/>
            <a:chOff x="-5321520" y="5285880"/>
            <a:chExt cx="8988840" cy="8780760"/>
          </a:xfrm>
        </p:grpSpPr>
        <p:sp>
          <p:nvSpPr>
            <p:cNvPr id="35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5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54" name="Group 5"/>
          <p:cNvGrpSpPr/>
          <p:nvPr/>
        </p:nvGrpSpPr>
        <p:grpSpPr>
          <a:xfrm>
            <a:off x="-1367280" y="9054360"/>
            <a:ext cx="4441320" cy="4338360"/>
            <a:chOff x="-1367280" y="9054360"/>
            <a:chExt cx="4441320" cy="4338360"/>
          </a:xfrm>
        </p:grpSpPr>
        <p:sp>
          <p:nvSpPr>
            <p:cNvPr id="35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5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57" name="Group 8"/>
          <p:cNvGrpSpPr/>
          <p:nvPr/>
        </p:nvGrpSpPr>
        <p:grpSpPr>
          <a:xfrm>
            <a:off x="15163920" y="-4197240"/>
            <a:ext cx="9577080" cy="9354960"/>
            <a:chOff x="15163920" y="-4197240"/>
            <a:chExt cx="9577080" cy="9354960"/>
          </a:xfrm>
        </p:grpSpPr>
        <p:sp>
          <p:nvSpPr>
            <p:cNvPr id="35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5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60" name="Group 11"/>
          <p:cNvGrpSpPr/>
          <p:nvPr/>
        </p:nvGrpSpPr>
        <p:grpSpPr>
          <a:xfrm>
            <a:off x="16032240" y="-3598920"/>
            <a:ext cx="4732200" cy="4622400"/>
            <a:chOff x="16032240" y="-3598920"/>
            <a:chExt cx="4732200" cy="4622400"/>
          </a:xfrm>
        </p:grpSpPr>
        <p:sp>
          <p:nvSpPr>
            <p:cNvPr id="36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6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63" name="Group 14"/>
          <p:cNvGrpSpPr/>
          <p:nvPr/>
        </p:nvGrpSpPr>
        <p:grpSpPr>
          <a:xfrm>
            <a:off x="12844800" y="8637480"/>
            <a:ext cx="4098960" cy="4003920"/>
            <a:chOff x="12844800" y="8637480"/>
            <a:chExt cx="4098960" cy="4003920"/>
          </a:xfrm>
        </p:grpSpPr>
        <p:sp>
          <p:nvSpPr>
            <p:cNvPr id="36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6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66" name="Group 17"/>
          <p:cNvGrpSpPr/>
          <p:nvPr/>
        </p:nvGrpSpPr>
        <p:grpSpPr>
          <a:xfrm>
            <a:off x="1352160" y="-2332080"/>
            <a:ext cx="4118040" cy="4021920"/>
            <a:chOff x="1352160" y="-2332080"/>
            <a:chExt cx="4118040" cy="4021920"/>
          </a:xfrm>
        </p:grpSpPr>
        <p:sp>
          <p:nvSpPr>
            <p:cNvPr id="36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6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6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370" name="TextBox 21"/>
          <p:cNvSpPr/>
          <p:nvPr/>
        </p:nvSpPr>
        <p:spPr>
          <a:xfrm>
            <a:off x="2849400" y="2463480"/>
            <a:ext cx="13642560" cy="212292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Testability:</a:t>
            </a:r>
            <a:r>
              <a:rPr b="0" lang="en-US" sz="3980" spc="-1" strike="noStrike">
                <a:solidFill>
                  <a:srgbClr val="61654d"/>
                </a:solidFill>
                <a:latin typeface="Akzidenz-Grotesk"/>
                <a:ea typeface="Akzidenz-Grotesk"/>
              </a:rPr>
              <a:t> An SRS should be written in such a method that it is simple to generate test cases and test plans from the report.</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71" name="Group 2"/>
          <p:cNvGrpSpPr/>
          <p:nvPr/>
        </p:nvGrpSpPr>
        <p:grpSpPr>
          <a:xfrm>
            <a:off x="-5321520" y="5285880"/>
            <a:ext cx="8988840" cy="8780760"/>
            <a:chOff x="-5321520" y="5285880"/>
            <a:chExt cx="8988840" cy="8780760"/>
          </a:xfrm>
        </p:grpSpPr>
        <p:sp>
          <p:nvSpPr>
            <p:cNvPr id="37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7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74" name="Group 5"/>
          <p:cNvGrpSpPr/>
          <p:nvPr/>
        </p:nvGrpSpPr>
        <p:grpSpPr>
          <a:xfrm>
            <a:off x="-1367280" y="9054360"/>
            <a:ext cx="4441320" cy="4338360"/>
            <a:chOff x="-1367280" y="9054360"/>
            <a:chExt cx="4441320" cy="4338360"/>
          </a:xfrm>
        </p:grpSpPr>
        <p:sp>
          <p:nvSpPr>
            <p:cNvPr id="37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7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77" name="Group 8"/>
          <p:cNvGrpSpPr/>
          <p:nvPr/>
        </p:nvGrpSpPr>
        <p:grpSpPr>
          <a:xfrm>
            <a:off x="15163920" y="-4197240"/>
            <a:ext cx="9577080" cy="9354960"/>
            <a:chOff x="15163920" y="-4197240"/>
            <a:chExt cx="9577080" cy="9354960"/>
          </a:xfrm>
        </p:grpSpPr>
        <p:sp>
          <p:nvSpPr>
            <p:cNvPr id="37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7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80" name="Group 11"/>
          <p:cNvGrpSpPr/>
          <p:nvPr/>
        </p:nvGrpSpPr>
        <p:grpSpPr>
          <a:xfrm>
            <a:off x="16032240" y="-3598920"/>
            <a:ext cx="4732200" cy="4622400"/>
            <a:chOff x="16032240" y="-3598920"/>
            <a:chExt cx="4732200" cy="4622400"/>
          </a:xfrm>
        </p:grpSpPr>
        <p:sp>
          <p:nvSpPr>
            <p:cNvPr id="38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8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83" name="Group 14"/>
          <p:cNvGrpSpPr/>
          <p:nvPr/>
        </p:nvGrpSpPr>
        <p:grpSpPr>
          <a:xfrm>
            <a:off x="12844800" y="8637480"/>
            <a:ext cx="4098960" cy="4003920"/>
            <a:chOff x="12844800" y="8637480"/>
            <a:chExt cx="4098960" cy="4003920"/>
          </a:xfrm>
        </p:grpSpPr>
        <p:sp>
          <p:nvSpPr>
            <p:cNvPr id="38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8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86" name="Group 17"/>
          <p:cNvGrpSpPr/>
          <p:nvPr/>
        </p:nvGrpSpPr>
        <p:grpSpPr>
          <a:xfrm>
            <a:off x="1352160" y="-2332080"/>
            <a:ext cx="4118040" cy="4021920"/>
            <a:chOff x="1352160" y="-2332080"/>
            <a:chExt cx="4118040" cy="4021920"/>
          </a:xfrm>
        </p:grpSpPr>
        <p:sp>
          <p:nvSpPr>
            <p:cNvPr id="38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8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38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390" name="TextBox 21"/>
          <p:cNvSpPr/>
          <p:nvPr/>
        </p:nvSpPr>
        <p:spPr>
          <a:xfrm>
            <a:off x="2849400" y="2463480"/>
            <a:ext cx="13642560" cy="424620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Understandable by the customer: </a:t>
            </a:r>
            <a:r>
              <a:rPr b="0" lang="en-US" sz="3980" spc="-1" strike="noStrike">
                <a:solidFill>
                  <a:srgbClr val="61654d"/>
                </a:solidFill>
                <a:latin typeface="Akzidenz-Grotesk"/>
                <a:ea typeface="Akzidenz-Grotesk"/>
              </a:rPr>
              <a:t>An end user may be an expert in his/her explicit domain but might not be trained in computer science. Hence, the purpose of formal notations and symbols should be avoided too as much extent as possible. The language should be kept simple and clear.</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91" name="Group 2"/>
          <p:cNvGrpSpPr/>
          <p:nvPr/>
        </p:nvGrpSpPr>
        <p:grpSpPr>
          <a:xfrm>
            <a:off x="-5321520" y="5285880"/>
            <a:ext cx="8988840" cy="8780760"/>
            <a:chOff x="-5321520" y="5285880"/>
            <a:chExt cx="8988840" cy="8780760"/>
          </a:xfrm>
        </p:grpSpPr>
        <p:sp>
          <p:nvSpPr>
            <p:cNvPr id="39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9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94" name="Group 5"/>
          <p:cNvGrpSpPr/>
          <p:nvPr/>
        </p:nvGrpSpPr>
        <p:grpSpPr>
          <a:xfrm>
            <a:off x="-1367280" y="9054360"/>
            <a:ext cx="4441320" cy="4338360"/>
            <a:chOff x="-1367280" y="9054360"/>
            <a:chExt cx="4441320" cy="4338360"/>
          </a:xfrm>
        </p:grpSpPr>
        <p:sp>
          <p:nvSpPr>
            <p:cNvPr id="39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9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397" name="Group 8"/>
          <p:cNvGrpSpPr/>
          <p:nvPr/>
        </p:nvGrpSpPr>
        <p:grpSpPr>
          <a:xfrm>
            <a:off x="15163920" y="-4197240"/>
            <a:ext cx="9577080" cy="9354960"/>
            <a:chOff x="15163920" y="-4197240"/>
            <a:chExt cx="9577080" cy="9354960"/>
          </a:xfrm>
        </p:grpSpPr>
        <p:sp>
          <p:nvSpPr>
            <p:cNvPr id="39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39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00" name="Group 11"/>
          <p:cNvGrpSpPr/>
          <p:nvPr/>
        </p:nvGrpSpPr>
        <p:grpSpPr>
          <a:xfrm>
            <a:off x="16032240" y="-3598920"/>
            <a:ext cx="4732200" cy="4622400"/>
            <a:chOff x="16032240" y="-3598920"/>
            <a:chExt cx="4732200" cy="4622400"/>
          </a:xfrm>
        </p:grpSpPr>
        <p:sp>
          <p:nvSpPr>
            <p:cNvPr id="40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0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03" name="Group 14"/>
          <p:cNvGrpSpPr/>
          <p:nvPr/>
        </p:nvGrpSpPr>
        <p:grpSpPr>
          <a:xfrm>
            <a:off x="12844800" y="8637480"/>
            <a:ext cx="4098960" cy="4003920"/>
            <a:chOff x="12844800" y="8637480"/>
            <a:chExt cx="4098960" cy="4003920"/>
          </a:xfrm>
        </p:grpSpPr>
        <p:sp>
          <p:nvSpPr>
            <p:cNvPr id="40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0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06" name="Group 17"/>
          <p:cNvGrpSpPr/>
          <p:nvPr/>
        </p:nvGrpSpPr>
        <p:grpSpPr>
          <a:xfrm>
            <a:off x="1352160" y="-2332080"/>
            <a:ext cx="4118040" cy="4021920"/>
            <a:chOff x="1352160" y="-2332080"/>
            <a:chExt cx="4118040" cy="4021920"/>
          </a:xfrm>
        </p:grpSpPr>
        <p:sp>
          <p:nvSpPr>
            <p:cNvPr id="40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0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09"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CHARACTERISTICS </a:t>
            </a:r>
            <a:endParaRPr b="0" lang="en-PH" sz="8650" spc="-1" strike="noStrike">
              <a:solidFill>
                <a:srgbClr val="000000"/>
              </a:solidFill>
              <a:latin typeface="Arial"/>
            </a:endParaRPr>
          </a:p>
        </p:txBody>
      </p:sp>
      <p:sp>
        <p:nvSpPr>
          <p:cNvPr id="410" name="TextBox 21"/>
          <p:cNvSpPr/>
          <p:nvPr/>
        </p:nvSpPr>
        <p:spPr>
          <a:xfrm>
            <a:off x="2849400" y="2463480"/>
            <a:ext cx="13642560" cy="353844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The right level of abstraction: </a:t>
            </a:r>
            <a:r>
              <a:rPr b="0" lang="en-US" sz="3980" spc="-1" strike="noStrike">
                <a:solidFill>
                  <a:srgbClr val="61654d"/>
                </a:solidFill>
                <a:latin typeface="Akzidenz-Grotesk"/>
                <a:ea typeface="Akzidenz-Grotesk"/>
              </a:rPr>
              <a:t>If the SRS is written for the requirements stage, the details should be explained explicitly. Whereas,for a feasibility study, fewer analysis can be used. Hence, the level of abstraction modifies according to the objective of the SRS.</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11" name="Group 2"/>
          <p:cNvGrpSpPr/>
          <p:nvPr/>
        </p:nvGrpSpPr>
        <p:grpSpPr>
          <a:xfrm>
            <a:off x="-5362560" y="4536720"/>
            <a:ext cx="10423800" cy="10182600"/>
            <a:chOff x="-5362560" y="4536720"/>
            <a:chExt cx="10423800" cy="10182600"/>
          </a:xfrm>
        </p:grpSpPr>
        <p:sp>
          <p:nvSpPr>
            <p:cNvPr id="412" name="Freeform 3"/>
            <p:cNvSpPr/>
            <p:nvPr/>
          </p:nvSpPr>
          <p:spPr>
            <a:xfrm rot="19037400">
              <a:off x="-4714200" y="74336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13" name="TextBox 4"/>
            <p:cNvSpPr/>
            <p:nvPr/>
          </p:nvSpPr>
          <p:spPr>
            <a:xfrm rot="19037400">
              <a:off x="-4864320" y="705024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14" name="Group 5"/>
          <p:cNvGrpSpPr/>
          <p:nvPr/>
        </p:nvGrpSpPr>
        <p:grpSpPr>
          <a:xfrm>
            <a:off x="-776160" y="8906400"/>
            <a:ext cx="5150520" cy="5031360"/>
            <a:chOff x="-776160" y="8906400"/>
            <a:chExt cx="5150520" cy="5031360"/>
          </a:xfrm>
        </p:grpSpPr>
        <p:sp>
          <p:nvSpPr>
            <p:cNvPr id="415"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16"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17" name="Group 8"/>
          <p:cNvGrpSpPr/>
          <p:nvPr/>
        </p:nvGrpSpPr>
        <p:grpSpPr>
          <a:xfrm>
            <a:off x="14316840" y="-4223880"/>
            <a:ext cx="10423800" cy="10182600"/>
            <a:chOff x="14316840" y="-4223880"/>
            <a:chExt cx="10423800" cy="10182600"/>
          </a:xfrm>
        </p:grpSpPr>
        <p:sp>
          <p:nvSpPr>
            <p:cNvPr id="418"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19"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20" name="Group 11"/>
          <p:cNvGrpSpPr/>
          <p:nvPr/>
        </p:nvGrpSpPr>
        <p:grpSpPr>
          <a:xfrm>
            <a:off x="15262200" y="-3572280"/>
            <a:ext cx="5150880" cy="5031360"/>
            <a:chOff x="15262200" y="-3572280"/>
            <a:chExt cx="5150880" cy="5031360"/>
          </a:xfrm>
        </p:grpSpPr>
        <p:sp>
          <p:nvSpPr>
            <p:cNvPr id="421"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22"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23" name="Group 14"/>
          <p:cNvGrpSpPr/>
          <p:nvPr/>
        </p:nvGrpSpPr>
        <p:grpSpPr>
          <a:xfrm>
            <a:off x="13810680" y="8219880"/>
            <a:ext cx="4098960" cy="4003920"/>
            <a:chOff x="13810680" y="8219880"/>
            <a:chExt cx="4098960" cy="4003920"/>
          </a:xfrm>
        </p:grpSpPr>
        <p:sp>
          <p:nvSpPr>
            <p:cNvPr id="424"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25"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26" name="Group 17"/>
          <p:cNvGrpSpPr/>
          <p:nvPr/>
        </p:nvGrpSpPr>
        <p:grpSpPr>
          <a:xfrm>
            <a:off x="908640" y="-1966680"/>
            <a:ext cx="4117680" cy="4021920"/>
            <a:chOff x="908640" y="-1966680"/>
            <a:chExt cx="4117680" cy="4021920"/>
          </a:xfrm>
        </p:grpSpPr>
        <p:sp>
          <p:nvSpPr>
            <p:cNvPr id="427"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28"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29" name="TextBox 20"/>
          <p:cNvSpPr/>
          <p:nvPr/>
        </p:nvSpPr>
        <p:spPr>
          <a:xfrm>
            <a:off x="1695960" y="2551320"/>
            <a:ext cx="14921640" cy="3009240"/>
          </a:xfrm>
          <a:prstGeom prst="rect">
            <a:avLst/>
          </a:prstGeom>
          <a:noFill/>
          <a:ln w="0">
            <a:noFill/>
          </a:ln>
        </p:spPr>
        <p:style>
          <a:lnRef idx="0"/>
          <a:fillRef idx="0"/>
          <a:effectRef idx="0"/>
          <a:fontRef idx="minor"/>
        </p:style>
        <p:txBody>
          <a:bodyPr lIns="0" rIns="0" tIns="0" bIns="0" anchor="t">
            <a:spAutoFit/>
          </a:bodyPr>
          <a:p>
            <a:pPr algn="ctr" defTabSz="914400">
              <a:lnSpc>
                <a:spcPts val="11849"/>
              </a:lnSpc>
            </a:pPr>
            <a:r>
              <a:rPr b="0" lang="en-US" sz="13939" spc="-1" strike="noStrike">
                <a:solidFill>
                  <a:srgbClr val="545454"/>
                </a:solidFill>
                <a:latin typeface="Bold Ink"/>
                <a:ea typeface="Bold Ink"/>
              </a:rPr>
              <a:t>REQUIREMENT ANALYSIS</a:t>
            </a:r>
            <a:endParaRPr b="0" lang="en-PH" sz="1393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30" name="Group 2"/>
          <p:cNvGrpSpPr/>
          <p:nvPr/>
        </p:nvGrpSpPr>
        <p:grpSpPr>
          <a:xfrm>
            <a:off x="-5321520" y="5285880"/>
            <a:ext cx="8988840" cy="8780760"/>
            <a:chOff x="-5321520" y="5285880"/>
            <a:chExt cx="8988840" cy="8780760"/>
          </a:xfrm>
        </p:grpSpPr>
        <p:sp>
          <p:nvSpPr>
            <p:cNvPr id="43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3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33" name="Group 5"/>
          <p:cNvGrpSpPr/>
          <p:nvPr/>
        </p:nvGrpSpPr>
        <p:grpSpPr>
          <a:xfrm>
            <a:off x="-1367280" y="9054360"/>
            <a:ext cx="4441320" cy="4338360"/>
            <a:chOff x="-1367280" y="9054360"/>
            <a:chExt cx="4441320" cy="4338360"/>
          </a:xfrm>
        </p:grpSpPr>
        <p:sp>
          <p:nvSpPr>
            <p:cNvPr id="43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3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36" name="Group 8"/>
          <p:cNvGrpSpPr/>
          <p:nvPr/>
        </p:nvGrpSpPr>
        <p:grpSpPr>
          <a:xfrm>
            <a:off x="15163920" y="-4197240"/>
            <a:ext cx="9577080" cy="9354960"/>
            <a:chOff x="15163920" y="-4197240"/>
            <a:chExt cx="9577080" cy="9354960"/>
          </a:xfrm>
        </p:grpSpPr>
        <p:sp>
          <p:nvSpPr>
            <p:cNvPr id="43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3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39" name="Group 11"/>
          <p:cNvGrpSpPr/>
          <p:nvPr/>
        </p:nvGrpSpPr>
        <p:grpSpPr>
          <a:xfrm>
            <a:off x="16032240" y="-3598920"/>
            <a:ext cx="4732200" cy="4622400"/>
            <a:chOff x="16032240" y="-3598920"/>
            <a:chExt cx="4732200" cy="4622400"/>
          </a:xfrm>
        </p:grpSpPr>
        <p:sp>
          <p:nvSpPr>
            <p:cNvPr id="44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4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42" name="Group 14"/>
          <p:cNvGrpSpPr/>
          <p:nvPr/>
        </p:nvGrpSpPr>
        <p:grpSpPr>
          <a:xfrm>
            <a:off x="12844800" y="8637480"/>
            <a:ext cx="4098960" cy="4003920"/>
            <a:chOff x="12844800" y="8637480"/>
            <a:chExt cx="4098960" cy="4003920"/>
          </a:xfrm>
        </p:grpSpPr>
        <p:sp>
          <p:nvSpPr>
            <p:cNvPr id="44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4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45" name="Group 17"/>
          <p:cNvGrpSpPr/>
          <p:nvPr/>
        </p:nvGrpSpPr>
        <p:grpSpPr>
          <a:xfrm>
            <a:off x="1352160" y="-2332080"/>
            <a:ext cx="4118040" cy="4021920"/>
            <a:chOff x="1352160" y="-2332080"/>
            <a:chExt cx="4118040" cy="4021920"/>
          </a:xfrm>
        </p:grpSpPr>
        <p:sp>
          <p:nvSpPr>
            <p:cNvPr id="44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4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48"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ANALYSIS OBJECTIVES</a:t>
            </a:r>
            <a:endParaRPr b="0" lang="en-PH" sz="8650" spc="-1" strike="noStrike">
              <a:solidFill>
                <a:srgbClr val="000000"/>
              </a:solidFill>
              <a:latin typeface="Arial"/>
            </a:endParaRPr>
          </a:p>
        </p:txBody>
      </p:sp>
      <p:sp>
        <p:nvSpPr>
          <p:cNvPr id="449" name="TextBox 21"/>
          <p:cNvSpPr/>
          <p:nvPr/>
        </p:nvSpPr>
        <p:spPr>
          <a:xfrm>
            <a:off x="2849400" y="2463480"/>
            <a:ext cx="13642560" cy="495396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Identify customer’s needs.</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Evaluate system for feasibility.</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Perform economic and technical analysis.</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Allocate functions to system elements.</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Establish schedule and constraints.</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a:t>
            </a:r>
            <a:r>
              <a:rPr b="1" lang="en-US" sz="3980" spc="-1" strike="noStrike">
                <a:solidFill>
                  <a:srgbClr val="61654d"/>
                </a:solidFill>
                <a:latin typeface="Akzidenz-Grotesk Bold"/>
                <a:ea typeface="Akzidenz-Grotesk Bold"/>
              </a:rPr>
              <a:t>Create system definitions.</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50" name="Group 2"/>
          <p:cNvGrpSpPr/>
          <p:nvPr/>
        </p:nvGrpSpPr>
        <p:grpSpPr>
          <a:xfrm>
            <a:off x="-5362560" y="4536720"/>
            <a:ext cx="10423800" cy="10182600"/>
            <a:chOff x="-5362560" y="4536720"/>
            <a:chExt cx="10423800" cy="10182600"/>
          </a:xfrm>
        </p:grpSpPr>
        <p:sp>
          <p:nvSpPr>
            <p:cNvPr id="451" name="Freeform 3"/>
            <p:cNvSpPr/>
            <p:nvPr/>
          </p:nvSpPr>
          <p:spPr>
            <a:xfrm rot="19037400">
              <a:off x="-4714200" y="74336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52" name="TextBox 4"/>
            <p:cNvSpPr/>
            <p:nvPr/>
          </p:nvSpPr>
          <p:spPr>
            <a:xfrm rot="19037400">
              <a:off x="-4864320" y="705024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53" name="Group 5"/>
          <p:cNvGrpSpPr/>
          <p:nvPr/>
        </p:nvGrpSpPr>
        <p:grpSpPr>
          <a:xfrm>
            <a:off x="-776160" y="8906400"/>
            <a:ext cx="5150520" cy="5031360"/>
            <a:chOff x="-776160" y="8906400"/>
            <a:chExt cx="5150520" cy="5031360"/>
          </a:xfrm>
        </p:grpSpPr>
        <p:sp>
          <p:nvSpPr>
            <p:cNvPr id="454"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55"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56" name="Group 8"/>
          <p:cNvGrpSpPr/>
          <p:nvPr/>
        </p:nvGrpSpPr>
        <p:grpSpPr>
          <a:xfrm>
            <a:off x="14316840" y="-4223880"/>
            <a:ext cx="10423800" cy="10182600"/>
            <a:chOff x="14316840" y="-4223880"/>
            <a:chExt cx="10423800" cy="10182600"/>
          </a:xfrm>
        </p:grpSpPr>
        <p:sp>
          <p:nvSpPr>
            <p:cNvPr id="457"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58"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59" name="Group 11"/>
          <p:cNvGrpSpPr/>
          <p:nvPr/>
        </p:nvGrpSpPr>
        <p:grpSpPr>
          <a:xfrm>
            <a:off x="15262200" y="-3572280"/>
            <a:ext cx="5150880" cy="5031360"/>
            <a:chOff x="15262200" y="-3572280"/>
            <a:chExt cx="5150880" cy="5031360"/>
          </a:xfrm>
        </p:grpSpPr>
        <p:sp>
          <p:nvSpPr>
            <p:cNvPr id="460"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61"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62" name="Group 14"/>
          <p:cNvGrpSpPr/>
          <p:nvPr/>
        </p:nvGrpSpPr>
        <p:grpSpPr>
          <a:xfrm>
            <a:off x="13810680" y="8219880"/>
            <a:ext cx="4098960" cy="4003920"/>
            <a:chOff x="13810680" y="8219880"/>
            <a:chExt cx="4098960" cy="4003920"/>
          </a:xfrm>
        </p:grpSpPr>
        <p:sp>
          <p:nvSpPr>
            <p:cNvPr id="463"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64"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65" name="Group 17"/>
          <p:cNvGrpSpPr/>
          <p:nvPr/>
        </p:nvGrpSpPr>
        <p:grpSpPr>
          <a:xfrm>
            <a:off x="908640" y="-1966680"/>
            <a:ext cx="4117680" cy="4021920"/>
            <a:chOff x="908640" y="-1966680"/>
            <a:chExt cx="4117680" cy="4021920"/>
          </a:xfrm>
        </p:grpSpPr>
        <p:sp>
          <p:nvSpPr>
            <p:cNvPr id="466"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67"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68" name="Freeform 20"/>
          <p:cNvSpPr/>
          <p:nvPr/>
        </p:nvSpPr>
        <p:spPr>
          <a:xfrm>
            <a:off x="1873800" y="790560"/>
            <a:ext cx="14458680" cy="8655840"/>
          </a:xfrm>
          <a:custGeom>
            <a:avLst/>
            <a:gdLst>
              <a:gd name="textAreaLeft" fmla="*/ 0 w 14458680"/>
              <a:gd name="textAreaRight" fmla="*/ 14461200 w 14458680"/>
              <a:gd name="textAreaTop" fmla="*/ 0 h 8655840"/>
              <a:gd name="textAreaBottom" fmla="*/ 8658360 h 8655840"/>
            </a:gdLst>
            <a:ahLst/>
            <a:rect l="textAreaLeft" t="textAreaTop" r="textAreaRight" b="textAreaBottom"/>
            <a:pathLst>
              <a:path w="14461307" h="8658478">
                <a:moveTo>
                  <a:pt x="0" y="0"/>
                </a:moveTo>
                <a:lnTo>
                  <a:pt x="14461306" y="0"/>
                </a:lnTo>
                <a:lnTo>
                  <a:pt x="14461306" y="8658478"/>
                </a:lnTo>
                <a:lnTo>
                  <a:pt x="0" y="865847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69" name="Group 2"/>
          <p:cNvGrpSpPr/>
          <p:nvPr/>
        </p:nvGrpSpPr>
        <p:grpSpPr>
          <a:xfrm>
            <a:off x="-5321520" y="5285880"/>
            <a:ext cx="8988840" cy="8780760"/>
            <a:chOff x="-5321520" y="5285880"/>
            <a:chExt cx="8988840" cy="8780760"/>
          </a:xfrm>
        </p:grpSpPr>
        <p:sp>
          <p:nvSpPr>
            <p:cNvPr id="470"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71"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72" name="Group 5"/>
          <p:cNvGrpSpPr/>
          <p:nvPr/>
        </p:nvGrpSpPr>
        <p:grpSpPr>
          <a:xfrm>
            <a:off x="-1367280" y="9054360"/>
            <a:ext cx="4441320" cy="4338360"/>
            <a:chOff x="-1367280" y="9054360"/>
            <a:chExt cx="4441320" cy="4338360"/>
          </a:xfrm>
        </p:grpSpPr>
        <p:sp>
          <p:nvSpPr>
            <p:cNvPr id="473"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74"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75" name="Group 8"/>
          <p:cNvGrpSpPr/>
          <p:nvPr/>
        </p:nvGrpSpPr>
        <p:grpSpPr>
          <a:xfrm>
            <a:off x="15163920" y="-4197240"/>
            <a:ext cx="9577080" cy="9354960"/>
            <a:chOff x="15163920" y="-4197240"/>
            <a:chExt cx="9577080" cy="9354960"/>
          </a:xfrm>
        </p:grpSpPr>
        <p:sp>
          <p:nvSpPr>
            <p:cNvPr id="476"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77"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78" name="Group 11"/>
          <p:cNvGrpSpPr/>
          <p:nvPr/>
        </p:nvGrpSpPr>
        <p:grpSpPr>
          <a:xfrm>
            <a:off x="16032240" y="-3598920"/>
            <a:ext cx="4732200" cy="4622400"/>
            <a:chOff x="16032240" y="-3598920"/>
            <a:chExt cx="4732200" cy="4622400"/>
          </a:xfrm>
        </p:grpSpPr>
        <p:sp>
          <p:nvSpPr>
            <p:cNvPr id="479"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80"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81" name="Group 14"/>
          <p:cNvGrpSpPr/>
          <p:nvPr/>
        </p:nvGrpSpPr>
        <p:grpSpPr>
          <a:xfrm>
            <a:off x="12844800" y="8637480"/>
            <a:ext cx="4098960" cy="4003920"/>
            <a:chOff x="12844800" y="8637480"/>
            <a:chExt cx="4098960" cy="4003920"/>
          </a:xfrm>
        </p:grpSpPr>
        <p:sp>
          <p:nvSpPr>
            <p:cNvPr id="482"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83"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84" name="Group 17"/>
          <p:cNvGrpSpPr/>
          <p:nvPr/>
        </p:nvGrpSpPr>
        <p:grpSpPr>
          <a:xfrm>
            <a:off x="1352160" y="-2332080"/>
            <a:ext cx="4118040" cy="4021920"/>
            <a:chOff x="1352160" y="-2332080"/>
            <a:chExt cx="4118040" cy="4021920"/>
          </a:xfrm>
        </p:grpSpPr>
        <p:sp>
          <p:nvSpPr>
            <p:cNvPr id="485"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86"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487" name="TextBox 20"/>
          <p:cNvSpPr/>
          <p:nvPr/>
        </p:nvSpPr>
        <p:spPr>
          <a:xfrm>
            <a:off x="314640" y="904680"/>
            <a:ext cx="15852240" cy="186732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STEPS IN REQUIREMENT ANALYSIS</a:t>
            </a:r>
            <a:endParaRPr b="0" lang="en-PH" sz="8650" spc="-1" strike="noStrike">
              <a:solidFill>
                <a:srgbClr val="000000"/>
              </a:solidFill>
              <a:latin typeface="Arial"/>
            </a:endParaRPr>
          </a:p>
        </p:txBody>
      </p:sp>
      <p:sp>
        <p:nvSpPr>
          <p:cNvPr id="488" name="TextBox 21"/>
          <p:cNvSpPr/>
          <p:nvPr/>
        </p:nvSpPr>
        <p:spPr>
          <a:xfrm>
            <a:off x="2914560" y="2834640"/>
            <a:ext cx="13642560" cy="353844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Draw the context diagram: </a:t>
            </a:r>
            <a:r>
              <a:rPr b="0" lang="en-US" sz="3980" spc="-1" strike="noStrike">
                <a:solidFill>
                  <a:srgbClr val="61654d"/>
                </a:solidFill>
                <a:latin typeface="Akzidenz-Grotesk"/>
                <a:ea typeface="Akzidenz-Grotesk"/>
              </a:rPr>
              <a:t>The context diagram is a simple model that defines the boundaries and interfaces of the proposed systems with the external world. It identifies the entities outside the proposed system that interact with the system.</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89" name="Group 2"/>
          <p:cNvGrpSpPr/>
          <p:nvPr/>
        </p:nvGrpSpPr>
        <p:grpSpPr>
          <a:xfrm>
            <a:off x="-5362560" y="4536720"/>
            <a:ext cx="10423800" cy="10182600"/>
            <a:chOff x="-5362560" y="4536720"/>
            <a:chExt cx="10423800" cy="10182600"/>
          </a:xfrm>
        </p:grpSpPr>
        <p:sp>
          <p:nvSpPr>
            <p:cNvPr id="490" name="Freeform 3"/>
            <p:cNvSpPr/>
            <p:nvPr/>
          </p:nvSpPr>
          <p:spPr>
            <a:xfrm rot="19037400">
              <a:off x="-4714200" y="74336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91" name="TextBox 4"/>
            <p:cNvSpPr/>
            <p:nvPr/>
          </p:nvSpPr>
          <p:spPr>
            <a:xfrm rot="19037400">
              <a:off x="-4864320" y="705024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92" name="Group 5"/>
          <p:cNvGrpSpPr/>
          <p:nvPr/>
        </p:nvGrpSpPr>
        <p:grpSpPr>
          <a:xfrm>
            <a:off x="-776160" y="8906400"/>
            <a:ext cx="5150520" cy="5031360"/>
            <a:chOff x="-776160" y="8906400"/>
            <a:chExt cx="5150520" cy="5031360"/>
          </a:xfrm>
        </p:grpSpPr>
        <p:sp>
          <p:nvSpPr>
            <p:cNvPr id="493"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94"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95" name="Group 8"/>
          <p:cNvGrpSpPr/>
          <p:nvPr/>
        </p:nvGrpSpPr>
        <p:grpSpPr>
          <a:xfrm>
            <a:off x="14316840" y="-4223880"/>
            <a:ext cx="10423800" cy="10182600"/>
            <a:chOff x="14316840" y="-4223880"/>
            <a:chExt cx="10423800" cy="10182600"/>
          </a:xfrm>
        </p:grpSpPr>
        <p:sp>
          <p:nvSpPr>
            <p:cNvPr id="496"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497"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498" name="Group 11"/>
          <p:cNvGrpSpPr/>
          <p:nvPr/>
        </p:nvGrpSpPr>
        <p:grpSpPr>
          <a:xfrm>
            <a:off x="15262200" y="-3572280"/>
            <a:ext cx="5150880" cy="5031360"/>
            <a:chOff x="15262200" y="-3572280"/>
            <a:chExt cx="5150880" cy="5031360"/>
          </a:xfrm>
        </p:grpSpPr>
        <p:sp>
          <p:nvSpPr>
            <p:cNvPr id="499"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00"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01" name="Group 14"/>
          <p:cNvGrpSpPr/>
          <p:nvPr/>
        </p:nvGrpSpPr>
        <p:grpSpPr>
          <a:xfrm>
            <a:off x="13810680" y="8219880"/>
            <a:ext cx="4098960" cy="4003920"/>
            <a:chOff x="13810680" y="8219880"/>
            <a:chExt cx="4098960" cy="4003920"/>
          </a:xfrm>
        </p:grpSpPr>
        <p:sp>
          <p:nvSpPr>
            <p:cNvPr id="502"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03"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04" name="Group 17"/>
          <p:cNvGrpSpPr/>
          <p:nvPr/>
        </p:nvGrpSpPr>
        <p:grpSpPr>
          <a:xfrm>
            <a:off x="908640" y="-1966680"/>
            <a:ext cx="4117680" cy="4021920"/>
            <a:chOff x="908640" y="-1966680"/>
            <a:chExt cx="4117680" cy="4021920"/>
          </a:xfrm>
        </p:grpSpPr>
        <p:sp>
          <p:nvSpPr>
            <p:cNvPr id="505"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06"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507" name="Freeform 20"/>
          <p:cNvSpPr/>
          <p:nvPr/>
        </p:nvSpPr>
        <p:spPr>
          <a:xfrm>
            <a:off x="1414800" y="740880"/>
            <a:ext cx="14950440" cy="8515080"/>
          </a:xfrm>
          <a:custGeom>
            <a:avLst/>
            <a:gdLst>
              <a:gd name="textAreaLeft" fmla="*/ 0 w 14950440"/>
              <a:gd name="textAreaRight" fmla="*/ 14952960 w 14950440"/>
              <a:gd name="textAreaTop" fmla="*/ 0 h 8515080"/>
              <a:gd name="textAreaBottom" fmla="*/ 8517600 h 8515080"/>
            </a:gdLst>
            <a:ahLst/>
            <a:rect l="textAreaLeft" t="textAreaTop" r="textAreaRight" b="textAreaBottom"/>
            <a:pathLst>
              <a:path w="14953074" h="8517574">
                <a:moveTo>
                  <a:pt x="0" y="0"/>
                </a:moveTo>
                <a:lnTo>
                  <a:pt x="14953074" y="0"/>
                </a:lnTo>
                <a:lnTo>
                  <a:pt x="14953074" y="8517574"/>
                </a:lnTo>
                <a:lnTo>
                  <a:pt x="0" y="851757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08" name="Group 2"/>
          <p:cNvGrpSpPr/>
          <p:nvPr/>
        </p:nvGrpSpPr>
        <p:grpSpPr>
          <a:xfrm>
            <a:off x="-5321520" y="5285880"/>
            <a:ext cx="8988840" cy="8780760"/>
            <a:chOff x="-5321520" y="5285880"/>
            <a:chExt cx="8988840" cy="8780760"/>
          </a:xfrm>
        </p:grpSpPr>
        <p:sp>
          <p:nvSpPr>
            <p:cNvPr id="50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1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11" name="Group 5"/>
          <p:cNvGrpSpPr/>
          <p:nvPr/>
        </p:nvGrpSpPr>
        <p:grpSpPr>
          <a:xfrm>
            <a:off x="-1367280" y="9054360"/>
            <a:ext cx="4441320" cy="4338360"/>
            <a:chOff x="-1367280" y="9054360"/>
            <a:chExt cx="4441320" cy="4338360"/>
          </a:xfrm>
        </p:grpSpPr>
        <p:sp>
          <p:nvSpPr>
            <p:cNvPr id="51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1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14" name="Group 8"/>
          <p:cNvGrpSpPr/>
          <p:nvPr/>
        </p:nvGrpSpPr>
        <p:grpSpPr>
          <a:xfrm>
            <a:off x="15163920" y="-4197240"/>
            <a:ext cx="9577080" cy="9354960"/>
            <a:chOff x="15163920" y="-4197240"/>
            <a:chExt cx="9577080" cy="9354960"/>
          </a:xfrm>
        </p:grpSpPr>
        <p:sp>
          <p:nvSpPr>
            <p:cNvPr id="51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1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17" name="Group 11"/>
          <p:cNvGrpSpPr/>
          <p:nvPr/>
        </p:nvGrpSpPr>
        <p:grpSpPr>
          <a:xfrm>
            <a:off x="16032240" y="-3598920"/>
            <a:ext cx="4732200" cy="4622400"/>
            <a:chOff x="16032240" y="-3598920"/>
            <a:chExt cx="4732200" cy="4622400"/>
          </a:xfrm>
        </p:grpSpPr>
        <p:sp>
          <p:nvSpPr>
            <p:cNvPr id="51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1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20" name="Group 14"/>
          <p:cNvGrpSpPr/>
          <p:nvPr/>
        </p:nvGrpSpPr>
        <p:grpSpPr>
          <a:xfrm>
            <a:off x="12844800" y="8637480"/>
            <a:ext cx="4098960" cy="4003920"/>
            <a:chOff x="12844800" y="8637480"/>
            <a:chExt cx="4098960" cy="4003920"/>
          </a:xfrm>
        </p:grpSpPr>
        <p:sp>
          <p:nvSpPr>
            <p:cNvPr id="52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2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23" name="Group 17"/>
          <p:cNvGrpSpPr/>
          <p:nvPr/>
        </p:nvGrpSpPr>
        <p:grpSpPr>
          <a:xfrm>
            <a:off x="1352160" y="-2332080"/>
            <a:ext cx="4118040" cy="4021920"/>
            <a:chOff x="1352160" y="-2332080"/>
            <a:chExt cx="4118040" cy="4021920"/>
          </a:xfrm>
        </p:grpSpPr>
        <p:sp>
          <p:nvSpPr>
            <p:cNvPr id="52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2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526" name="TextBox 20"/>
          <p:cNvSpPr/>
          <p:nvPr/>
        </p:nvSpPr>
        <p:spPr>
          <a:xfrm>
            <a:off x="314640" y="904680"/>
            <a:ext cx="15852240" cy="186732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STEPS IN REQUIREMENT ANALYSIS</a:t>
            </a:r>
            <a:endParaRPr b="0" lang="en-PH" sz="8650" spc="-1" strike="noStrike">
              <a:solidFill>
                <a:srgbClr val="000000"/>
              </a:solidFill>
              <a:latin typeface="Arial"/>
            </a:endParaRPr>
          </a:p>
        </p:txBody>
      </p:sp>
      <p:sp>
        <p:nvSpPr>
          <p:cNvPr id="527" name="TextBox 21"/>
          <p:cNvSpPr/>
          <p:nvPr/>
        </p:nvSpPr>
        <p:spPr>
          <a:xfrm>
            <a:off x="2914560" y="2977200"/>
            <a:ext cx="13642560" cy="28306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Development of a Prototype: </a:t>
            </a:r>
            <a:r>
              <a:rPr b="0" lang="en-US" sz="3980" spc="-1" strike="noStrike">
                <a:solidFill>
                  <a:srgbClr val="61654d"/>
                </a:solidFill>
                <a:latin typeface="Akzidenz-Grotesk"/>
                <a:ea typeface="Akzidenz-Grotesk"/>
              </a:rPr>
              <a:t>One effective way to find out what the customer wants is to construct a prototype, something that looks and preferably acts as part of the system they say they want.</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28" name="Group 2"/>
          <p:cNvGrpSpPr/>
          <p:nvPr/>
        </p:nvGrpSpPr>
        <p:grpSpPr>
          <a:xfrm>
            <a:off x="-5321520" y="5285880"/>
            <a:ext cx="8988840" cy="8780760"/>
            <a:chOff x="-5321520" y="5285880"/>
            <a:chExt cx="8988840" cy="8780760"/>
          </a:xfrm>
        </p:grpSpPr>
        <p:sp>
          <p:nvSpPr>
            <p:cNvPr id="52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3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31" name="Group 5"/>
          <p:cNvGrpSpPr/>
          <p:nvPr/>
        </p:nvGrpSpPr>
        <p:grpSpPr>
          <a:xfrm>
            <a:off x="-1367280" y="9054360"/>
            <a:ext cx="4441320" cy="4338360"/>
            <a:chOff x="-1367280" y="9054360"/>
            <a:chExt cx="4441320" cy="4338360"/>
          </a:xfrm>
        </p:grpSpPr>
        <p:sp>
          <p:nvSpPr>
            <p:cNvPr id="53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3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34" name="Group 8"/>
          <p:cNvGrpSpPr/>
          <p:nvPr/>
        </p:nvGrpSpPr>
        <p:grpSpPr>
          <a:xfrm>
            <a:off x="15163920" y="-4197240"/>
            <a:ext cx="9577080" cy="9354960"/>
            <a:chOff x="15163920" y="-4197240"/>
            <a:chExt cx="9577080" cy="9354960"/>
          </a:xfrm>
        </p:grpSpPr>
        <p:sp>
          <p:nvSpPr>
            <p:cNvPr id="53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3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37" name="Group 11"/>
          <p:cNvGrpSpPr/>
          <p:nvPr/>
        </p:nvGrpSpPr>
        <p:grpSpPr>
          <a:xfrm>
            <a:off x="16032240" y="-3598920"/>
            <a:ext cx="4732200" cy="4622400"/>
            <a:chOff x="16032240" y="-3598920"/>
            <a:chExt cx="4732200" cy="4622400"/>
          </a:xfrm>
        </p:grpSpPr>
        <p:sp>
          <p:nvSpPr>
            <p:cNvPr id="53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3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40" name="Group 14"/>
          <p:cNvGrpSpPr/>
          <p:nvPr/>
        </p:nvGrpSpPr>
        <p:grpSpPr>
          <a:xfrm>
            <a:off x="12844800" y="8637480"/>
            <a:ext cx="4098960" cy="4003920"/>
            <a:chOff x="12844800" y="8637480"/>
            <a:chExt cx="4098960" cy="4003920"/>
          </a:xfrm>
        </p:grpSpPr>
        <p:sp>
          <p:nvSpPr>
            <p:cNvPr id="54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4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43" name="Group 17"/>
          <p:cNvGrpSpPr/>
          <p:nvPr/>
        </p:nvGrpSpPr>
        <p:grpSpPr>
          <a:xfrm>
            <a:off x="1352160" y="-2332080"/>
            <a:ext cx="4118040" cy="4021920"/>
            <a:chOff x="1352160" y="-2332080"/>
            <a:chExt cx="4118040" cy="4021920"/>
          </a:xfrm>
        </p:grpSpPr>
        <p:sp>
          <p:nvSpPr>
            <p:cNvPr id="54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4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546"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TYPES OF PROTOTYPING</a:t>
            </a:r>
            <a:endParaRPr b="0" lang="en-PH" sz="8650" spc="-1" strike="noStrike">
              <a:solidFill>
                <a:srgbClr val="000000"/>
              </a:solidFill>
              <a:latin typeface="Arial"/>
            </a:endParaRPr>
          </a:p>
        </p:txBody>
      </p:sp>
      <p:sp>
        <p:nvSpPr>
          <p:cNvPr id="547" name="TextBox 21"/>
          <p:cNvSpPr/>
          <p:nvPr/>
        </p:nvSpPr>
        <p:spPr>
          <a:xfrm>
            <a:off x="2914560" y="2977200"/>
            <a:ext cx="13642560" cy="495396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Throwaway Prototyping</a:t>
            </a:r>
            <a:endParaRPr b="0" lang="en-PH" sz="3980" spc="-1" strike="noStrike">
              <a:solidFill>
                <a:srgbClr val="000000"/>
              </a:solidFill>
              <a:latin typeface="Arial"/>
            </a:endParaRPr>
          </a:p>
          <a:p>
            <a:pPr lvl="1" marL="859680" indent="-429840" algn="just" defTabSz="914400">
              <a:lnSpc>
                <a:spcPts val="5573"/>
              </a:lnSpc>
              <a:buClr>
                <a:srgbClr val="61654d"/>
              </a:buClr>
              <a:buFont typeface="Arial"/>
              <a:buChar char="•"/>
            </a:pPr>
            <a:r>
              <a:rPr b="0" lang="en-US" sz="3980" spc="-1" strike="noStrike">
                <a:solidFill>
                  <a:srgbClr val="61654d"/>
                </a:solidFill>
                <a:latin typeface="Akzidenz-Grotesk"/>
                <a:ea typeface="Akzidenz-Grotesk"/>
              </a:rPr>
              <a:t>prototype only used as a demonstration of product requirements</a:t>
            </a:r>
            <a:endParaRPr b="0" lang="en-PH" sz="3980" spc="-1" strike="noStrike">
              <a:solidFill>
                <a:srgbClr val="000000"/>
              </a:solidFill>
              <a:latin typeface="Arial"/>
            </a:endParaRPr>
          </a:p>
          <a:p>
            <a:pPr lvl="1" marL="859680" indent="-429840" algn="just" defTabSz="914400">
              <a:lnSpc>
                <a:spcPts val="5573"/>
              </a:lnSpc>
              <a:buClr>
                <a:srgbClr val="61654d"/>
              </a:buClr>
              <a:buFont typeface="Arial"/>
              <a:buChar char="•"/>
            </a:pPr>
            <a:r>
              <a:rPr b="0" lang="en-US" sz="3980" spc="-1" strike="noStrike">
                <a:solidFill>
                  <a:srgbClr val="61654d"/>
                </a:solidFill>
                <a:latin typeface="Akzidenz-Grotesk"/>
                <a:ea typeface="Akzidenz-Grotesk"/>
              </a:rPr>
              <a:t>finished software is engineered using another paradigm</a:t>
            </a:r>
            <a:endParaRPr b="0" lang="en-PH" sz="398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Evolutionary Rapid Prototyping</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48" name="Group 2"/>
          <p:cNvGrpSpPr/>
          <p:nvPr/>
        </p:nvGrpSpPr>
        <p:grpSpPr>
          <a:xfrm>
            <a:off x="-5321520" y="5285880"/>
            <a:ext cx="8988840" cy="8780760"/>
            <a:chOff x="-5321520" y="5285880"/>
            <a:chExt cx="8988840" cy="8780760"/>
          </a:xfrm>
        </p:grpSpPr>
        <p:sp>
          <p:nvSpPr>
            <p:cNvPr id="54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5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51" name="Group 5"/>
          <p:cNvGrpSpPr/>
          <p:nvPr/>
        </p:nvGrpSpPr>
        <p:grpSpPr>
          <a:xfrm>
            <a:off x="-1367280" y="9054360"/>
            <a:ext cx="4441320" cy="4338360"/>
            <a:chOff x="-1367280" y="9054360"/>
            <a:chExt cx="4441320" cy="4338360"/>
          </a:xfrm>
        </p:grpSpPr>
        <p:sp>
          <p:nvSpPr>
            <p:cNvPr id="55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5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54" name="Group 8"/>
          <p:cNvGrpSpPr/>
          <p:nvPr/>
        </p:nvGrpSpPr>
        <p:grpSpPr>
          <a:xfrm>
            <a:off x="15163920" y="-4197240"/>
            <a:ext cx="9577080" cy="9354960"/>
            <a:chOff x="15163920" y="-4197240"/>
            <a:chExt cx="9577080" cy="9354960"/>
          </a:xfrm>
        </p:grpSpPr>
        <p:sp>
          <p:nvSpPr>
            <p:cNvPr id="55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5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57" name="Group 11"/>
          <p:cNvGrpSpPr/>
          <p:nvPr/>
        </p:nvGrpSpPr>
        <p:grpSpPr>
          <a:xfrm>
            <a:off x="16032240" y="-3598920"/>
            <a:ext cx="4732200" cy="4622400"/>
            <a:chOff x="16032240" y="-3598920"/>
            <a:chExt cx="4732200" cy="4622400"/>
          </a:xfrm>
        </p:grpSpPr>
        <p:sp>
          <p:nvSpPr>
            <p:cNvPr id="55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5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60" name="Group 14"/>
          <p:cNvGrpSpPr/>
          <p:nvPr/>
        </p:nvGrpSpPr>
        <p:grpSpPr>
          <a:xfrm>
            <a:off x="12844800" y="8637480"/>
            <a:ext cx="4098960" cy="4003920"/>
            <a:chOff x="12844800" y="8637480"/>
            <a:chExt cx="4098960" cy="4003920"/>
          </a:xfrm>
        </p:grpSpPr>
        <p:sp>
          <p:nvSpPr>
            <p:cNvPr id="56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6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63" name="Group 17"/>
          <p:cNvGrpSpPr/>
          <p:nvPr/>
        </p:nvGrpSpPr>
        <p:grpSpPr>
          <a:xfrm>
            <a:off x="1352160" y="-2332080"/>
            <a:ext cx="4118040" cy="4021920"/>
            <a:chOff x="1352160" y="-2332080"/>
            <a:chExt cx="4118040" cy="4021920"/>
          </a:xfrm>
        </p:grpSpPr>
        <p:sp>
          <p:nvSpPr>
            <p:cNvPr id="56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6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566" name="TextBox 20"/>
          <p:cNvSpPr/>
          <p:nvPr/>
        </p:nvSpPr>
        <p:spPr>
          <a:xfrm>
            <a:off x="314640" y="904680"/>
            <a:ext cx="15852240" cy="186732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STEPS IN REQUIREMENT ANALYSIS</a:t>
            </a:r>
            <a:endParaRPr b="0" lang="en-PH" sz="8650" spc="-1" strike="noStrike">
              <a:solidFill>
                <a:srgbClr val="000000"/>
              </a:solidFill>
              <a:latin typeface="Arial"/>
            </a:endParaRPr>
          </a:p>
        </p:txBody>
      </p:sp>
      <p:sp>
        <p:nvSpPr>
          <p:cNvPr id="567" name="TextBox 21"/>
          <p:cNvSpPr/>
          <p:nvPr/>
        </p:nvSpPr>
        <p:spPr>
          <a:xfrm>
            <a:off x="2914560" y="2977200"/>
            <a:ext cx="13642560" cy="566172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Model the requirements: </a:t>
            </a:r>
            <a:r>
              <a:rPr b="0" lang="en-US" sz="3980" spc="-1" strike="noStrike">
                <a:solidFill>
                  <a:srgbClr val="61654d"/>
                </a:solidFill>
                <a:latin typeface="Akzidenz-Grotesk"/>
                <a:ea typeface="Akzidenz-Grotesk"/>
              </a:rPr>
              <a:t>This process usually consists of various graphical representations of the functions, data entities, external entities, and the relationships between them. The graphical view may help to find incorrect, inconsistent, missing, and superfluous requirements. Such models include the Data Flow diagram, Entity-Relationship diagram, Data Dictionaries, State-transition diagrams, etc.</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68" name="Group 2"/>
          <p:cNvGrpSpPr/>
          <p:nvPr/>
        </p:nvGrpSpPr>
        <p:grpSpPr>
          <a:xfrm>
            <a:off x="-5321520" y="5285880"/>
            <a:ext cx="8988840" cy="8780760"/>
            <a:chOff x="-5321520" y="5285880"/>
            <a:chExt cx="8988840" cy="8780760"/>
          </a:xfrm>
        </p:grpSpPr>
        <p:sp>
          <p:nvSpPr>
            <p:cNvPr id="56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7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71" name="Group 5"/>
          <p:cNvGrpSpPr/>
          <p:nvPr/>
        </p:nvGrpSpPr>
        <p:grpSpPr>
          <a:xfrm>
            <a:off x="-1367280" y="9054360"/>
            <a:ext cx="4441320" cy="4338360"/>
            <a:chOff x="-1367280" y="9054360"/>
            <a:chExt cx="4441320" cy="4338360"/>
          </a:xfrm>
        </p:grpSpPr>
        <p:sp>
          <p:nvSpPr>
            <p:cNvPr id="57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7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74" name="Group 8"/>
          <p:cNvGrpSpPr/>
          <p:nvPr/>
        </p:nvGrpSpPr>
        <p:grpSpPr>
          <a:xfrm>
            <a:off x="15163920" y="-4197240"/>
            <a:ext cx="9577080" cy="9354960"/>
            <a:chOff x="15163920" y="-4197240"/>
            <a:chExt cx="9577080" cy="9354960"/>
          </a:xfrm>
        </p:grpSpPr>
        <p:sp>
          <p:nvSpPr>
            <p:cNvPr id="57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7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77" name="Group 11"/>
          <p:cNvGrpSpPr/>
          <p:nvPr/>
        </p:nvGrpSpPr>
        <p:grpSpPr>
          <a:xfrm>
            <a:off x="16032240" y="-3598920"/>
            <a:ext cx="4732200" cy="4622400"/>
            <a:chOff x="16032240" y="-3598920"/>
            <a:chExt cx="4732200" cy="4622400"/>
          </a:xfrm>
        </p:grpSpPr>
        <p:sp>
          <p:nvSpPr>
            <p:cNvPr id="57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7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80" name="Group 14"/>
          <p:cNvGrpSpPr/>
          <p:nvPr/>
        </p:nvGrpSpPr>
        <p:grpSpPr>
          <a:xfrm>
            <a:off x="12844800" y="8637480"/>
            <a:ext cx="4098960" cy="4003920"/>
            <a:chOff x="12844800" y="8637480"/>
            <a:chExt cx="4098960" cy="4003920"/>
          </a:xfrm>
        </p:grpSpPr>
        <p:sp>
          <p:nvSpPr>
            <p:cNvPr id="58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8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83" name="Group 17"/>
          <p:cNvGrpSpPr/>
          <p:nvPr/>
        </p:nvGrpSpPr>
        <p:grpSpPr>
          <a:xfrm>
            <a:off x="1352160" y="-2332080"/>
            <a:ext cx="4118040" cy="4021920"/>
            <a:chOff x="1352160" y="-2332080"/>
            <a:chExt cx="4118040" cy="4021920"/>
          </a:xfrm>
        </p:grpSpPr>
        <p:sp>
          <p:nvSpPr>
            <p:cNvPr id="58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8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586" name="TextBox 20"/>
          <p:cNvSpPr/>
          <p:nvPr/>
        </p:nvSpPr>
        <p:spPr>
          <a:xfrm>
            <a:off x="314640" y="904680"/>
            <a:ext cx="15852240" cy="93348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TYPES OF MODEL</a:t>
            </a:r>
            <a:endParaRPr b="0" lang="en-PH" sz="8650" spc="-1" strike="noStrike">
              <a:solidFill>
                <a:srgbClr val="000000"/>
              </a:solidFill>
              <a:latin typeface="Arial"/>
            </a:endParaRPr>
          </a:p>
        </p:txBody>
      </p:sp>
      <p:sp>
        <p:nvSpPr>
          <p:cNvPr id="587" name="TextBox 21"/>
          <p:cNvSpPr/>
          <p:nvPr/>
        </p:nvSpPr>
        <p:spPr>
          <a:xfrm>
            <a:off x="2914560" y="2977200"/>
            <a:ext cx="13642560" cy="63694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a) Data model - </a:t>
            </a:r>
            <a:r>
              <a:rPr b="0" lang="en-US" sz="3980" spc="-1" strike="noStrike">
                <a:solidFill>
                  <a:srgbClr val="61654d"/>
                </a:solidFill>
                <a:latin typeface="Akzidenz-Grotesk"/>
                <a:ea typeface="Akzidenz-Grotesk"/>
              </a:rPr>
              <a:t>shows relationships among system objects</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b) Functional model - </a:t>
            </a:r>
            <a:r>
              <a:rPr b="0" lang="en-US" sz="3980" spc="-1" strike="noStrike">
                <a:solidFill>
                  <a:srgbClr val="61654d"/>
                </a:solidFill>
                <a:latin typeface="Akzidenz-Grotesk"/>
                <a:ea typeface="Akzidenz-Grotesk"/>
              </a:rPr>
              <a:t>description of the functions that enable the transformations of system objects</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a:p>
            <a:pPr algn="just" defTabSz="914400">
              <a:lnSpc>
                <a:spcPts val="5573"/>
              </a:lnSpc>
            </a:pPr>
            <a:r>
              <a:rPr b="1" lang="en-US" sz="3980" spc="-1" strike="noStrike">
                <a:solidFill>
                  <a:srgbClr val="61654d"/>
                </a:solidFill>
                <a:latin typeface="Akzidenz-Grotesk Bold"/>
                <a:ea typeface="Akzidenz-Grotesk Bold"/>
              </a:rPr>
              <a:t>c) Behavioral model - </a:t>
            </a:r>
            <a:r>
              <a:rPr b="0" lang="en-US" sz="3980" spc="-1" strike="noStrike">
                <a:solidFill>
                  <a:srgbClr val="61654d"/>
                </a:solidFill>
                <a:latin typeface="Akzidenz-Grotesk"/>
                <a:ea typeface="Akzidenz-Grotesk"/>
              </a:rPr>
              <a:t>manner in which software responds to events from the outside world</a:t>
            </a:r>
            <a:endParaRPr b="0" lang="en-PH" sz="3980" spc="-1" strike="noStrike">
              <a:solidFill>
                <a:srgbClr val="000000"/>
              </a:solidFill>
              <a:latin typeface="Arial"/>
            </a:endParaRPr>
          </a:p>
          <a:p>
            <a:pPr algn="just" defTabSz="914400">
              <a:lnSpc>
                <a:spcPts val="5573"/>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8" name="Group 2"/>
          <p:cNvGrpSpPr/>
          <p:nvPr/>
        </p:nvGrpSpPr>
        <p:grpSpPr>
          <a:xfrm>
            <a:off x="-5321520" y="5285880"/>
            <a:ext cx="8988840" cy="8780760"/>
            <a:chOff x="-5321520" y="5285880"/>
            <a:chExt cx="8988840" cy="8780760"/>
          </a:xfrm>
        </p:grpSpPr>
        <p:sp>
          <p:nvSpPr>
            <p:cNvPr id="58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9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91" name="Group 5"/>
          <p:cNvGrpSpPr/>
          <p:nvPr/>
        </p:nvGrpSpPr>
        <p:grpSpPr>
          <a:xfrm>
            <a:off x="-1367280" y="9054360"/>
            <a:ext cx="4441320" cy="4338360"/>
            <a:chOff x="-1367280" y="9054360"/>
            <a:chExt cx="4441320" cy="4338360"/>
          </a:xfrm>
        </p:grpSpPr>
        <p:sp>
          <p:nvSpPr>
            <p:cNvPr id="59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9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94" name="Group 8"/>
          <p:cNvGrpSpPr/>
          <p:nvPr/>
        </p:nvGrpSpPr>
        <p:grpSpPr>
          <a:xfrm>
            <a:off x="15163920" y="-4197240"/>
            <a:ext cx="9577080" cy="9354960"/>
            <a:chOff x="15163920" y="-4197240"/>
            <a:chExt cx="9577080" cy="9354960"/>
          </a:xfrm>
        </p:grpSpPr>
        <p:sp>
          <p:nvSpPr>
            <p:cNvPr id="59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9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597" name="Group 11"/>
          <p:cNvGrpSpPr/>
          <p:nvPr/>
        </p:nvGrpSpPr>
        <p:grpSpPr>
          <a:xfrm>
            <a:off x="16032240" y="-3598920"/>
            <a:ext cx="4732200" cy="4622400"/>
            <a:chOff x="16032240" y="-3598920"/>
            <a:chExt cx="4732200" cy="4622400"/>
          </a:xfrm>
        </p:grpSpPr>
        <p:sp>
          <p:nvSpPr>
            <p:cNvPr id="59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59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00" name="Group 14"/>
          <p:cNvGrpSpPr/>
          <p:nvPr/>
        </p:nvGrpSpPr>
        <p:grpSpPr>
          <a:xfrm>
            <a:off x="12844800" y="8637480"/>
            <a:ext cx="4098960" cy="4003920"/>
            <a:chOff x="12844800" y="8637480"/>
            <a:chExt cx="4098960" cy="4003920"/>
          </a:xfrm>
        </p:grpSpPr>
        <p:sp>
          <p:nvSpPr>
            <p:cNvPr id="60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0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03" name="Group 17"/>
          <p:cNvGrpSpPr/>
          <p:nvPr/>
        </p:nvGrpSpPr>
        <p:grpSpPr>
          <a:xfrm>
            <a:off x="1352160" y="-2332080"/>
            <a:ext cx="4118040" cy="4021920"/>
            <a:chOff x="1352160" y="-2332080"/>
            <a:chExt cx="4118040" cy="4021920"/>
          </a:xfrm>
        </p:grpSpPr>
        <p:sp>
          <p:nvSpPr>
            <p:cNvPr id="60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0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06" name="TextBox 20"/>
          <p:cNvSpPr/>
          <p:nvPr/>
        </p:nvSpPr>
        <p:spPr>
          <a:xfrm>
            <a:off x="314640" y="904680"/>
            <a:ext cx="15852240" cy="1867320"/>
          </a:xfrm>
          <a:prstGeom prst="rect">
            <a:avLst/>
          </a:prstGeom>
          <a:noFill/>
          <a:ln w="0">
            <a:noFill/>
          </a:ln>
        </p:spPr>
        <p:style>
          <a:lnRef idx="0"/>
          <a:fillRef idx="0"/>
          <a:effectRef idx="0"/>
          <a:fontRef idx="minor"/>
        </p:style>
        <p:txBody>
          <a:bodyPr lIns="0" rIns="0" tIns="0" bIns="0" anchor="t">
            <a:spAutoFit/>
          </a:bodyPr>
          <a:p>
            <a:pPr algn="ctr" defTabSz="914400">
              <a:lnSpc>
                <a:spcPts val="7353"/>
              </a:lnSpc>
            </a:pPr>
            <a:r>
              <a:rPr b="0" lang="en-US" sz="8650" spc="-1" strike="noStrike">
                <a:solidFill>
                  <a:srgbClr val="545454"/>
                </a:solidFill>
                <a:latin typeface="Bold Ink"/>
                <a:ea typeface="Bold Ink"/>
              </a:rPr>
              <a:t>STEPS IN REQUIREMENT ANALYSIS</a:t>
            </a:r>
            <a:endParaRPr b="0" lang="en-PH" sz="8650" spc="-1" strike="noStrike">
              <a:solidFill>
                <a:srgbClr val="000000"/>
              </a:solidFill>
              <a:latin typeface="Arial"/>
            </a:endParaRPr>
          </a:p>
        </p:txBody>
      </p:sp>
      <p:sp>
        <p:nvSpPr>
          <p:cNvPr id="607" name="TextBox 21"/>
          <p:cNvSpPr/>
          <p:nvPr/>
        </p:nvSpPr>
        <p:spPr>
          <a:xfrm>
            <a:off x="2914560" y="2977200"/>
            <a:ext cx="13642560" cy="6369480"/>
          </a:xfrm>
          <a:prstGeom prst="rect">
            <a:avLst/>
          </a:prstGeom>
          <a:noFill/>
          <a:ln w="0">
            <a:noFill/>
          </a:ln>
        </p:spPr>
        <p:style>
          <a:lnRef idx="0"/>
          <a:fillRef idx="0"/>
          <a:effectRef idx="0"/>
          <a:fontRef idx="minor"/>
        </p:style>
        <p:txBody>
          <a:bodyPr lIns="0" rIns="0" tIns="0" bIns="0" anchor="t">
            <a:spAutoFit/>
          </a:bodyPr>
          <a:p>
            <a:pPr algn="just" defTabSz="914400">
              <a:lnSpc>
                <a:spcPts val="5573"/>
              </a:lnSpc>
            </a:pPr>
            <a:r>
              <a:rPr b="1" lang="en-US" sz="3980" spc="-1" strike="noStrike">
                <a:solidFill>
                  <a:srgbClr val="61654d"/>
                </a:solidFill>
                <a:latin typeface="Akzidenz-Grotesk Bold"/>
                <a:ea typeface="Akzidenz-Grotesk Bold"/>
              </a:rPr>
              <a:t>Finalise the requirements: </a:t>
            </a:r>
            <a:r>
              <a:rPr b="0" lang="en-US" sz="3980" spc="-1" strike="noStrike">
                <a:solidFill>
                  <a:srgbClr val="61654d"/>
                </a:solidFill>
                <a:latin typeface="Akzidenz-Grotesk"/>
                <a:ea typeface="Akzidenz-Grotesk"/>
              </a:rPr>
              <a:t>After modeling the requirements, we will have a better understanding of the system behavior. The inconsistencies and ambiguities have been identified and corrected. The flow of data amongst various modules has been analyzed. Elicitation and analyze activities have provided better insight into the system. Now we finalize the analyzed requirements, and the next step is to document these requirements in a prescribed format.</a:t>
            </a:r>
            <a:endParaRPr b="0" lang="en-PH" sz="3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08" name="Group 2"/>
          <p:cNvGrpSpPr/>
          <p:nvPr/>
        </p:nvGrpSpPr>
        <p:grpSpPr>
          <a:xfrm>
            <a:off x="-5362560" y="4536720"/>
            <a:ext cx="10423800" cy="10182600"/>
            <a:chOff x="-5362560" y="4536720"/>
            <a:chExt cx="10423800" cy="10182600"/>
          </a:xfrm>
        </p:grpSpPr>
        <p:sp>
          <p:nvSpPr>
            <p:cNvPr id="609" name="Freeform 3"/>
            <p:cNvSpPr/>
            <p:nvPr/>
          </p:nvSpPr>
          <p:spPr>
            <a:xfrm rot="19037400">
              <a:off x="-4714200" y="74336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10" name="TextBox 4"/>
            <p:cNvSpPr/>
            <p:nvPr/>
          </p:nvSpPr>
          <p:spPr>
            <a:xfrm rot="19037400">
              <a:off x="-4864320" y="705024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11" name="Group 5"/>
          <p:cNvGrpSpPr/>
          <p:nvPr/>
        </p:nvGrpSpPr>
        <p:grpSpPr>
          <a:xfrm>
            <a:off x="-776160" y="8906400"/>
            <a:ext cx="5150520" cy="5031360"/>
            <a:chOff x="-776160" y="8906400"/>
            <a:chExt cx="5150520" cy="5031360"/>
          </a:xfrm>
        </p:grpSpPr>
        <p:sp>
          <p:nvSpPr>
            <p:cNvPr id="612"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13"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14" name="Group 8"/>
          <p:cNvGrpSpPr/>
          <p:nvPr/>
        </p:nvGrpSpPr>
        <p:grpSpPr>
          <a:xfrm>
            <a:off x="14316840" y="-4223880"/>
            <a:ext cx="10423800" cy="10182600"/>
            <a:chOff x="14316840" y="-4223880"/>
            <a:chExt cx="10423800" cy="10182600"/>
          </a:xfrm>
        </p:grpSpPr>
        <p:sp>
          <p:nvSpPr>
            <p:cNvPr id="615"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16"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17" name="Group 11"/>
          <p:cNvGrpSpPr/>
          <p:nvPr/>
        </p:nvGrpSpPr>
        <p:grpSpPr>
          <a:xfrm>
            <a:off x="15262200" y="-3572280"/>
            <a:ext cx="5150880" cy="5031360"/>
            <a:chOff x="15262200" y="-3572280"/>
            <a:chExt cx="5150880" cy="5031360"/>
          </a:xfrm>
        </p:grpSpPr>
        <p:sp>
          <p:nvSpPr>
            <p:cNvPr id="618"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19"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20" name="Group 14"/>
          <p:cNvGrpSpPr/>
          <p:nvPr/>
        </p:nvGrpSpPr>
        <p:grpSpPr>
          <a:xfrm>
            <a:off x="13810680" y="8219880"/>
            <a:ext cx="4098960" cy="4003920"/>
            <a:chOff x="13810680" y="8219880"/>
            <a:chExt cx="4098960" cy="4003920"/>
          </a:xfrm>
        </p:grpSpPr>
        <p:sp>
          <p:nvSpPr>
            <p:cNvPr id="621"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22"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23" name="Group 17"/>
          <p:cNvGrpSpPr/>
          <p:nvPr/>
        </p:nvGrpSpPr>
        <p:grpSpPr>
          <a:xfrm>
            <a:off x="908640" y="-1966680"/>
            <a:ext cx="4117680" cy="4021920"/>
            <a:chOff x="908640" y="-1966680"/>
            <a:chExt cx="4117680" cy="4021920"/>
          </a:xfrm>
        </p:grpSpPr>
        <p:sp>
          <p:nvSpPr>
            <p:cNvPr id="624"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25"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26" name="TextBox 20"/>
          <p:cNvSpPr/>
          <p:nvPr/>
        </p:nvSpPr>
        <p:spPr>
          <a:xfrm>
            <a:off x="1695960" y="2551320"/>
            <a:ext cx="14921640" cy="6018840"/>
          </a:xfrm>
          <a:prstGeom prst="rect">
            <a:avLst/>
          </a:prstGeom>
          <a:noFill/>
          <a:ln w="0">
            <a:noFill/>
          </a:ln>
        </p:spPr>
        <p:style>
          <a:lnRef idx="0"/>
          <a:fillRef idx="0"/>
          <a:effectRef idx="0"/>
          <a:fontRef idx="minor"/>
        </p:style>
        <p:txBody>
          <a:bodyPr lIns="0" rIns="0" tIns="0" bIns="0" anchor="t">
            <a:spAutoFit/>
          </a:bodyPr>
          <a:p>
            <a:pPr algn="ctr" defTabSz="914400">
              <a:lnSpc>
                <a:spcPts val="11849"/>
              </a:lnSpc>
            </a:pPr>
            <a:r>
              <a:rPr b="0" lang="en-US" sz="13939" spc="-1" strike="noStrike">
                <a:solidFill>
                  <a:srgbClr val="545454"/>
                </a:solidFill>
                <a:latin typeface="Bold Ink"/>
                <a:ea typeface="Bold Ink"/>
              </a:rPr>
              <a:t>REQUIREMENT ANALYSIS AND MODELING </a:t>
            </a:r>
            <a:endParaRPr b="0" lang="en-PH" sz="13939" spc="-1" strike="noStrike">
              <a:solidFill>
                <a:srgbClr val="000000"/>
              </a:solidFill>
              <a:latin typeface="Arial"/>
            </a:endParaRPr>
          </a:p>
          <a:p>
            <a:pPr algn="ctr" defTabSz="914400">
              <a:lnSpc>
                <a:spcPts val="11849"/>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27" name="Group 2"/>
          <p:cNvGrpSpPr/>
          <p:nvPr/>
        </p:nvGrpSpPr>
        <p:grpSpPr>
          <a:xfrm>
            <a:off x="-5321520" y="5285880"/>
            <a:ext cx="8988840" cy="8780760"/>
            <a:chOff x="-5321520" y="5285880"/>
            <a:chExt cx="8988840" cy="8780760"/>
          </a:xfrm>
        </p:grpSpPr>
        <p:sp>
          <p:nvSpPr>
            <p:cNvPr id="628"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29"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30" name="Group 5"/>
          <p:cNvGrpSpPr/>
          <p:nvPr/>
        </p:nvGrpSpPr>
        <p:grpSpPr>
          <a:xfrm>
            <a:off x="-1367280" y="9054360"/>
            <a:ext cx="4441320" cy="4338360"/>
            <a:chOff x="-1367280" y="9054360"/>
            <a:chExt cx="4441320" cy="4338360"/>
          </a:xfrm>
        </p:grpSpPr>
        <p:sp>
          <p:nvSpPr>
            <p:cNvPr id="631"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32"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33" name="Group 8"/>
          <p:cNvGrpSpPr/>
          <p:nvPr/>
        </p:nvGrpSpPr>
        <p:grpSpPr>
          <a:xfrm>
            <a:off x="15163920" y="-4197240"/>
            <a:ext cx="9577080" cy="9354960"/>
            <a:chOff x="15163920" y="-4197240"/>
            <a:chExt cx="9577080" cy="9354960"/>
          </a:xfrm>
        </p:grpSpPr>
        <p:sp>
          <p:nvSpPr>
            <p:cNvPr id="634"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35"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36" name="Group 11"/>
          <p:cNvGrpSpPr/>
          <p:nvPr/>
        </p:nvGrpSpPr>
        <p:grpSpPr>
          <a:xfrm>
            <a:off x="16032240" y="-3598920"/>
            <a:ext cx="4732200" cy="4622400"/>
            <a:chOff x="16032240" y="-3598920"/>
            <a:chExt cx="4732200" cy="4622400"/>
          </a:xfrm>
        </p:grpSpPr>
        <p:sp>
          <p:nvSpPr>
            <p:cNvPr id="637"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38"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39" name="Group 14"/>
          <p:cNvGrpSpPr/>
          <p:nvPr/>
        </p:nvGrpSpPr>
        <p:grpSpPr>
          <a:xfrm>
            <a:off x="12844800" y="8637480"/>
            <a:ext cx="4098960" cy="4003920"/>
            <a:chOff x="12844800" y="8637480"/>
            <a:chExt cx="4098960" cy="4003920"/>
          </a:xfrm>
        </p:grpSpPr>
        <p:sp>
          <p:nvSpPr>
            <p:cNvPr id="640"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41"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42" name="Group 17"/>
          <p:cNvGrpSpPr/>
          <p:nvPr/>
        </p:nvGrpSpPr>
        <p:grpSpPr>
          <a:xfrm>
            <a:off x="1352160" y="-2332080"/>
            <a:ext cx="4118040" cy="4021920"/>
            <a:chOff x="1352160" y="-2332080"/>
            <a:chExt cx="4118040" cy="4021920"/>
          </a:xfrm>
        </p:grpSpPr>
        <p:sp>
          <p:nvSpPr>
            <p:cNvPr id="643"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44"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45" name="TextBox 20"/>
          <p:cNvSpPr/>
          <p:nvPr/>
        </p:nvSpPr>
        <p:spPr>
          <a:xfrm>
            <a:off x="2707200" y="1864440"/>
            <a:ext cx="13605840" cy="6052680"/>
          </a:xfrm>
          <a:prstGeom prst="rect">
            <a:avLst/>
          </a:prstGeom>
          <a:noFill/>
          <a:ln w="0">
            <a:noFill/>
          </a:ln>
        </p:spPr>
        <p:style>
          <a:lnRef idx="0"/>
          <a:fillRef idx="0"/>
          <a:effectRef idx="0"/>
          <a:fontRef idx="minor"/>
        </p:style>
        <p:txBody>
          <a:bodyPr lIns="0" rIns="0" tIns="0" bIns="0" anchor="t">
            <a:spAutoFit/>
          </a:bodyPr>
          <a:p>
            <a:pPr algn="ctr" defTabSz="914400">
              <a:lnSpc>
                <a:spcPts val="7464"/>
              </a:lnSpc>
            </a:pPr>
            <a:r>
              <a:rPr b="0" lang="en-US" sz="8780" spc="-1" strike="noStrike">
                <a:solidFill>
                  <a:srgbClr val="545454"/>
                </a:solidFill>
                <a:latin typeface="Bold Ink"/>
                <a:ea typeface="Bold Ink"/>
              </a:rPr>
              <a:t>LEARNING OBJECTIVES </a:t>
            </a:r>
            <a:endParaRPr b="0" lang="en-PH" sz="8780" spc="-1" strike="noStrike">
              <a:solidFill>
                <a:srgbClr val="000000"/>
              </a:solidFill>
              <a:latin typeface="Arial"/>
            </a:endParaRPr>
          </a:p>
          <a:p>
            <a:pPr algn="ctr" defTabSz="914400">
              <a:lnSpc>
                <a:spcPts val="7464"/>
              </a:lnSpc>
            </a:pPr>
            <a:endParaRPr b="0" lang="en-PH" sz="1800" spc="-1" strike="noStrike">
              <a:solidFill>
                <a:srgbClr val="000000"/>
              </a:solidFill>
              <a:latin typeface="Arial"/>
            </a:endParaRPr>
          </a:p>
          <a:p>
            <a:pPr lvl="1" marL="1356480" indent="-678240" defTabSz="914400">
              <a:lnSpc>
                <a:spcPts val="5338"/>
              </a:lnSpc>
              <a:buClr>
                <a:srgbClr val="545454"/>
              </a:buClr>
              <a:buFont typeface="Arial"/>
              <a:buChar char="•"/>
            </a:pPr>
            <a:r>
              <a:rPr b="0" lang="en-US" sz="6280" spc="-1" strike="noStrike">
                <a:solidFill>
                  <a:srgbClr val="545454"/>
                </a:solidFill>
                <a:latin typeface="Bold Ink"/>
                <a:ea typeface="Bold Ink"/>
              </a:rPr>
              <a:t>UNDERSTAND THE PURPOSE OF ERD</a:t>
            </a:r>
            <a:endParaRPr b="0" lang="en-PH" sz="6280" spc="-1" strike="noStrike">
              <a:solidFill>
                <a:srgbClr val="000000"/>
              </a:solidFill>
              <a:latin typeface="Arial"/>
            </a:endParaRPr>
          </a:p>
          <a:p>
            <a:pPr lvl="1" marL="1356480" indent="-678240" defTabSz="914400">
              <a:lnSpc>
                <a:spcPts val="5338"/>
              </a:lnSpc>
              <a:buClr>
                <a:srgbClr val="545454"/>
              </a:buClr>
              <a:buFont typeface="Arial"/>
              <a:buChar char="•"/>
            </a:pPr>
            <a:r>
              <a:rPr b="0" lang="en-US" sz="6280" spc="-1" strike="noStrike">
                <a:solidFill>
                  <a:srgbClr val="545454"/>
                </a:solidFill>
                <a:latin typeface="Bold Ink"/>
                <a:ea typeface="Bold Ink"/>
              </a:rPr>
              <a:t>KNOW THE DIFFERENT COMPONENTS OF ERD</a:t>
            </a:r>
            <a:endParaRPr b="0" lang="en-PH" sz="6280" spc="-1" strike="noStrike">
              <a:solidFill>
                <a:srgbClr val="000000"/>
              </a:solidFill>
              <a:latin typeface="Arial"/>
            </a:endParaRPr>
          </a:p>
          <a:p>
            <a:pPr lvl="1" marL="1356480" indent="-678240" defTabSz="914400">
              <a:lnSpc>
                <a:spcPts val="5338"/>
              </a:lnSpc>
              <a:buClr>
                <a:srgbClr val="545454"/>
              </a:buClr>
              <a:buFont typeface="Arial"/>
              <a:buChar char="•"/>
            </a:pPr>
            <a:r>
              <a:rPr b="0" lang="en-US" sz="6280" spc="-1" strike="noStrike">
                <a:solidFill>
                  <a:srgbClr val="545454"/>
                </a:solidFill>
                <a:latin typeface="Bold Ink"/>
                <a:ea typeface="Bold Ink"/>
              </a:rPr>
              <a:t>LEARN HOW TO CREATE AN ERD</a:t>
            </a:r>
            <a:endParaRPr b="0" lang="en-PH" sz="6280" spc="-1" strike="noStrike">
              <a:solidFill>
                <a:srgbClr val="000000"/>
              </a:solidFill>
              <a:latin typeface="Arial"/>
            </a:endParaRPr>
          </a:p>
          <a:p>
            <a:pPr algn="ctr" defTabSz="914400">
              <a:lnSpc>
                <a:spcPts val="6046"/>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46" name="Group 2"/>
          <p:cNvGrpSpPr/>
          <p:nvPr/>
        </p:nvGrpSpPr>
        <p:grpSpPr>
          <a:xfrm>
            <a:off x="-5321520" y="5285880"/>
            <a:ext cx="8988840" cy="8780760"/>
            <a:chOff x="-5321520" y="5285880"/>
            <a:chExt cx="8988840" cy="8780760"/>
          </a:xfrm>
        </p:grpSpPr>
        <p:sp>
          <p:nvSpPr>
            <p:cNvPr id="64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4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49" name="Group 5"/>
          <p:cNvGrpSpPr/>
          <p:nvPr/>
        </p:nvGrpSpPr>
        <p:grpSpPr>
          <a:xfrm>
            <a:off x="-1367280" y="9054360"/>
            <a:ext cx="4441320" cy="4338360"/>
            <a:chOff x="-1367280" y="9054360"/>
            <a:chExt cx="4441320" cy="4338360"/>
          </a:xfrm>
        </p:grpSpPr>
        <p:sp>
          <p:nvSpPr>
            <p:cNvPr id="65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5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52" name="Group 8"/>
          <p:cNvGrpSpPr/>
          <p:nvPr/>
        </p:nvGrpSpPr>
        <p:grpSpPr>
          <a:xfrm>
            <a:off x="15163920" y="-4197240"/>
            <a:ext cx="9577080" cy="9354960"/>
            <a:chOff x="15163920" y="-4197240"/>
            <a:chExt cx="9577080" cy="9354960"/>
          </a:xfrm>
        </p:grpSpPr>
        <p:sp>
          <p:nvSpPr>
            <p:cNvPr id="65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5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55" name="Group 11"/>
          <p:cNvGrpSpPr/>
          <p:nvPr/>
        </p:nvGrpSpPr>
        <p:grpSpPr>
          <a:xfrm>
            <a:off x="16032240" y="-3598920"/>
            <a:ext cx="4732200" cy="4622400"/>
            <a:chOff x="16032240" y="-3598920"/>
            <a:chExt cx="4732200" cy="4622400"/>
          </a:xfrm>
        </p:grpSpPr>
        <p:sp>
          <p:nvSpPr>
            <p:cNvPr id="65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5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58" name="Group 14"/>
          <p:cNvGrpSpPr/>
          <p:nvPr/>
        </p:nvGrpSpPr>
        <p:grpSpPr>
          <a:xfrm>
            <a:off x="12844800" y="8637480"/>
            <a:ext cx="4098960" cy="4003920"/>
            <a:chOff x="12844800" y="8637480"/>
            <a:chExt cx="4098960" cy="4003920"/>
          </a:xfrm>
        </p:grpSpPr>
        <p:sp>
          <p:nvSpPr>
            <p:cNvPr id="65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6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61" name="Group 17"/>
          <p:cNvGrpSpPr/>
          <p:nvPr/>
        </p:nvGrpSpPr>
        <p:grpSpPr>
          <a:xfrm>
            <a:off x="1352160" y="-2332080"/>
            <a:ext cx="4118040" cy="4021920"/>
            <a:chOff x="1352160" y="-2332080"/>
            <a:chExt cx="4118040" cy="4021920"/>
          </a:xfrm>
        </p:grpSpPr>
        <p:sp>
          <p:nvSpPr>
            <p:cNvPr id="66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6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64" name="TextBox 20"/>
          <p:cNvSpPr/>
          <p:nvPr/>
        </p:nvSpPr>
        <p:spPr>
          <a:xfrm>
            <a:off x="3873600" y="2851920"/>
            <a:ext cx="1053792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WHAT IS ERD</a:t>
            </a:r>
            <a:endParaRPr b="0" lang="en-PH" sz="10550" spc="-1" strike="noStrike">
              <a:solidFill>
                <a:srgbClr val="000000"/>
              </a:solidFill>
              <a:latin typeface="Arial"/>
            </a:endParaRPr>
          </a:p>
        </p:txBody>
      </p:sp>
      <p:sp>
        <p:nvSpPr>
          <p:cNvPr id="665" name="TextBox 21"/>
          <p:cNvSpPr/>
          <p:nvPr/>
        </p:nvSpPr>
        <p:spPr>
          <a:xfrm>
            <a:off x="3125880" y="4285800"/>
            <a:ext cx="12033720" cy="3045240"/>
          </a:xfrm>
          <a:prstGeom prst="rect">
            <a:avLst/>
          </a:prstGeom>
          <a:noFill/>
          <a:ln w="0">
            <a:noFill/>
          </a:ln>
        </p:spPr>
        <p:style>
          <a:lnRef idx="0"/>
          <a:fillRef idx="0"/>
          <a:effectRef idx="0"/>
          <a:fontRef idx="minor"/>
        </p:style>
        <p:txBody>
          <a:bodyPr lIns="0" rIns="0" tIns="0" bIns="0" anchor="t">
            <a:spAutoFit/>
          </a:bodyPr>
          <a:p>
            <a:pPr algn="ctr" defTabSz="914400">
              <a:lnSpc>
                <a:spcPts val="5995"/>
              </a:lnSpc>
            </a:pPr>
            <a:r>
              <a:rPr b="0" lang="en-US" sz="4280" spc="-1" strike="noStrike">
                <a:solidFill>
                  <a:srgbClr val="61654d"/>
                </a:solidFill>
                <a:latin typeface="Akzidenz-Grotesk"/>
                <a:ea typeface="Akzidenz-Grotesk"/>
              </a:rPr>
              <a:t>ER-modeling is a data modeling method used in software engineering to produce a conceptual data model of an information system.</a:t>
            </a:r>
            <a:endParaRPr b="0" lang="en-PH" sz="42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66" name="Group 2"/>
          <p:cNvGrpSpPr/>
          <p:nvPr/>
        </p:nvGrpSpPr>
        <p:grpSpPr>
          <a:xfrm>
            <a:off x="-5321520" y="5285880"/>
            <a:ext cx="8988840" cy="8780760"/>
            <a:chOff x="-5321520" y="5285880"/>
            <a:chExt cx="8988840" cy="8780760"/>
          </a:xfrm>
        </p:grpSpPr>
        <p:sp>
          <p:nvSpPr>
            <p:cNvPr id="66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6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69" name="Group 5"/>
          <p:cNvGrpSpPr/>
          <p:nvPr/>
        </p:nvGrpSpPr>
        <p:grpSpPr>
          <a:xfrm>
            <a:off x="-1367280" y="9054360"/>
            <a:ext cx="4441320" cy="4338360"/>
            <a:chOff x="-1367280" y="9054360"/>
            <a:chExt cx="4441320" cy="4338360"/>
          </a:xfrm>
        </p:grpSpPr>
        <p:sp>
          <p:nvSpPr>
            <p:cNvPr id="67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7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72" name="Group 8"/>
          <p:cNvGrpSpPr/>
          <p:nvPr/>
        </p:nvGrpSpPr>
        <p:grpSpPr>
          <a:xfrm>
            <a:off x="15163920" y="-4197240"/>
            <a:ext cx="9577080" cy="9354960"/>
            <a:chOff x="15163920" y="-4197240"/>
            <a:chExt cx="9577080" cy="9354960"/>
          </a:xfrm>
        </p:grpSpPr>
        <p:sp>
          <p:nvSpPr>
            <p:cNvPr id="67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7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75" name="Group 11"/>
          <p:cNvGrpSpPr/>
          <p:nvPr/>
        </p:nvGrpSpPr>
        <p:grpSpPr>
          <a:xfrm>
            <a:off x="16032240" y="-3598920"/>
            <a:ext cx="4732200" cy="4622400"/>
            <a:chOff x="16032240" y="-3598920"/>
            <a:chExt cx="4732200" cy="4622400"/>
          </a:xfrm>
        </p:grpSpPr>
        <p:sp>
          <p:nvSpPr>
            <p:cNvPr id="67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7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78" name="Group 14"/>
          <p:cNvGrpSpPr/>
          <p:nvPr/>
        </p:nvGrpSpPr>
        <p:grpSpPr>
          <a:xfrm>
            <a:off x="12844800" y="8637480"/>
            <a:ext cx="4098960" cy="4003920"/>
            <a:chOff x="12844800" y="8637480"/>
            <a:chExt cx="4098960" cy="4003920"/>
          </a:xfrm>
        </p:grpSpPr>
        <p:sp>
          <p:nvSpPr>
            <p:cNvPr id="67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8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81" name="Group 17"/>
          <p:cNvGrpSpPr/>
          <p:nvPr/>
        </p:nvGrpSpPr>
        <p:grpSpPr>
          <a:xfrm>
            <a:off x="1352160" y="-2332080"/>
            <a:ext cx="4118040" cy="4021920"/>
            <a:chOff x="1352160" y="-2332080"/>
            <a:chExt cx="4118040" cy="4021920"/>
          </a:xfrm>
        </p:grpSpPr>
        <p:sp>
          <p:nvSpPr>
            <p:cNvPr id="68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8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684" name="TextBox 20"/>
          <p:cNvSpPr/>
          <p:nvPr/>
        </p:nvSpPr>
        <p:spPr>
          <a:xfrm>
            <a:off x="3499920" y="1421640"/>
            <a:ext cx="11286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PURPOSE OF ERD</a:t>
            </a:r>
            <a:endParaRPr b="0" lang="en-PH" sz="10550" spc="-1" strike="noStrike">
              <a:solidFill>
                <a:srgbClr val="000000"/>
              </a:solidFill>
              <a:latin typeface="Arial"/>
            </a:endParaRPr>
          </a:p>
        </p:txBody>
      </p:sp>
      <p:sp>
        <p:nvSpPr>
          <p:cNvPr id="685" name="TextBox 21"/>
          <p:cNvSpPr/>
          <p:nvPr/>
        </p:nvSpPr>
        <p:spPr>
          <a:xfrm>
            <a:off x="2768400" y="2839680"/>
            <a:ext cx="13984200" cy="6900840"/>
          </a:xfrm>
          <a:prstGeom prst="rect">
            <a:avLst/>
          </a:prstGeom>
          <a:noFill/>
          <a:ln w="0">
            <a:noFill/>
          </a:ln>
        </p:spPr>
        <p:style>
          <a:lnRef idx="0"/>
          <a:fillRef idx="0"/>
          <a:effectRef idx="0"/>
          <a:fontRef idx="minor"/>
        </p:style>
        <p:txBody>
          <a:bodyPr lIns="0" rIns="0" tIns="0" bIns="0" anchor="t">
            <a:spAutoFit/>
          </a:bodyPr>
          <a:p>
            <a:pPr lvl="1" marL="838080" indent="-419040" defTabSz="914400">
              <a:lnSpc>
                <a:spcPts val="5434"/>
              </a:lnSpc>
              <a:buClr>
                <a:srgbClr val="61654d"/>
              </a:buClr>
              <a:buFont typeface="Arial"/>
              <a:buChar char="•"/>
            </a:pPr>
            <a:r>
              <a:rPr b="0" lang="en-US" sz="3880" spc="-1" strike="noStrike">
                <a:solidFill>
                  <a:srgbClr val="61654d"/>
                </a:solidFill>
                <a:latin typeface="Akzidenz-Grotesk"/>
                <a:ea typeface="Akzidenz-Grotesk"/>
              </a:rPr>
              <a:t>The database analyst gains a better understanding of the data to be contained in the database through the step of constructing the ERD.</a:t>
            </a:r>
            <a:endParaRPr b="0" lang="en-PH" sz="3880" spc="-1" strike="noStrike">
              <a:solidFill>
                <a:srgbClr val="000000"/>
              </a:solidFill>
              <a:latin typeface="Arial"/>
            </a:endParaRPr>
          </a:p>
          <a:p>
            <a:pPr defTabSz="914400">
              <a:lnSpc>
                <a:spcPts val="5434"/>
              </a:lnSpc>
            </a:pPr>
            <a:endParaRPr b="0" lang="en-PH" sz="1800" spc="-1" strike="noStrike">
              <a:solidFill>
                <a:srgbClr val="000000"/>
              </a:solidFill>
              <a:latin typeface="Arial"/>
            </a:endParaRPr>
          </a:p>
          <a:p>
            <a:pPr lvl="1" marL="838080" indent="-419040" defTabSz="914400">
              <a:lnSpc>
                <a:spcPts val="5434"/>
              </a:lnSpc>
              <a:buClr>
                <a:srgbClr val="61654d"/>
              </a:buClr>
              <a:buFont typeface="Arial"/>
              <a:buChar char="•"/>
            </a:pPr>
            <a:r>
              <a:rPr b="0" lang="en-US" sz="3880" spc="-1" strike="noStrike">
                <a:solidFill>
                  <a:srgbClr val="61654d"/>
                </a:solidFill>
                <a:latin typeface="Akzidenz-Grotesk"/>
                <a:ea typeface="Akzidenz-Grotesk"/>
              </a:rPr>
              <a:t>The ERD serves as a documentation tool.</a:t>
            </a:r>
            <a:endParaRPr b="0" lang="en-PH" sz="3880" spc="-1" strike="noStrike">
              <a:solidFill>
                <a:srgbClr val="000000"/>
              </a:solidFill>
              <a:latin typeface="Arial"/>
            </a:endParaRPr>
          </a:p>
          <a:p>
            <a:pPr defTabSz="914400">
              <a:lnSpc>
                <a:spcPts val="5434"/>
              </a:lnSpc>
            </a:pPr>
            <a:endParaRPr b="0" lang="en-PH" sz="1800" spc="-1" strike="noStrike">
              <a:solidFill>
                <a:srgbClr val="000000"/>
              </a:solidFill>
              <a:latin typeface="Arial"/>
            </a:endParaRPr>
          </a:p>
          <a:p>
            <a:pPr lvl="1" marL="838080" indent="-419040" defTabSz="914400">
              <a:lnSpc>
                <a:spcPts val="5434"/>
              </a:lnSpc>
              <a:buClr>
                <a:srgbClr val="61654d"/>
              </a:buClr>
              <a:buFont typeface="Arial"/>
              <a:buChar char="•"/>
            </a:pPr>
            <a:r>
              <a:rPr b="0" lang="en-US" sz="3880" spc="-1" strike="noStrike">
                <a:solidFill>
                  <a:srgbClr val="61654d"/>
                </a:solidFill>
                <a:latin typeface="Akzidenz-Grotesk"/>
                <a:ea typeface="Akzidenz-Grotesk"/>
              </a:rPr>
              <a:t>Finally, the ERD is used to connect the logical structure of the database to users. In particular, the ERD effectively communicates the logic of the database to users.</a:t>
            </a:r>
            <a:endParaRPr b="0" lang="en-PH" sz="38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686" name="Group 2"/>
          <p:cNvGrpSpPr/>
          <p:nvPr/>
        </p:nvGrpSpPr>
        <p:grpSpPr>
          <a:xfrm>
            <a:off x="-5321520" y="5285880"/>
            <a:ext cx="8988840" cy="8780760"/>
            <a:chOff x="-5321520" y="5285880"/>
            <a:chExt cx="8988840" cy="8780760"/>
          </a:xfrm>
        </p:grpSpPr>
        <p:sp>
          <p:nvSpPr>
            <p:cNvPr id="68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8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89" name="Group 5"/>
          <p:cNvGrpSpPr/>
          <p:nvPr/>
        </p:nvGrpSpPr>
        <p:grpSpPr>
          <a:xfrm>
            <a:off x="-1367280" y="9054360"/>
            <a:ext cx="4441320" cy="4338360"/>
            <a:chOff x="-1367280" y="9054360"/>
            <a:chExt cx="4441320" cy="4338360"/>
          </a:xfrm>
        </p:grpSpPr>
        <p:sp>
          <p:nvSpPr>
            <p:cNvPr id="69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9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92" name="Group 8"/>
          <p:cNvGrpSpPr/>
          <p:nvPr/>
        </p:nvGrpSpPr>
        <p:grpSpPr>
          <a:xfrm>
            <a:off x="15163920" y="-4197240"/>
            <a:ext cx="9577080" cy="9354960"/>
            <a:chOff x="15163920" y="-4197240"/>
            <a:chExt cx="9577080" cy="9354960"/>
          </a:xfrm>
        </p:grpSpPr>
        <p:sp>
          <p:nvSpPr>
            <p:cNvPr id="69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9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95" name="Group 11"/>
          <p:cNvGrpSpPr/>
          <p:nvPr/>
        </p:nvGrpSpPr>
        <p:grpSpPr>
          <a:xfrm>
            <a:off x="16032240" y="-3598920"/>
            <a:ext cx="4732200" cy="4622400"/>
            <a:chOff x="16032240" y="-3598920"/>
            <a:chExt cx="4732200" cy="4622400"/>
          </a:xfrm>
        </p:grpSpPr>
        <p:sp>
          <p:nvSpPr>
            <p:cNvPr id="69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69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698" name="Group 14"/>
          <p:cNvGrpSpPr/>
          <p:nvPr/>
        </p:nvGrpSpPr>
        <p:grpSpPr>
          <a:xfrm>
            <a:off x="1352160" y="-2332080"/>
            <a:ext cx="4118040" cy="4021920"/>
            <a:chOff x="1352160" y="-2332080"/>
            <a:chExt cx="4118040" cy="4021920"/>
          </a:xfrm>
        </p:grpSpPr>
        <p:sp>
          <p:nvSpPr>
            <p:cNvPr id="699" name="Freeform 15"/>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00" name="TextBox 16"/>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701" name="Freeform 17"/>
          <p:cNvSpPr/>
          <p:nvPr/>
        </p:nvSpPr>
        <p:spPr>
          <a:xfrm>
            <a:off x="3076920" y="1845000"/>
            <a:ext cx="12915000" cy="6963120"/>
          </a:xfrm>
          <a:custGeom>
            <a:avLst/>
            <a:gdLst>
              <a:gd name="textAreaLeft" fmla="*/ 0 w 12915000"/>
              <a:gd name="textAreaRight" fmla="*/ 12917520 w 12915000"/>
              <a:gd name="textAreaTop" fmla="*/ 0 h 6963120"/>
              <a:gd name="textAreaBottom" fmla="*/ 6965640 h 6963120"/>
            </a:gdLst>
            <a:ahLst/>
            <a:rect l="textAreaLeft" t="textAreaTop" r="textAreaRight" b="textAreaBottom"/>
            <a:pathLst>
              <a:path w="12917664" h="6965728">
                <a:moveTo>
                  <a:pt x="0" y="0"/>
                </a:moveTo>
                <a:lnTo>
                  <a:pt x="12917663" y="0"/>
                </a:lnTo>
                <a:lnTo>
                  <a:pt x="12917663" y="6965728"/>
                </a:lnTo>
                <a:lnTo>
                  <a:pt x="0" y="696572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02" name="Group 2"/>
          <p:cNvGrpSpPr/>
          <p:nvPr/>
        </p:nvGrpSpPr>
        <p:grpSpPr>
          <a:xfrm>
            <a:off x="-5321520" y="5285880"/>
            <a:ext cx="8988840" cy="8780760"/>
            <a:chOff x="-5321520" y="5285880"/>
            <a:chExt cx="8988840" cy="8780760"/>
          </a:xfrm>
        </p:grpSpPr>
        <p:sp>
          <p:nvSpPr>
            <p:cNvPr id="70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0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05" name="Group 5"/>
          <p:cNvGrpSpPr/>
          <p:nvPr/>
        </p:nvGrpSpPr>
        <p:grpSpPr>
          <a:xfrm>
            <a:off x="-1367280" y="9054360"/>
            <a:ext cx="4441320" cy="4338360"/>
            <a:chOff x="-1367280" y="9054360"/>
            <a:chExt cx="4441320" cy="4338360"/>
          </a:xfrm>
        </p:grpSpPr>
        <p:sp>
          <p:nvSpPr>
            <p:cNvPr id="70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0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08" name="Group 8"/>
          <p:cNvGrpSpPr/>
          <p:nvPr/>
        </p:nvGrpSpPr>
        <p:grpSpPr>
          <a:xfrm>
            <a:off x="15163920" y="-4197240"/>
            <a:ext cx="9577080" cy="9354960"/>
            <a:chOff x="15163920" y="-4197240"/>
            <a:chExt cx="9577080" cy="9354960"/>
          </a:xfrm>
        </p:grpSpPr>
        <p:sp>
          <p:nvSpPr>
            <p:cNvPr id="70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1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11" name="Group 11"/>
          <p:cNvGrpSpPr/>
          <p:nvPr/>
        </p:nvGrpSpPr>
        <p:grpSpPr>
          <a:xfrm>
            <a:off x="16032240" y="-3598920"/>
            <a:ext cx="4732200" cy="4622400"/>
            <a:chOff x="16032240" y="-3598920"/>
            <a:chExt cx="4732200" cy="4622400"/>
          </a:xfrm>
        </p:grpSpPr>
        <p:sp>
          <p:nvSpPr>
            <p:cNvPr id="71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1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14" name="Group 14"/>
          <p:cNvGrpSpPr/>
          <p:nvPr/>
        </p:nvGrpSpPr>
        <p:grpSpPr>
          <a:xfrm>
            <a:off x="12844800" y="8637480"/>
            <a:ext cx="4098960" cy="4003920"/>
            <a:chOff x="12844800" y="8637480"/>
            <a:chExt cx="4098960" cy="4003920"/>
          </a:xfrm>
        </p:grpSpPr>
        <p:sp>
          <p:nvSpPr>
            <p:cNvPr id="71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1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17" name="Group 17"/>
          <p:cNvGrpSpPr/>
          <p:nvPr/>
        </p:nvGrpSpPr>
        <p:grpSpPr>
          <a:xfrm>
            <a:off x="1352160" y="-2332080"/>
            <a:ext cx="4118040" cy="4021920"/>
            <a:chOff x="1352160" y="-2332080"/>
            <a:chExt cx="4118040" cy="4021920"/>
          </a:xfrm>
        </p:grpSpPr>
        <p:sp>
          <p:nvSpPr>
            <p:cNvPr id="71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1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720" name="TextBox 20"/>
          <p:cNvSpPr/>
          <p:nvPr/>
        </p:nvSpPr>
        <p:spPr>
          <a:xfrm>
            <a:off x="3873600" y="1371600"/>
            <a:ext cx="1053792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ENTITY</a:t>
            </a:r>
            <a:endParaRPr b="0" lang="en-PH" sz="10550" spc="-1" strike="noStrike">
              <a:solidFill>
                <a:srgbClr val="000000"/>
              </a:solidFill>
              <a:latin typeface="Arial"/>
            </a:endParaRPr>
          </a:p>
        </p:txBody>
      </p:sp>
      <p:sp>
        <p:nvSpPr>
          <p:cNvPr id="721" name="TextBox 21"/>
          <p:cNvSpPr/>
          <p:nvPr/>
        </p:nvSpPr>
        <p:spPr>
          <a:xfrm>
            <a:off x="2597760" y="2932200"/>
            <a:ext cx="13089960" cy="6352920"/>
          </a:xfrm>
          <a:prstGeom prst="rect">
            <a:avLst/>
          </a:prstGeom>
          <a:noFill/>
          <a:ln w="0">
            <a:noFill/>
          </a:ln>
        </p:spPr>
        <p:style>
          <a:lnRef idx="0"/>
          <a:fillRef idx="0"/>
          <a:effectRef idx="0"/>
          <a:fontRef idx="minor"/>
        </p:style>
        <p:txBody>
          <a:bodyPr lIns="0" rIns="0" tIns="0" bIns="0" anchor="t">
            <a:spAutoFit/>
          </a:bodyPr>
          <a:p>
            <a:pPr algn="just" defTabSz="914400">
              <a:lnSpc>
                <a:spcPts val="6253"/>
              </a:lnSpc>
            </a:pPr>
            <a:r>
              <a:rPr b="0" lang="en-US" sz="4460" spc="-1" strike="noStrike">
                <a:solidFill>
                  <a:srgbClr val="61654d"/>
                </a:solidFill>
                <a:latin typeface="Akzidenz-Grotesk"/>
                <a:ea typeface="Akzidenz-Grotesk"/>
              </a:rPr>
              <a:t>An entity can be a real-world object, either animate or inanimate, that can be merely identifiable. An entity is denoted as a rectangle in an ER diagram. For example, in a school database, students, teachers, classes, and courses offered can be treated as entities. All these entities have some attributes or properties that give them their identity.</a:t>
            </a:r>
            <a:endParaRPr b="0" lang="en-PH" sz="446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22" name="Group 2"/>
          <p:cNvGrpSpPr/>
          <p:nvPr/>
        </p:nvGrpSpPr>
        <p:grpSpPr>
          <a:xfrm>
            <a:off x="-5321520" y="5285880"/>
            <a:ext cx="8988840" cy="8780760"/>
            <a:chOff x="-5321520" y="5285880"/>
            <a:chExt cx="8988840" cy="8780760"/>
          </a:xfrm>
        </p:grpSpPr>
        <p:sp>
          <p:nvSpPr>
            <p:cNvPr id="72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2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25" name="Group 5"/>
          <p:cNvGrpSpPr/>
          <p:nvPr/>
        </p:nvGrpSpPr>
        <p:grpSpPr>
          <a:xfrm>
            <a:off x="-1367280" y="9054360"/>
            <a:ext cx="4441320" cy="4338360"/>
            <a:chOff x="-1367280" y="9054360"/>
            <a:chExt cx="4441320" cy="4338360"/>
          </a:xfrm>
        </p:grpSpPr>
        <p:sp>
          <p:nvSpPr>
            <p:cNvPr id="72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2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28" name="Group 8"/>
          <p:cNvGrpSpPr/>
          <p:nvPr/>
        </p:nvGrpSpPr>
        <p:grpSpPr>
          <a:xfrm>
            <a:off x="15163920" y="-4197240"/>
            <a:ext cx="9577080" cy="9354960"/>
            <a:chOff x="15163920" y="-4197240"/>
            <a:chExt cx="9577080" cy="9354960"/>
          </a:xfrm>
        </p:grpSpPr>
        <p:sp>
          <p:nvSpPr>
            <p:cNvPr id="72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3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31" name="Group 11"/>
          <p:cNvGrpSpPr/>
          <p:nvPr/>
        </p:nvGrpSpPr>
        <p:grpSpPr>
          <a:xfrm>
            <a:off x="16032240" y="-3598920"/>
            <a:ext cx="4732200" cy="4622400"/>
            <a:chOff x="16032240" y="-3598920"/>
            <a:chExt cx="4732200" cy="4622400"/>
          </a:xfrm>
        </p:grpSpPr>
        <p:sp>
          <p:nvSpPr>
            <p:cNvPr id="73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3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34" name="Group 14"/>
          <p:cNvGrpSpPr/>
          <p:nvPr/>
        </p:nvGrpSpPr>
        <p:grpSpPr>
          <a:xfrm>
            <a:off x="12844800" y="8637480"/>
            <a:ext cx="4098960" cy="4003920"/>
            <a:chOff x="12844800" y="8637480"/>
            <a:chExt cx="4098960" cy="4003920"/>
          </a:xfrm>
        </p:grpSpPr>
        <p:sp>
          <p:nvSpPr>
            <p:cNvPr id="73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3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37" name="Group 17"/>
          <p:cNvGrpSpPr/>
          <p:nvPr/>
        </p:nvGrpSpPr>
        <p:grpSpPr>
          <a:xfrm>
            <a:off x="1352160" y="-2332080"/>
            <a:ext cx="4118040" cy="4021920"/>
            <a:chOff x="1352160" y="-2332080"/>
            <a:chExt cx="4118040" cy="4021920"/>
          </a:xfrm>
        </p:grpSpPr>
        <p:sp>
          <p:nvSpPr>
            <p:cNvPr id="73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3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740" name="TextBox 20"/>
          <p:cNvSpPr/>
          <p:nvPr/>
        </p:nvSpPr>
        <p:spPr>
          <a:xfrm>
            <a:off x="2365200" y="2545920"/>
            <a:ext cx="14290920" cy="5079960"/>
          </a:xfrm>
          <a:prstGeom prst="rect">
            <a:avLst/>
          </a:prstGeom>
          <a:noFill/>
          <a:ln w="0">
            <a:noFill/>
          </a:ln>
        </p:spPr>
        <p:style>
          <a:lnRef idx="0"/>
          <a:fillRef idx="0"/>
          <a:effectRef idx="0"/>
          <a:fontRef idx="minor"/>
        </p:style>
        <p:txBody>
          <a:bodyPr lIns="0" rIns="0" tIns="0" bIns="0" anchor="t">
            <a:spAutoFit/>
          </a:bodyPr>
          <a:p>
            <a:pPr defTabSz="914400">
              <a:lnSpc>
                <a:spcPts val="5715"/>
              </a:lnSpc>
            </a:pPr>
            <a:r>
              <a:rPr b="0" lang="en-US" sz="4080" spc="-1" strike="noStrike">
                <a:solidFill>
                  <a:srgbClr val="61654d"/>
                </a:solidFill>
                <a:latin typeface="Akzidenz-Grotesk"/>
                <a:ea typeface="Akzidenz-Grotesk"/>
              </a:rPr>
              <a:t>An entity set is a collection of related types of entities. An entity set may include entities with attribute sharing similar values. For example, a Student set may contain all the students of a school; likewise, a Teacher set may include all the teachers of a school from all faculties. Entity set need not be disjoint.</a:t>
            </a:r>
            <a:endParaRPr b="0" lang="en-PH" sz="4080" spc="-1" strike="noStrike">
              <a:solidFill>
                <a:srgbClr val="000000"/>
              </a:solidFill>
              <a:latin typeface="Arial"/>
            </a:endParaRPr>
          </a:p>
          <a:p>
            <a:pPr defTabSz="914400">
              <a:lnSpc>
                <a:spcPts val="5715"/>
              </a:lnSpc>
            </a:pPr>
            <a:endParaRPr b="0" lang="en-PH" sz="1800" spc="-1" strike="noStrike">
              <a:solidFill>
                <a:srgbClr val="000000"/>
              </a:solidFill>
              <a:latin typeface="Arial"/>
            </a:endParaRPr>
          </a:p>
        </p:txBody>
      </p:sp>
      <p:sp>
        <p:nvSpPr>
          <p:cNvPr id="741" name="Freeform 21"/>
          <p:cNvSpPr/>
          <p:nvPr/>
        </p:nvSpPr>
        <p:spPr>
          <a:xfrm>
            <a:off x="3705840" y="6947640"/>
            <a:ext cx="11248200" cy="1949040"/>
          </a:xfrm>
          <a:custGeom>
            <a:avLst/>
            <a:gdLst>
              <a:gd name="textAreaLeft" fmla="*/ 0 w 11248200"/>
              <a:gd name="textAreaRight" fmla="*/ 11250720 w 11248200"/>
              <a:gd name="textAreaTop" fmla="*/ 0 h 1949040"/>
              <a:gd name="textAreaBottom" fmla="*/ 1951560 h 1949040"/>
            </a:gdLst>
            <a:ahLst/>
            <a:rect l="textAreaLeft" t="textAreaTop" r="textAreaRight" b="textAreaBottom"/>
            <a:pathLst>
              <a:path w="11250599" h="1951634">
                <a:moveTo>
                  <a:pt x="0" y="0"/>
                </a:moveTo>
                <a:lnTo>
                  <a:pt x="11250599" y="0"/>
                </a:lnTo>
                <a:lnTo>
                  <a:pt x="11250599" y="1951634"/>
                </a:lnTo>
                <a:lnTo>
                  <a:pt x="0" y="195163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742" name="TextBox 22"/>
          <p:cNvSpPr/>
          <p:nvPr/>
        </p:nvSpPr>
        <p:spPr>
          <a:xfrm>
            <a:off x="3873600" y="1117440"/>
            <a:ext cx="1053792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ENTITY SET</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43" name="Group 2"/>
          <p:cNvGrpSpPr/>
          <p:nvPr/>
        </p:nvGrpSpPr>
        <p:grpSpPr>
          <a:xfrm>
            <a:off x="-5321520" y="5285880"/>
            <a:ext cx="8988840" cy="8780760"/>
            <a:chOff x="-5321520" y="5285880"/>
            <a:chExt cx="8988840" cy="8780760"/>
          </a:xfrm>
        </p:grpSpPr>
        <p:sp>
          <p:nvSpPr>
            <p:cNvPr id="74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4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46" name="Group 5"/>
          <p:cNvGrpSpPr/>
          <p:nvPr/>
        </p:nvGrpSpPr>
        <p:grpSpPr>
          <a:xfrm>
            <a:off x="-1367280" y="9054360"/>
            <a:ext cx="4441320" cy="4338360"/>
            <a:chOff x="-1367280" y="9054360"/>
            <a:chExt cx="4441320" cy="4338360"/>
          </a:xfrm>
        </p:grpSpPr>
        <p:sp>
          <p:nvSpPr>
            <p:cNvPr id="74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4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49" name="Group 8"/>
          <p:cNvGrpSpPr/>
          <p:nvPr/>
        </p:nvGrpSpPr>
        <p:grpSpPr>
          <a:xfrm>
            <a:off x="15163920" y="-4197240"/>
            <a:ext cx="9577080" cy="9354960"/>
            <a:chOff x="15163920" y="-4197240"/>
            <a:chExt cx="9577080" cy="9354960"/>
          </a:xfrm>
        </p:grpSpPr>
        <p:sp>
          <p:nvSpPr>
            <p:cNvPr id="75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5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52" name="Group 11"/>
          <p:cNvGrpSpPr/>
          <p:nvPr/>
        </p:nvGrpSpPr>
        <p:grpSpPr>
          <a:xfrm>
            <a:off x="16032240" y="-3598920"/>
            <a:ext cx="4732200" cy="4622400"/>
            <a:chOff x="16032240" y="-3598920"/>
            <a:chExt cx="4732200" cy="4622400"/>
          </a:xfrm>
        </p:grpSpPr>
        <p:sp>
          <p:nvSpPr>
            <p:cNvPr id="75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5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55" name="Group 14"/>
          <p:cNvGrpSpPr/>
          <p:nvPr/>
        </p:nvGrpSpPr>
        <p:grpSpPr>
          <a:xfrm>
            <a:off x="12844800" y="8637480"/>
            <a:ext cx="4098960" cy="4003920"/>
            <a:chOff x="12844800" y="8637480"/>
            <a:chExt cx="4098960" cy="4003920"/>
          </a:xfrm>
        </p:grpSpPr>
        <p:sp>
          <p:nvSpPr>
            <p:cNvPr id="75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5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58" name="Group 17"/>
          <p:cNvGrpSpPr/>
          <p:nvPr/>
        </p:nvGrpSpPr>
        <p:grpSpPr>
          <a:xfrm>
            <a:off x="1352160" y="-2332080"/>
            <a:ext cx="4118040" cy="4021920"/>
            <a:chOff x="1352160" y="-2332080"/>
            <a:chExt cx="4118040" cy="4021920"/>
          </a:xfrm>
        </p:grpSpPr>
        <p:sp>
          <p:nvSpPr>
            <p:cNvPr id="75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6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761" name="TextBox 20"/>
          <p:cNvSpPr/>
          <p:nvPr/>
        </p:nvSpPr>
        <p:spPr>
          <a:xfrm>
            <a:off x="3800520" y="1324080"/>
            <a:ext cx="1053792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ATTRIBUTES </a:t>
            </a:r>
            <a:endParaRPr b="0" lang="en-PH" sz="10550" spc="-1" strike="noStrike">
              <a:solidFill>
                <a:srgbClr val="000000"/>
              </a:solidFill>
              <a:latin typeface="Arial"/>
            </a:endParaRPr>
          </a:p>
        </p:txBody>
      </p:sp>
      <p:sp>
        <p:nvSpPr>
          <p:cNvPr id="762" name="TextBox 21"/>
          <p:cNvSpPr/>
          <p:nvPr/>
        </p:nvSpPr>
        <p:spPr>
          <a:xfrm>
            <a:off x="2740680" y="3182400"/>
            <a:ext cx="13426200" cy="4976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Entities are denoted utilizing their properties, known as attributes. All attributes have values. For example, a student entity may have name, class, and age as attributes. There exists a domain or range of values that can be assigned to attributes. For example, a student's name cannot be a numeric value. It has to be alphabetic. A student's age cannot be negative, etc.</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63" name="Group 2"/>
          <p:cNvGrpSpPr/>
          <p:nvPr/>
        </p:nvGrpSpPr>
        <p:grpSpPr>
          <a:xfrm>
            <a:off x="-5321520" y="5285880"/>
            <a:ext cx="8988840" cy="8780760"/>
            <a:chOff x="-5321520" y="5285880"/>
            <a:chExt cx="8988840" cy="8780760"/>
          </a:xfrm>
        </p:grpSpPr>
        <p:sp>
          <p:nvSpPr>
            <p:cNvPr id="76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6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66" name="Group 5"/>
          <p:cNvGrpSpPr/>
          <p:nvPr/>
        </p:nvGrpSpPr>
        <p:grpSpPr>
          <a:xfrm>
            <a:off x="-1367280" y="9054360"/>
            <a:ext cx="4441320" cy="4338360"/>
            <a:chOff x="-1367280" y="9054360"/>
            <a:chExt cx="4441320" cy="4338360"/>
          </a:xfrm>
        </p:grpSpPr>
        <p:sp>
          <p:nvSpPr>
            <p:cNvPr id="76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6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69" name="Group 8"/>
          <p:cNvGrpSpPr/>
          <p:nvPr/>
        </p:nvGrpSpPr>
        <p:grpSpPr>
          <a:xfrm>
            <a:off x="15163920" y="-4197240"/>
            <a:ext cx="9577080" cy="9354960"/>
            <a:chOff x="15163920" y="-4197240"/>
            <a:chExt cx="9577080" cy="9354960"/>
          </a:xfrm>
        </p:grpSpPr>
        <p:sp>
          <p:nvSpPr>
            <p:cNvPr id="77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7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72" name="Group 11"/>
          <p:cNvGrpSpPr/>
          <p:nvPr/>
        </p:nvGrpSpPr>
        <p:grpSpPr>
          <a:xfrm>
            <a:off x="16032240" y="-3598920"/>
            <a:ext cx="4732200" cy="4622400"/>
            <a:chOff x="16032240" y="-3598920"/>
            <a:chExt cx="4732200" cy="4622400"/>
          </a:xfrm>
        </p:grpSpPr>
        <p:sp>
          <p:nvSpPr>
            <p:cNvPr id="77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7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75" name="Group 14"/>
          <p:cNvGrpSpPr/>
          <p:nvPr/>
        </p:nvGrpSpPr>
        <p:grpSpPr>
          <a:xfrm>
            <a:off x="12844800" y="8637480"/>
            <a:ext cx="4098960" cy="4003920"/>
            <a:chOff x="12844800" y="8637480"/>
            <a:chExt cx="4098960" cy="4003920"/>
          </a:xfrm>
        </p:grpSpPr>
        <p:sp>
          <p:nvSpPr>
            <p:cNvPr id="77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7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78" name="Group 17"/>
          <p:cNvGrpSpPr/>
          <p:nvPr/>
        </p:nvGrpSpPr>
        <p:grpSpPr>
          <a:xfrm>
            <a:off x="1352160" y="-2332080"/>
            <a:ext cx="4118040" cy="4021920"/>
            <a:chOff x="1352160" y="-2332080"/>
            <a:chExt cx="4118040" cy="4021920"/>
          </a:xfrm>
        </p:grpSpPr>
        <p:sp>
          <p:nvSpPr>
            <p:cNvPr id="77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8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781" name="Freeform 20"/>
          <p:cNvSpPr/>
          <p:nvPr/>
        </p:nvSpPr>
        <p:spPr>
          <a:xfrm>
            <a:off x="3226680" y="1690560"/>
            <a:ext cx="11960640" cy="6978600"/>
          </a:xfrm>
          <a:custGeom>
            <a:avLst/>
            <a:gdLst>
              <a:gd name="textAreaLeft" fmla="*/ 0 w 11960640"/>
              <a:gd name="textAreaRight" fmla="*/ 11963160 w 11960640"/>
              <a:gd name="textAreaTop" fmla="*/ 0 h 6978600"/>
              <a:gd name="textAreaBottom" fmla="*/ 6981120 h 6978600"/>
            </a:gdLst>
            <a:ahLst/>
            <a:rect l="textAreaLeft" t="textAreaTop" r="textAreaRight" b="textAreaBottom"/>
            <a:pathLst>
              <a:path w="11963081" h="6980950">
                <a:moveTo>
                  <a:pt x="0" y="0"/>
                </a:moveTo>
                <a:lnTo>
                  <a:pt x="11963081" y="0"/>
                </a:lnTo>
                <a:lnTo>
                  <a:pt x="11963081" y="6980950"/>
                </a:lnTo>
                <a:lnTo>
                  <a:pt x="0" y="698095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82" name="Group 2"/>
          <p:cNvGrpSpPr/>
          <p:nvPr/>
        </p:nvGrpSpPr>
        <p:grpSpPr>
          <a:xfrm>
            <a:off x="-5321520" y="5285880"/>
            <a:ext cx="8988840" cy="8780760"/>
            <a:chOff x="-5321520" y="5285880"/>
            <a:chExt cx="8988840" cy="8780760"/>
          </a:xfrm>
        </p:grpSpPr>
        <p:sp>
          <p:nvSpPr>
            <p:cNvPr id="78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8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85" name="Group 5"/>
          <p:cNvGrpSpPr/>
          <p:nvPr/>
        </p:nvGrpSpPr>
        <p:grpSpPr>
          <a:xfrm>
            <a:off x="-1367280" y="9054360"/>
            <a:ext cx="4441320" cy="4338360"/>
            <a:chOff x="-1367280" y="9054360"/>
            <a:chExt cx="4441320" cy="4338360"/>
          </a:xfrm>
        </p:grpSpPr>
        <p:sp>
          <p:nvSpPr>
            <p:cNvPr id="78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8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88" name="Group 8"/>
          <p:cNvGrpSpPr/>
          <p:nvPr/>
        </p:nvGrpSpPr>
        <p:grpSpPr>
          <a:xfrm>
            <a:off x="15163920" y="-4197240"/>
            <a:ext cx="9577080" cy="9354960"/>
            <a:chOff x="15163920" y="-4197240"/>
            <a:chExt cx="9577080" cy="9354960"/>
          </a:xfrm>
        </p:grpSpPr>
        <p:sp>
          <p:nvSpPr>
            <p:cNvPr id="78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9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91" name="Group 11"/>
          <p:cNvGrpSpPr/>
          <p:nvPr/>
        </p:nvGrpSpPr>
        <p:grpSpPr>
          <a:xfrm>
            <a:off x="16032240" y="-3598920"/>
            <a:ext cx="4732200" cy="4622400"/>
            <a:chOff x="16032240" y="-3598920"/>
            <a:chExt cx="4732200" cy="4622400"/>
          </a:xfrm>
        </p:grpSpPr>
        <p:sp>
          <p:nvSpPr>
            <p:cNvPr id="79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9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94" name="Group 14"/>
          <p:cNvGrpSpPr/>
          <p:nvPr/>
        </p:nvGrpSpPr>
        <p:grpSpPr>
          <a:xfrm>
            <a:off x="12844800" y="8637480"/>
            <a:ext cx="4098960" cy="4003920"/>
            <a:chOff x="12844800" y="8637480"/>
            <a:chExt cx="4098960" cy="4003920"/>
          </a:xfrm>
        </p:grpSpPr>
        <p:sp>
          <p:nvSpPr>
            <p:cNvPr id="79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9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797" name="Group 17"/>
          <p:cNvGrpSpPr/>
          <p:nvPr/>
        </p:nvGrpSpPr>
        <p:grpSpPr>
          <a:xfrm>
            <a:off x="1352160" y="-2332080"/>
            <a:ext cx="4118040" cy="4021920"/>
            <a:chOff x="1352160" y="-2332080"/>
            <a:chExt cx="4118040" cy="4021920"/>
          </a:xfrm>
        </p:grpSpPr>
        <p:sp>
          <p:nvSpPr>
            <p:cNvPr id="79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79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00" name="TextBox 20"/>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ATTRIBUTES</a:t>
            </a:r>
            <a:endParaRPr b="0" lang="en-PH" sz="10550" spc="-1" strike="noStrike">
              <a:solidFill>
                <a:srgbClr val="000000"/>
              </a:solidFill>
              <a:latin typeface="Arial"/>
            </a:endParaRPr>
          </a:p>
        </p:txBody>
      </p:sp>
      <p:sp>
        <p:nvSpPr>
          <p:cNvPr id="801" name="TextBox 21"/>
          <p:cNvSpPr/>
          <p:nvPr/>
        </p:nvSpPr>
        <p:spPr>
          <a:xfrm>
            <a:off x="2740680" y="3182400"/>
            <a:ext cx="13426200" cy="2843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Key attribute - Key is an attribute or collection of attributes that uniquely identifies an entity among the entity set. For example, the roll_number of a student makes him identifiable among students.</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02" name="Group 2"/>
          <p:cNvGrpSpPr/>
          <p:nvPr/>
        </p:nvGrpSpPr>
        <p:grpSpPr>
          <a:xfrm>
            <a:off x="-5321520" y="5285880"/>
            <a:ext cx="8988840" cy="8780760"/>
            <a:chOff x="-5321520" y="5285880"/>
            <a:chExt cx="8988840" cy="8780760"/>
          </a:xfrm>
        </p:grpSpPr>
        <p:sp>
          <p:nvSpPr>
            <p:cNvPr id="80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0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05" name="Group 5"/>
          <p:cNvGrpSpPr/>
          <p:nvPr/>
        </p:nvGrpSpPr>
        <p:grpSpPr>
          <a:xfrm>
            <a:off x="-1367280" y="9054360"/>
            <a:ext cx="4441320" cy="4338360"/>
            <a:chOff x="-1367280" y="9054360"/>
            <a:chExt cx="4441320" cy="4338360"/>
          </a:xfrm>
        </p:grpSpPr>
        <p:sp>
          <p:nvSpPr>
            <p:cNvPr id="80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0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08" name="Group 8"/>
          <p:cNvGrpSpPr/>
          <p:nvPr/>
        </p:nvGrpSpPr>
        <p:grpSpPr>
          <a:xfrm>
            <a:off x="15163920" y="-4197240"/>
            <a:ext cx="9577080" cy="9354960"/>
            <a:chOff x="15163920" y="-4197240"/>
            <a:chExt cx="9577080" cy="9354960"/>
          </a:xfrm>
        </p:grpSpPr>
        <p:sp>
          <p:nvSpPr>
            <p:cNvPr id="80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1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11" name="Group 11"/>
          <p:cNvGrpSpPr/>
          <p:nvPr/>
        </p:nvGrpSpPr>
        <p:grpSpPr>
          <a:xfrm>
            <a:off x="16032240" y="-3598920"/>
            <a:ext cx="4732200" cy="4622400"/>
            <a:chOff x="16032240" y="-3598920"/>
            <a:chExt cx="4732200" cy="4622400"/>
          </a:xfrm>
        </p:grpSpPr>
        <p:sp>
          <p:nvSpPr>
            <p:cNvPr id="81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1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14" name="Group 14"/>
          <p:cNvGrpSpPr/>
          <p:nvPr/>
        </p:nvGrpSpPr>
        <p:grpSpPr>
          <a:xfrm>
            <a:off x="12844800" y="8637480"/>
            <a:ext cx="4098960" cy="4003920"/>
            <a:chOff x="12844800" y="8637480"/>
            <a:chExt cx="4098960" cy="4003920"/>
          </a:xfrm>
        </p:grpSpPr>
        <p:sp>
          <p:nvSpPr>
            <p:cNvPr id="81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1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17" name="Group 17"/>
          <p:cNvGrpSpPr/>
          <p:nvPr/>
        </p:nvGrpSpPr>
        <p:grpSpPr>
          <a:xfrm>
            <a:off x="1352160" y="-2332080"/>
            <a:ext cx="4118040" cy="4021920"/>
            <a:chOff x="1352160" y="-2332080"/>
            <a:chExt cx="4118040" cy="4021920"/>
          </a:xfrm>
        </p:grpSpPr>
        <p:sp>
          <p:nvSpPr>
            <p:cNvPr id="81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1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20" name="TextBox 20"/>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KEYS</a:t>
            </a:r>
            <a:endParaRPr b="0" lang="en-PH" sz="10550" spc="-1" strike="noStrike">
              <a:solidFill>
                <a:srgbClr val="000000"/>
              </a:solidFill>
              <a:latin typeface="Arial"/>
            </a:endParaRPr>
          </a:p>
        </p:txBody>
      </p:sp>
      <p:sp>
        <p:nvSpPr>
          <p:cNvPr id="821" name="TextBox 21"/>
          <p:cNvSpPr/>
          <p:nvPr/>
        </p:nvSpPr>
        <p:spPr>
          <a:xfrm>
            <a:off x="2912760" y="3084840"/>
            <a:ext cx="13426200" cy="6398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a:t>
            </a:r>
            <a:r>
              <a:rPr b="0" lang="en-US" sz="4000" spc="-1" strike="noStrike">
                <a:solidFill>
                  <a:srgbClr val="545454"/>
                </a:solidFill>
                <a:latin typeface="Open Sans"/>
                <a:ea typeface="Open Sans"/>
              </a:rPr>
              <a:t>Super key: A set of attributes that collectively identifies an entity in the entity set.</a:t>
            </a:r>
            <a:endParaRPr b="0" lang="en-PH" sz="40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a:t>
            </a:r>
            <a:r>
              <a:rPr b="0" lang="en-US" sz="4000" spc="-1" strike="noStrike">
                <a:solidFill>
                  <a:srgbClr val="545454"/>
                </a:solidFill>
                <a:latin typeface="Open Sans"/>
                <a:ea typeface="Open Sans"/>
              </a:rPr>
              <a:t>Candidate key: A minimal super key is known as a candidate key. An entity set may have more than one candidate key.</a:t>
            </a:r>
            <a:endParaRPr b="0" lang="en-PH" sz="40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a:t>
            </a:r>
            <a:r>
              <a:rPr b="0" lang="en-US" sz="4000" spc="-1" strike="noStrike">
                <a:solidFill>
                  <a:srgbClr val="545454"/>
                </a:solidFill>
                <a:latin typeface="Open Sans"/>
                <a:ea typeface="Open Sans"/>
              </a:rPr>
              <a:t>Primary key: A primary key is one of the candidate keys chosen by the database designer to uniquely identify the entity set.</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22" name="Group 2"/>
          <p:cNvGrpSpPr/>
          <p:nvPr/>
        </p:nvGrpSpPr>
        <p:grpSpPr>
          <a:xfrm>
            <a:off x="-5321520" y="5285880"/>
            <a:ext cx="8988840" cy="8780760"/>
            <a:chOff x="-5321520" y="5285880"/>
            <a:chExt cx="8988840" cy="8780760"/>
          </a:xfrm>
        </p:grpSpPr>
        <p:sp>
          <p:nvSpPr>
            <p:cNvPr id="82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2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25" name="Group 5"/>
          <p:cNvGrpSpPr/>
          <p:nvPr/>
        </p:nvGrpSpPr>
        <p:grpSpPr>
          <a:xfrm>
            <a:off x="-1367280" y="9054360"/>
            <a:ext cx="4441320" cy="4338360"/>
            <a:chOff x="-1367280" y="9054360"/>
            <a:chExt cx="4441320" cy="4338360"/>
          </a:xfrm>
        </p:grpSpPr>
        <p:sp>
          <p:nvSpPr>
            <p:cNvPr id="82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2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28" name="Group 8"/>
          <p:cNvGrpSpPr/>
          <p:nvPr/>
        </p:nvGrpSpPr>
        <p:grpSpPr>
          <a:xfrm>
            <a:off x="15163920" y="-4197240"/>
            <a:ext cx="9577080" cy="9354960"/>
            <a:chOff x="15163920" y="-4197240"/>
            <a:chExt cx="9577080" cy="9354960"/>
          </a:xfrm>
        </p:grpSpPr>
        <p:sp>
          <p:nvSpPr>
            <p:cNvPr id="82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3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31" name="Group 11"/>
          <p:cNvGrpSpPr/>
          <p:nvPr/>
        </p:nvGrpSpPr>
        <p:grpSpPr>
          <a:xfrm>
            <a:off x="16032240" y="-3598920"/>
            <a:ext cx="4732200" cy="4622400"/>
            <a:chOff x="16032240" y="-3598920"/>
            <a:chExt cx="4732200" cy="4622400"/>
          </a:xfrm>
        </p:grpSpPr>
        <p:sp>
          <p:nvSpPr>
            <p:cNvPr id="83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3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34" name="Group 14"/>
          <p:cNvGrpSpPr/>
          <p:nvPr/>
        </p:nvGrpSpPr>
        <p:grpSpPr>
          <a:xfrm>
            <a:off x="12844800" y="8637480"/>
            <a:ext cx="4098960" cy="4003920"/>
            <a:chOff x="12844800" y="8637480"/>
            <a:chExt cx="4098960" cy="4003920"/>
          </a:xfrm>
        </p:grpSpPr>
        <p:sp>
          <p:nvSpPr>
            <p:cNvPr id="83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3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37" name="Group 17"/>
          <p:cNvGrpSpPr/>
          <p:nvPr/>
        </p:nvGrpSpPr>
        <p:grpSpPr>
          <a:xfrm>
            <a:off x="1352160" y="-2332080"/>
            <a:ext cx="4118040" cy="4021920"/>
            <a:chOff x="1352160" y="-2332080"/>
            <a:chExt cx="4118040" cy="4021920"/>
          </a:xfrm>
        </p:grpSpPr>
        <p:sp>
          <p:nvSpPr>
            <p:cNvPr id="83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3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40" name="TextBox 20"/>
          <p:cNvSpPr/>
          <p:nvPr/>
        </p:nvSpPr>
        <p:spPr>
          <a:xfrm>
            <a:off x="2912760" y="3084840"/>
            <a:ext cx="13426200" cy="4976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a:t>
            </a:r>
            <a:r>
              <a:rPr b="0" lang="en-US" sz="4000" spc="-1" strike="noStrike">
                <a:solidFill>
                  <a:srgbClr val="545454"/>
                </a:solidFill>
                <a:latin typeface="Open Sans"/>
                <a:ea typeface="Open Sans"/>
              </a:rPr>
              <a:t>Composite attribute - An attribute that is a combination of other attributes is called a composite attribute. For example, In student entity, the student address is a composite attribute as an address is composed of other characteristics such as pin code, state, country.</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841"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ATTRIBUTES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42" name="Group 2"/>
          <p:cNvGrpSpPr/>
          <p:nvPr/>
        </p:nvGrpSpPr>
        <p:grpSpPr>
          <a:xfrm>
            <a:off x="-5321520" y="5285880"/>
            <a:ext cx="8988840" cy="8780760"/>
            <a:chOff x="-5321520" y="5285880"/>
            <a:chExt cx="8988840" cy="8780760"/>
          </a:xfrm>
        </p:grpSpPr>
        <p:sp>
          <p:nvSpPr>
            <p:cNvPr id="84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4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45" name="Group 5"/>
          <p:cNvGrpSpPr/>
          <p:nvPr/>
        </p:nvGrpSpPr>
        <p:grpSpPr>
          <a:xfrm>
            <a:off x="-1367280" y="9054360"/>
            <a:ext cx="4441320" cy="4338360"/>
            <a:chOff x="-1367280" y="9054360"/>
            <a:chExt cx="4441320" cy="4338360"/>
          </a:xfrm>
        </p:grpSpPr>
        <p:sp>
          <p:nvSpPr>
            <p:cNvPr id="84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4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48" name="Group 8"/>
          <p:cNvGrpSpPr/>
          <p:nvPr/>
        </p:nvGrpSpPr>
        <p:grpSpPr>
          <a:xfrm>
            <a:off x="15163920" y="-4197240"/>
            <a:ext cx="9577080" cy="9354960"/>
            <a:chOff x="15163920" y="-4197240"/>
            <a:chExt cx="9577080" cy="9354960"/>
          </a:xfrm>
        </p:grpSpPr>
        <p:sp>
          <p:nvSpPr>
            <p:cNvPr id="84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5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51" name="Group 11"/>
          <p:cNvGrpSpPr/>
          <p:nvPr/>
        </p:nvGrpSpPr>
        <p:grpSpPr>
          <a:xfrm>
            <a:off x="16032240" y="-3598920"/>
            <a:ext cx="4732200" cy="4622400"/>
            <a:chOff x="16032240" y="-3598920"/>
            <a:chExt cx="4732200" cy="4622400"/>
          </a:xfrm>
        </p:grpSpPr>
        <p:sp>
          <p:nvSpPr>
            <p:cNvPr id="85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5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54" name="Group 14"/>
          <p:cNvGrpSpPr/>
          <p:nvPr/>
        </p:nvGrpSpPr>
        <p:grpSpPr>
          <a:xfrm>
            <a:off x="12844800" y="8637480"/>
            <a:ext cx="4098960" cy="4003920"/>
            <a:chOff x="12844800" y="8637480"/>
            <a:chExt cx="4098960" cy="4003920"/>
          </a:xfrm>
        </p:grpSpPr>
        <p:sp>
          <p:nvSpPr>
            <p:cNvPr id="85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5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57" name="Group 17"/>
          <p:cNvGrpSpPr/>
          <p:nvPr/>
        </p:nvGrpSpPr>
        <p:grpSpPr>
          <a:xfrm>
            <a:off x="1352160" y="-2332080"/>
            <a:ext cx="4118040" cy="4021920"/>
            <a:chOff x="1352160" y="-2332080"/>
            <a:chExt cx="4118040" cy="4021920"/>
          </a:xfrm>
        </p:grpSpPr>
        <p:sp>
          <p:nvSpPr>
            <p:cNvPr id="85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5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60" name="Freeform 20"/>
          <p:cNvSpPr/>
          <p:nvPr/>
        </p:nvSpPr>
        <p:spPr>
          <a:xfrm>
            <a:off x="3076920" y="1528920"/>
            <a:ext cx="12637800" cy="7527960"/>
          </a:xfrm>
          <a:custGeom>
            <a:avLst/>
            <a:gdLst>
              <a:gd name="textAreaLeft" fmla="*/ 0 w 12637800"/>
              <a:gd name="textAreaRight" fmla="*/ 12640320 w 12637800"/>
              <a:gd name="textAreaTop" fmla="*/ 0 h 7527960"/>
              <a:gd name="textAreaBottom" fmla="*/ 7530480 h 7527960"/>
            </a:gdLst>
            <a:ahLst/>
            <a:rect l="textAreaLeft" t="textAreaTop" r="textAreaRight" b="textAreaBottom"/>
            <a:pathLst>
              <a:path w="12640414" h="7530460">
                <a:moveTo>
                  <a:pt x="0" y="0"/>
                </a:moveTo>
                <a:lnTo>
                  <a:pt x="12640414" y="0"/>
                </a:lnTo>
                <a:lnTo>
                  <a:pt x="12640414" y="7530459"/>
                </a:lnTo>
                <a:lnTo>
                  <a:pt x="0" y="7530459"/>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61" name="Group 2"/>
          <p:cNvGrpSpPr/>
          <p:nvPr/>
        </p:nvGrpSpPr>
        <p:grpSpPr>
          <a:xfrm>
            <a:off x="-5321520" y="5285880"/>
            <a:ext cx="8988840" cy="8780760"/>
            <a:chOff x="-5321520" y="5285880"/>
            <a:chExt cx="8988840" cy="8780760"/>
          </a:xfrm>
        </p:grpSpPr>
        <p:sp>
          <p:nvSpPr>
            <p:cNvPr id="86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6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64" name="Group 5"/>
          <p:cNvGrpSpPr/>
          <p:nvPr/>
        </p:nvGrpSpPr>
        <p:grpSpPr>
          <a:xfrm>
            <a:off x="-1367280" y="9054360"/>
            <a:ext cx="4441320" cy="4338360"/>
            <a:chOff x="-1367280" y="9054360"/>
            <a:chExt cx="4441320" cy="4338360"/>
          </a:xfrm>
        </p:grpSpPr>
        <p:sp>
          <p:nvSpPr>
            <p:cNvPr id="86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6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67" name="Group 8"/>
          <p:cNvGrpSpPr/>
          <p:nvPr/>
        </p:nvGrpSpPr>
        <p:grpSpPr>
          <a:xfrm>
            <a:off x="15163920" y="-4197240"/>
            <a:ext cx="9577080" cy="9354960"/>
            <a:chOff x="15163920" y="-4197240"/>
            <a:chExt cx="9577080" cy="9354960"/>
          </a:xfrm>
        </p:grpSpPr>
        <p:sp>
          <p:nvSpPr>
            <p:cNvPr id="86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6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70" name="Group 11"/>
          <p:cNvGrpSpPr/>
          <p:nvPr/>
        </p:nvGrpSpPr>
        <p:grpSpPr>
          <a:xfrm>
            <a:off x="16032240" y="-3598920"/>
            <a:ext cx="4732200" cy="4622400"/>
            <a:chOff x="16032240" y="-3598920"/>
            <a:chExt cx="4732200" cy="4622400"/>
          </a:xfrm>
        </p:grpSpPr>
        <p:sp>
          <p:nvSpPr>
            <p:cNvPr id="87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7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73" name="Group 14"/>
          <p:cNvGrpSpPr/>
          <p:nvPr/>
        </p:nvGrpSpPr>
        <p:grpSpPr>
          <a:xfrm>
            <a:off x="12844800" y="8637480"/>
            <a:ext cx="4098960" cy="4003920"/>
            <a:chOff x="12844800" y="8637480"/>
            <a:chExt cx="4098960" cy="4003920"/>
          </a:xfrm>
        </p:grpSpPr>
        <p:sp>
          <p:nvSpPr>
            <p:cNvPr id="87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7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76" name="Group 17"/>
          <p:cNvGrpSpPr/>
          <p:nvPr/>
        </p:nvGrpSpPr>
        <p:grpSpPr>
          <a:xfrm>
            <a:off x="1352160" y="-2332080"/>
            <a:ext cx="4118040" cy="4021920"/>
            <a:chOff x="1352160" y="-2332080"/>
            <a:chExt cx="4118040" cy="4021920"/>
          </a:xfrm>
        </p:grpSpPr>
        <p:sp>
          <p:nvSpPr>
            <p:cNvPr id="87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7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79" name="TextBox 20"/>
          <p:cNvSpPr/>
          <p:nvPr/>
        </p:nvSpPr>
        <p:spPr>
          <a:xfrm>
            <a:off x="2912760" y="3084840"/>
            <a:ext cx="13426200" cy="1421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Single-valued attribute - Single-valued attribute contain a single value. For example, Social_Security_Number.</a:t>
            </a:r>
            <a:endParaRPr b="0" lang="en-PH" sz="4000" spc="-1" strike="noStrike">
              <a:solidFill>
                <a:srgbClr val="000000"/>
              </a:solidFill>
              <a:latin typeface="Arial"/>
            </a:endParaRPr>
          </a:p>
        </p:txBody>
      </p:sp>
      <p:sp>
        <p:nvSpPr>
          <p:cNvPr id="880"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ATTRIBUTES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81" name="Group 2"/>
          <p:cNvGrpSpPr/>
          <p:nvPr/>
        </p:nvGrpSpPr>
        <p:grpSpPr>
          <a:xfrm>
            <a:off x="-5321520" y="5285880"/>
            <a:ext cx="8988840" cy="8780760"/>
            <a:chOff x="-5321520" y="5285880"/>
            <a:chExt cx="8988840" cy="8780760"/>
          </a:xfrm>
        </p:grpSpPr>
        <p:sp>
          <p:nvSpPr>
            <p:cNvPr id="88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8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84" name="Group 5"/>
          <p:cNvGrpSpPr/>
          <p:nvPr/>
        </p:nvGrpSpPr>
        <p:grpSpPr>
          <a:xfrm>
            <a:off x="-1367280" y="9054360"/>
            <a:ext cx="4441320" cy="4338360"/>
            <a:chOff x="-1367280" y="9054360"/>
            <a:chExt cx="4441320" cy="4338360"/>
          </a:xfrm>
        </p:grpSpPr>
        <p:sp>
          <p:nvSpPr>
            <p:cNvPr id="88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8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87" name="Group 8"/>
          <p:cNvGrpSpPr/>
          <p:nvPr/>
        </p:nvGrpSpPr>
        <p:grpSpPr>
          <a:xfrm>
            <a:off x="15163920" y="-4197240"/>
            <a:ext cx="9577080" cy="9354960"/>
            <a:chOff x="15163920" y="-4197240"/>
            <a:chExt cx="9577080" cy="9354960"/>
          </a:xfrm>
        </p:grpSpPr>
        <p:sp>
          <p:nvSpPr>
            <p:cNvPr id="88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8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90" name="Group 11"/>
          <p:cNvGrpSpPr/>
          <p:nvPr/>
        </p:nvGrpSpPr>
        <p:grpSpPr>
          <a:xfrm>
            <a:off x="16032240" y="-3598920"/>
            <a:ext cx="4732200" cy="4622400"/>
            <a:chOff x="16032240" y="-3598920"/>
            <a:chExt cx="4732200" cy="4622400"/>
          </a:xfrm>
        </p:grpSpPr>
        <p:sp>
          <p:nvSpPr>
            <p:cNvPr id="89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9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93" name="Group 14"/>
          <p:cNvGrpSpPr/>
          <p:nvPr/>
        </p:nvGrpSpPr>
        <p:grpSpPr>
          <a:xfrm>
            <a:off x="12844800" y="8637480"/>
            <a:ext cx="4098960" cy="4003920"/>
            <a:chOff x="12844800" y="8637480"/>
            <a:chExt cx="4098960" cy="4003920"/>
          </a:xfrm>
        </p:grpSpPr>
        <p:sp>
          <p:nvSpPr>
            <p:cNvPr id="89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9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896" name="Group 17"/>
          <p:cNvGrpSpPr/>
          <p:nvPr/>
        </p:nvGrpSpPr>
        <p:grpSpPr>
          <a:xfrm>
            <a:off x="1352160" y="-2332080"/>
            <a:ext cx="4118040" cy="4021920"/>
            <a:chOff x="1352160" y="-2332080"/>
            <a:chExt cx="4118040" cy="4021920"/>
          </a:xfrm>
        </p:grpSpPr>
        <p:sp>
          <p:nvSpPr>
            <p:cNvPr id="89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89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899" name="Freeform 20"/>
          <p:cNvSpPr/>
          <p:nvPr/>
        </p:nvSpPr>
        <p:spPr>
          <a:xfrm>
            <a:off x="6761160" y="6984000"/>
            <a:ext cx="4348800" cy="2691000"/>
          </a:xfrm>
          <a:custGeom>
            <a:avLst/>
            <a:gdLst>
              <a:gd name="textAreaLeft" fmla="*/ 0 w 4348800"/>
              <a:gd name="textAreaRight" fmla="*/ 4351320 w 4348800"/>
              <a:gd name="textAreaTop" fmla="*/ 0 h 2691000"/>
              <a:gd name="textAreaBottom" fmla="*/ 2693520 h 2691000"/>
            </a:gdLst>
            <a:ahLst/>
            <a:rect l="textAreaLeft" t="textAreaTop" r="textAreaRight" b="textAreaBottom"/>
            <a:pathLst>
              <a:path w="4351268" h="2693642">
                <a:moveTo>
                  <a:pt x="0" y="0"/>
                </a:moveTo>
                <a:lnTo>
                  <a:pt x="4351268" y="0"/>
                </a:lnTo>
                <a:lnTo>
                  <a:pt x="4351268" y="2693642"/>
                </a:lnTo>
                <a:lnTo>
                  <a:pt x="0" y="2693642"/>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900" name="TextBox 21"/>
          <p:cNvSpPr/>
          <p:nvPr/>
        </p:nvSpPr>
        <p:spPr>
          <a:xfrm>
            <a:off x="2912760" y="3084840"/>
            <a:ext cx="13426200" cy="3554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Multi-valued attribute - If an attribute can have more than one value, it is known as a multi-valued attribute. Multi-valued attributes are depicted by the double ellipse. For example, a person can have more than one phone number, email-address, </a:t>
            </a:r>
            <a:endParaRPr b="0" lang="en-PH" sz="4000" spc="-1" strike="noStrike">
              <a:solidFill>
                <a:srgbClr val="000000"/>
              </a:solidFill>
              <a:latin typeface="Arial"/>
            </a:endParaRPr>
          </a:p>
        </p:txBody>
      </p:sp>
      <p:sp>
        <p:nvSpPr>
          <p:cNvPr id="901" name="TextBox 22"/>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ATTRIBUTES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02" name="Group 2"/>
          <p:cNvGrpSpPr/>
          <p:nvPr/>
        </p:nvGrpSpPr>
        <p:grpSpPr>
          <a:xfrm>
            <a:off x="-5321520" y="5285880"/>
            <a:ext cx="8988840" cy="8780760"/>
            <a:chOff x="-5321520" y="5285880"/>
            <a:chExt cx="8988840" cy="8780760"/>
          </a:xfrm>
        </p:grpSpPr>
        <p:sp>
          <p:nvSpPr>
            <p:cNvPr id="90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0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05" name="Group 5"/>
          <p:cNvGrpSpPr/>
          <p:nvPr/>
        </p:nvGrpSpPr>
        <p:grpSpPr>
          <a:xfrm>
            <a:off x="-1367280" y="9054360"/>
            <a:ext cx="4441320" cy="4338360"/>
            <a:chOff x="-1367280" y="9054360"/>
            <a:chExt cx="4441320" cy="4338360"/>
          </a:xfrm>
        </p:grpSpPr>
        <p:sp>
          <p:nvSpPr>
            <p:cNvPr id="90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0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08" name="Group 8"/>
          <p:cNvGrpSpPr/>
          <p:nvPr/>
        </p:nvGrpSpPr>
        <p:grpSpPr>
          <a:xfrm>
            <a:off x="15163920" y="-4197240"/>
            <a:ext cx="9577080" cy="9354960"/>
            <a:chOff x="15163920" y="-4197240"/>
            <a:chExt cx="9577080" cy="9354960"/>
          </a:xfrm>
        </p:grpSpPr>
        <p:sp>
          <p:nvSpPr>
            <p:cNvPr id="90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1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11" name="Group 11"/>
          <p:cNvGrpSpPr/>
          <p:nvPr/>
        </p:nvGrpSpPr>
        <p:grpSpPr>
          <a:xfrm>
            <a:off x="16032240" y="-3598920"/>
            <a:ext cx="4732200" cy="4622400"/>
            <a:chOff x="16032240" y="-3598920"/>
            <a:chExt cx="4732200" cy="4622400"/>
          </a:xfrm>
        </p:grpSpPr>
        <p:sp>
          <p:nvSpPr>
            <p:cNvPr id="91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1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14" name="Group 14"/>
          <p:cNvGrpSpPr/>
          <p:nvPr/>
        </p:nvGrpSpPr>
        <p:grpSpPr>
          <a:xfrm>
            <a:off x="12844800" y="8637480"/>
            <a:ext cx="4098960" cy="4003920"/>
            <a:chOff x="12844800" y="8637480"/>
            <a:chExt cx="4098960" cy="4003920"/>
          </a:xfrm>
        </p:grpSpPr>
        <p:sp>
          <p:nvSpPr>
            <p:cNvPr id="91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1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17" name="Group 17"/>
          <p:cNvGrpSpPr/>
          <p:nvPr/>
        </p:nvGrpSpPr>
        <p:grpSpPr>
          <a:xfrm>
            <a:off x="1352160" y="-2332080"/>
            <a:ext cx="4118040" cy="4021920"/>
            <a:chOff x="1352160" y="-2332080"/>
            <a:chExt cx="4118040" cy="4021920"/>
          </a:xfrm>
        </p:grpSpPr>
        <p:sp>
          <p:nvSpPr>
            <p:cNvPr id="91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1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920" name="TextBox 20"/>
          <p:cNvSpPr/>
          <p:nvPr/>
        </p:nvSpPr>
        <p:spPr>
          <a:xfrm>
            <a:off x="2912760" y="3084840"/>
            <a:ext cx="13426200" cy="4976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 </a:t>
            </a:r>
            <a:r>
              <a:rPr b="0" lang="en-US" sz="4000" spc="-1" strike="noStrike">
                <a:solidFill>
                  <a:srgbClr val="545454"/>
                </a:solidFill>
                <a:latin typeface="Open Sans"/>
                <a:ea typeface="Open Sans"/>
              </a:rPr>
              <a:t>Derived attribute - Derived attributes are the attribute that does not exist in the physical database, but their values are derived from other attributes present in the database. For example, age can be derived from date_of_birth. In the ER diagram, Derived attributes are depicted by the dashed ellipse. </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921" name="Freeform 21"/>
          <p:cNvSpPr/>
          <p:nvPr/>
        </p:nvSpPr>
        <p:spPr>
          <a:xfrm>
            <a:off x="7953840" y="7785000"/>
            <a:ext cx="2923200" cy="1957320"/>
          </a:xfrm>
          <a:custGeom>
            <a:avLst/>
            <a:gdLst>
              <a:gd name="textAreaLeft" fmla="*/ 0 w 2923200"/>
              <a:gd name="textAreaRight" fmla="*/ 2925720 w 2923200"/>
              <a:gd name="textAreaTop" fmla="*/ 0 h 1957320"/>
              <a:gd name="textAreaBottom" fmla="*/ 1959840 h 1957320"/>
            </a:gdLst>
            <a:ahLst/>
            <a:rect l="textAreaLeft" t="textAreaTop" r="textAreaRight" b="textAreaBottom"/>
            <a:pathLst>
              <a:path w="2925545" h="1959695">
                <a:moveTo>
                  <a:pt x="0" y="0"/>
                </a:moveTo>
                <a:lnTo>
                  <a:pt x="2925544" y="0"/>
                </a:lnTo>
                <a:lnTo>
                  <a:pt x="2925544" y="1959695"/>
                </a:lnTo>
                <a:lnTo>
                  <a:pt x="0" y="1959695"/>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922" name="TextBox 22"/>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ATTRIBUTES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23" name="Group 2"/>
          <p:cNvGrpSpPr/>
          <p:nvPr/>
        </p:nvGrpSpPr>
        <p:grpSpPr>
          <a:xfrm>
            <a:off x="-5321520" y="5285880"/>
            <a:ext cx="8988840" cy="8780760"/>
            <a:chOff x="-5321520" y="5285880"/>
            <a:chExt cx="8988840" cy="8780760"/>
          </a:xfrm>
        </p:grpSpPr>
        <p:sp>
          <p:nvSpPr>
            <p:cNvPr id="92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2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26" name="Group 5"/>
          <p:cNvGrpSpPr/>
          <p:nvPr/>
        </p:nvGrpSpPr>
        <p:grpSpPr>
          <a:xfrm>
            <a:off x="-1367280" y="9054360"/>
            <a:ext cx="4441320" cy="4338360"/>
            <a:chOff x="-1367280" y="9054360"/>
            <a:chExt cx="4441320" cy="4338360"/>
          </a:xfrm>
        </p:grpSpPr>
        <p:sp>
          <p:nvSpPr>
            <p:cNvPr id="92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2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29" name="Group 8"/>
          <p:cNvGrpSpPr/>
          <p:nvPr/>
        </p:nvGrpSpPr>
        <p:grpSpPr>
          <a:xfrm>
            <a:off x="15163920" y="-4197240"/>
            <a:ext cx="9577080" cy="9354960"/>
            <a:chOff x="15163920" y="-4197240"/>
            <a:chExt cx="9577080" cy="9354960"/>
          </a:xfrm>
        </p:grpSpPr>
        <p:sp>
          <p:nvSpPr>
            <p:cNvPr id="93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3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32" name="Group 11"/>
          <p:cNvGrpSpPr/>
          <p:nvPr/>
        </p:nvGrpSpPr>
        <p:grpSpPr>
          <a:xfrm>
            <a:off x="16032240" y="-3598920"/>
            <a:ext cx="4732200" cy="4622400"/>
            <a:chOff x="16032240" y="-3598920"/>
            <a:chExt cx="4732200" cy="4622400"/>
          </a:xfrm>
        </p:grpSpPr>
        <p:sp>
          <p:nvSpPr>
            <p:cNvPr id="93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3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35" name="Group 14"/>
          <p:cNvGrpSpPr/>
          <p:nvPr/>
        </p:nvGrpSpPr>
        <p:grpSpPr>
          <a:xfrm>
            <a:off x="12844800" y="8637480"/>
            <a:ext cx="4098960" cy="4003920"/>
            <a:chOff x="12844800" y="8637480"/>
            <a:chExt cx="4098960" cy="4003920"/>
          </a:xfrm>
        </p:grpSpPr>
        <p:sp>
          <p:nvSpPr>
            <p:cNvPr id="93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3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38" name="Group 17"/>
          <p:cNvGrpSpPr/>
          <p:nvPr/>
        </p:nvGrpSpPr>
        <p:grpSpPr>
          <a:xfrm>
            <a:off x="1352160" y="-2332080"/>
            <a:ext cx="4118040" cy="4021920"/>
            <a:chOff x="1352160" y="-2332080"/>
            <a:chExt cx="4118040" cy="4021920"/>
          </a:xfrm>
        </p:grpSpPr>
        <p:sp>
          <p:nvSpPr>
            <p:cNvPr id="93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4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941" name="Freeform 20"/>
          <p:cNvSpPr/>
          <p:nvPr/>
        </p:nvSpPr>
        <p:spPr>
          <a:xfrm>
            <a:off x="3669120" y="765720"/>
            <a:ext cx="11316960" cy="9049320"/>
          </a:xfrm>
          <a:custGeom>
            <a:avLst/>
            <a:gdLst>
              <a:gd name="textAreaLeft" fmla="*/ 0 w 11316960"/>
              <a:gd name="textAreaRight" fmla="*/ 11319480 w 11316960"/>
              <a:gd name="textAreaTop" fmla="*/ 0 h 9049320"/>
              <a:gd name="textAreaBottom" fmla="*/ 9051840 h 9049320"/>
            </a:gdLst>
            <a:ahLst/>
            <a:rect l="textAreaLeft" t="textAreaTop" r="textAreaRight" b="textAreaBottom"/>
            <a:pathLst>
              <a:path w="11319581" h="9051886">
                <a:moveTo>
                  <a:pt x="0" y="0"/>
                </a:moveTo>
                <a:lnTo>
                  <a:pt x="11319582" y="0"/>
                </a:lnTo>
                <a:lnTo>
                  <a:pt x="11319582" y="9051886"/>
                </a:lnTo>
                <a:lnTo>
                  <a:pt x="0" y="9051886"/>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42" name="Group 2"/>
          <p:cNvGrpSpPr/>
          <p:nvPr/>
        </p:nvGrpSpPr>
        <p:grpSpPr>
          <a:xfrm>
            <a:off x="-5321520" y="5285880"/>
            <a:ext cx="8988840" cy="8780760"/>
            <a:chOff x="-5321520" y="5285880"/>
            <a:chExt cx="8988840" cy="8780760"/>
          </a:xfrm>
        </p:grpSpPr>
        <p:sp>
          <p:nvSpPr>
            <p:cNvPr id="94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4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45" name="Group 5"/>
          <p:cNvGrpSpPr/>
          <p:nvPr/>
        </p:nvGrpSpPr>
        <p:grpSpPr>
          <a:xfrm>
            <a:off x="-1367280" y="9054360"/>
            <a:ext cx="4441320" cy="4338360"/>
            <a:chOff x="-1367280" y="9054360"/>
            <a:chExt cx="4441320" cy="4338360"/>
          </a:xfrm>
        </p:grpSpPr>
        <p:sp>
          <p:nvSpPr>
            <p:cNvPr id="94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4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48" name="Group 8"/>
          <p:cNvGrpSpPr/>
          <p:nvPr/>
        </p:nvGrpSpPr>
        <p:grpSpPr>
          <a:xfrm>
            <a:off x="15163920" y="-4197240"/>
            <a:ext cx="9577080" cy="9354960"/>
            <a:chOff x="15163920" y="-4197240"/>
            <a:chExt cx="9577080" cy="9354960"/>
          </a:xfrm>
        </p:grpSpPr>
        <p:sp>
          <p:nvSpPr>
            <p:cNvPr id="94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5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51" name="Group 11"/>
          <p:cNvGrpSpPr/>
          <p:nvPr/>
        </p:nvGrpSpPr>
        <p:grpSpPr>
          <a:xfrm>
            <a:off x="16032240" y="-3598920"/>
            <a:ext cx="4732200" cy="4622400"/>
            <a:chOff x="16032240" y="-3598920"/>
            <a:chExt cx="4732200" cy="4622400"/>
          </a:xfrm>
        </p:grpSpPr>
        <p:sp>
          <p:nvSpPr>
            <p:cNvPr id="95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5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54" name="Group 14"/>
          <p:cNvGrpSpPr/>
          <p:nvPr/>
        </p:nvGrpSpPr>
        <p:grpSpPr>
          <a:xfrm>
            <a:off x="12844800" y="8637480"/>
            <a:ext cx="4098960" cy="4003920"/>
            <a:chOff x="12844800" y="8637480"/>
            <a:chExt cx="4098960" cy="4003920"/>
          </a:xfrm>
        </p:grpSpPr>
        <p:sp>
          <p:nvSpPr>
            <p:cNvPr id="95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5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57" name="Group 17"/>
          <p:cNvGrpSpPr/>
          <p:nvPr/>
        </p:nvGrpSpPr>
        <p:grpSpPr>
          <a:xfrm>
            <a:off x="1352160" y="-2332080"/>
            <a:ext cx="4118040" cy="4021920"/>
            <a:chOff x="1352160" y="-2332080"/>
            <a:chExt cx="4118040" cy="4021920"/>
          </a:xfrm>
        </p:grpSpPr>
        <p:sp>
          <p:nvSpPr>
            <p:cNvPr id="95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5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960" name="TextBox 20"/>
          <p:cNvSpPr/>
          <p:nvPr/>
        </p:nvSpPr>
        <p:spPr>
          <a:xfrm>
            <a:off x="2912760" y="3084840"/>
            <a:ext cx="13426200" cy="3554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The association among entities is known as relationship. Relationships are represented by the diamond-shaped box. For example, an employee works_at a department, a student enrolls in a course. Here, Works_at and Enrolls are called relationships.</a:t>
            </a:r>
            <a:endParaRPr b="0" lang="en-PH" sz="4000" spc="-1" strike="noStrike">
              <a:solidFill>
                <a:srgbClr val="000000"/>
              </a:solidFill>
              <a:latin typeface="Arial"/>
            </a:endParaRPr>
          </a:p>
        </p:txBody>
      </p:sp>
      <p:sp>
        <p:nvSpPr>
          <p:cNvPr id="961" name="Freeform 21"/>
          <p:cNvSpPr/>
          <p:nvPr/>
        </p:nvSpPr>
        <p:spPr>
          <a:xfrm>
            <a:off x="3509280" y="7055280"/>
            <a:ext cx="11267280" cy="3064680"/>
          </a:xfrm>
          <a:custGeom>
            <a:avLst/>
            <a:gdLst>
              <a:gd name="textAreaLeft" fmla="*/ 0 w 11267280"/>
              <a:gd name="textAreaRight" fmla="*/ 11269800 w 11267280"/>
              <a:gd name="textAreaTop" fmla="*/ 0 h 3064680"/>
              <a:gd name="textAreaBottom" fmla="*/ 3067200 h 3064680"/>
            </a:gdLst>
            <a:ahLst/>
            <a:rect l="textAreaLeft" t="textAreaTop" r="textAreaRight" b="textAreaBottom"/>
            <a:pathLst>
              <a:path w="11269679" h="3067064">
                <a:moveTo>
                  <a:pt x="0" y="0"/>
                </a:moveTo>
                <a:lnTo>
                  <a:pt x="11269678" y="0"/>
                </a:lnTo>
                <a:lnTo>
                  <a:pt x="11269678" y="3067064"/>
                </a:lnTo>
                <a:lnTo>
                  <a:pt x="0" y="306706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962" name="TextBox 22"/>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RELATIONSHIP </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63" name="Group 2"/>
          <p:cNvGrpSpPr/>
          <p:nvPr/>
        </p:nvGrpSpPr>
        <p:grpSpPr>
          <a:xfrm>
            <a:off x="-5321520" y="5285880"/>
            <a:ext cx="8988840" cy="8780760"/>
            <a:chOff x="-5321520" y="5285880"/>
            <a:chExt cx="8988840" cy="8780760"/>
          </a:xfrm>
        </p:grpSpPr>
        <p:sp>
          <p:nvSpPr>
            <p:cNvPr id="96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6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66" name="Group 5"/>
          <p:cNvGrpSpPr/>
          <p:nvPr/>
        </p:nvGrpSpPr>
        <p:grpSpPr>
          <a:xfrm>
            <a:off x="-1367280" y="9054360"/>
            <a:ext cx="4441320" cy="4338360"/>
            <a:chOff x="-1367280" y="9054360"/>
            <a:chExt cx="4441320" cy="4338360"/>
          </a:xfrm>
        </p:grpSpPr>
        <p:sp>
          <p:nvSpPr>
            <p:cNvPr id="96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6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69" name="Group 8"/>
          <p:cNvGrpSpPr/>
          <p:nvPr/>
        </p:nvGrpSpPr>
        <p:grpSpPr>
          <a:xfrm>
            <a:off x="15163920" y="-4197240"/>
            <a:ext cx="9577080" cy="9354960"/>
            <a:chOff x="15163920" y="-4197240"/>
            <a:chExt cx="9577080" cy="9354960"/>
          </a:xfrm>
        </p:grpSpPr>
        <p:sp>
          <p:nvSpPr>
            <p:cNvPr id="97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7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72" name="Group 11"/>
          <p:cNvGrpSpPr/>
          <p:nvPr/>
        </p:nvGrpSpPr>
        <p:grpSpPr>
          <a:xfrm>
            <a:off x="16032240" y="-3598920"/>
            <a:ext cx="4732200" cy="4622400"/>
            <a:chOff x="16032240" y="-3598920"/>
            <a:chExt cx="4732200" cy="4622400"/>
          </a:xfrm>
        </p:grpSpPr>
        <p:sp>
          <p:nvSpPr>
            <p:cNvPr id="97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7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75" name="Group 14"/>
          <p:cNvGrpSpPr/>
          <p:nvPr/>
        </p:nvGrpSpPr>
        <p:grpSpPr>
          <a:xfrm>
            <a:off x="12844800" y="8637480"/>
            <a:ext cx="4098960" cy="4003920"/>
            <a:chOff x="12844800" y="8637480"/>
            <a:chExt cx="4098960" cy="4003920"/>
          </a:xfrm>
        </p:grpSpPr>
        <p:sp>
          <p:nvSpPr>
            <p:cNvPr id="97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7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78" name="Group 17"/>
          <p:cNvGrpSpPr/>
          <p:nvPr/>
        </p:nvGrpSpPr>
        <p:grpSpPr>
          <a:xfrm>
            <a:off x="1352160" y="-2332080"/>
            <a:ext cx="4118040" cy="4021920"/>
            <a:chOff x="1352160" y="-2332080"/>
            <a:chExt cx="4118040" cy="4021920"/>
          </a:xfrm>
        </p:grpSpPr>
        <p:sp>
          <p:nvSpPr>
            <p:cNvPr id="97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8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981" name="TextBox 20"/>
          <p:cNvSpPr/>
          <p:nvPr/>
        </p:nvSpPr>
        <p:spPr>
          <a:xfrm>
            <a:off x="2912760" y="3084840"/>
            <a:ext cx="13426200" cy="2843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A set of relationships of a similar type is known as a relationship set. Like entities, a relationship too can have attributes. These attributes are called descriptive attributes.</a:t>
            </a:r>
            <a:endParaRPr b="0" lang="en-PH" sz="4000" spc="-1" strike="noStrike">
              <a:solidFill>
                <a:srgbClr val="000000"/>
              </a:solidFill>
              <a:latin typeface="Arial"/>
            </a:endParaRPr>
          </a:p>
        </p:txBody>
      </p:sp>
      <p:sp>
        <p:nvSpPr>
          <p:cNvPr id="982"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RELATIONSHIP SET</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83" name="Group 2"/>
          <p:cNvGrpSpPr/>
          <p:nvPr/>
        </p:nvGrpSpPr>
        <p:grpSpPr>
          <a:xfrm>
            <a:off x="-5321520" y="5285880"/>
            <a:ext cx="8988840" cy="8780760"/>
            <a:chOff x="-5321520" y="5285880"/>
            <a:chExt cx="8988840" cy="8780760"/>
          </a:xfrm>
        </p:grpSpPr>
        <p:sp>
          <p:nvSpPr>
            <p:cNvPr id="98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8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86" name="Group 5"/>
          <p:cNvGrpSpPr/>
          <p:nvPr/>
        </p:nvGrpSpPr>
        <p:grpSpPr>
          <a:xfrm>
            <a:off x="-1367280" y="9054360"/>
            <a:ext cx="4441320" cy="4338360"/>
            <a:chOff x="-1367280" y="9054360"/>
            <a:chExt cx="4441320" cy="4338360"/>
          </a:xfrm>
        </p:grpSpPr>
        <p:sp>
          <p:nvSpPr>
            <p:cNvPr id="98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8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89" name="Group 8"/>
          <p:cNvGrpSpPr/>
          <p:nvPr/>
        </p:nvGrpSpPr>
        <p:grpSpPr>
          <a:xfrm>
            <a:off x="15163920" y="-4197240"/>
            <a:ext cx="9577080" cy="9354960"/>
            <a:chOff x="15163920" y="-4197240"/>
            <a:chExt cx="9577080" cy="9354960"/>
          </a:xfrm>
        </p:grpSpPr>
        <p:sp>
          <p:nvSpPr>
            <p:cNvPr id="99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9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92" name="Group 11"/>
          <p:cNvGrpSpPr/>
          <p:nvPr/>
        </p:nvGrpSpPr>
        <p:grpSpPr>
          <a:xfrm>
            <a:off x="16032240" y="-3598920"/>
            <a:ext cx="4732200" cy="4622400"/>
            <a:chOff x="16032240" y="-3598920"/>
            <a:chExt cx="4732200" cy="4622400"/>
          </a:xfrm>
        </p:grpSpPr>
        <p:sp>
          <p:nvSpPr>
            <p:cNvPr id="99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9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95" name="Group 14"/>
          <p:cNvGrpSpPr/>
          <p:nvPr/>
        </p:nvGrpSpPr>
        <p:grpSpPr>
          <a:xfrm>
            <a:off x="12844800" y="8637480"/>
            <a:ext cx="4098960" cy="4003920"/>
            <a:chOff x="12844800" y="8637480"/>
            <a:chExt cx="4098960" cy="4003920"/>
          </a:xfrm>
        </p:grpSpPr>
        <p:sp>
          <p:nvSpPr>
            <p:cNvPr id="99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99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998" name="Group 17"/>
          <p:cNvGrpSpPr/>
          <p:nvPr/>
        </p:nvGrpSpPr>
        <p:grpSpPr>
          <a:xfrm>
            <a:off x="1352160" y="-2332080"/>
            <a:ext cx="4118040" cy="4021920"/>
            <a:chOff x="1352160" y="-2332080"/>
            <a:chExt cx="4118040" cy="4021920"/>
          </a:xfrm>
        </p:grpSpPr>
        <p:sp>
          <p:nvSpPr>
            <p:cNvPr id="99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0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01" name="TextBox 20"/>
          <p:cNvSpPr/>
          <p:nvPr/>
        </p:nvSpPr>
        <p:spPr>
          <a:xfrm>
            <a:off x="2847600" y="4006440"/>
            <a:ext cx="13426200" cy="2132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The number of participating entities in a relationship describes the degree of the relationship. The three most common relationships in E-R models are:</a:t>
            </a:r>
            <a:endParaRPr b="0" lang="en-PH" sz="4000" spc="-1" strike="noStrike">
              <a:solidFill>
                <a:srgbClr val="000000"/>
              </a:solidFill>
              <a:latin typeface="Arial"/>
            </a:endParaRPr>
          </a:p>
        </p:txBody>
      </p:sp>
      <p:sp>
        <p:nvSpPr>
          <p:cNvPr id="1002" name="TextBox 21"/>
          <p:cNvSpPr/>
          <p:nvPr/>
        </p:nvSpPr>
        <p:spPr>
          <a:xfrm>
            <a:off x="1703880" y="1324080"/>
            <a:ext cx="1446300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DEGREE OF A RELATIONSHIP SET</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03" name="Group 2"/>
          <p:cNvGrpSpPr/>
          <p:nvPr/>
        </p:nvGrpSpPr>
        <p:grpSpPr>
          <a:xfrm>
            <a:off x="-5321520" y="5285880"/>
            <a:ext cx="8988840" cy="8780760"/>
            <a:chOff x="-5321520" y="5285880"/>
            <a:chExt cx="8988840" cy="8780760"/>
          </a:xfrm>
        </p:grpSpPr>
        <p:sp>
          <p:nvSpPr>
            <p:cNvPr id="1004"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05"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06" name="Group 5"/>
          <p:cNvGrpSpPr/>
          <p:nvPr/>
        </p:nvGrpSpPr>
        <p:grpSpPr>
          <a:xfrm>
            <a:off x="-1367280" y="9054360"/>
            <a:ext cx="4441320" cy="4338360"/>
            <a:chOff x="-1367280" y="9054360"/>
            <a:chExt cx="4441320" cy="4338360"/>
          </a:xfrm>
        </p:grpSpPr>
        <p:sp>
          <p:nvSpPr>
            <p:cNvPr id="1007"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08"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09" name="Group 8"/>
          <p:cNvGrpSpPr/>
          <p:nvPr/>
        </p:nvGrpSpPr>
        <p:grpSpPr>
          <a:xfrm>
            <a:off x="15163920" y="-4197240"/>
            <a:ext cx="9577080" cy="9354960"/>
            <a:chOff x="15163920" y="-4197240"/>
            <a:chExt cx="9577080" cy="9354960"/>
          </a:xfrm>
        </p:grpSpPr>
        <p:sp>
          <p:nvSpPr>
            <p:cNvPr id="1010"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11"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12" name="Group 11"/>
          <p:cNvGrpSpPr/>
          <p:nvPr/>
        </p:nvGrpSpPr>
        <p:grpSpPr>
          <a:xfrm>
            <a:off x="16032240" y="-3598920"/>
            <a:ext cx="4732200" cy="4622400"/>
            <a:chOff x="16032240" y="-3598920"/>
            <a:chExt cx="4732200" cy="4622400"/>
          </a:xfrm>
        </p:grpSpPr>
        <p:sp>
          <p:nvSpPr>
            <p:cNvPr id="1013"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14"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15" name="Group 14"/>
          <p:cNvGrpSpPr/>
          <p:nvPr/>
        </p:nvGrpSpPr>
        <p:grpSpPr>
          <a:xfrm>
            <a:off x="12844800" y="8637480"/>
            <a:ext cx="4098960" cy="4003920"/>
            <a:chOff x="12844800" y="8637480"/>
            <a:chExt cx="4098960" cy="4003920"/>
          </a:xfrm>
        </p:grpSpPr>
        <p:sp>
          <p:nvSpPr>
            <p:cNvPr id="1016"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17"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18" name="Group 17"/>
          <p:cNvGrpSpPr/>
          <p:nvPr/>
        </p:nvGrpSpPr>
        <p:grpSpPr>
          <a:xfrm>
            <a:off x="1352160" y="-2332080"/>
            <a:ext cx="4118040" cy="4021920"/>
            <a:chOff x="1352160" y="-2332080"/>
            <a:chExt cx="4118040" cy="4021920"/>
          </a:xfrm>
        </p:grpSpPr>
        <p:sp>
          <p:nvSpPr>
            <p:cNvPr id="1019"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20"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21" name="Freeform 20"/>
          <p:cNvSpPr/>
          <p:nvPr/>
        </p:nvSpPr>
        <p:spPr>
          <a:xfrm>
            <a:off x="5834520" y="7488360"/>
            <a:ext cx="6616800" cy="2550600"/>
          </a:xfrm>
          <a:custGeom>
            <a:avLst/>
            <a:gdLst>
              <a:gd name="textAreaLeft" fmla="*/ 0 w 6616800"/>
              <a:gd name="textAreaRight" fmla="*/ 6619320 w 6616800"/>
              <a:gd name="textAreaTop" fmla="*/ 0 h 2550600"/>
              <a:gd name="textAreaBottom" fmla="*/ 2553120 h 2550600"/>
            </a:gdLst>
            <a:ahLst/>
            <a:rect l="textAreaLeft" t="textAreaTop" r="textAreaRight" b="textAreaBottom"/>
            <a:pathLst>
              <a:path w="6619223" h="2553129">
                <a:moveTo>
                  <a:pt x="0" y="0"/>
                </a:moveTo>
                <a:lnTo>
                  <a:pt x="6619222" y="0"/>
                </a:lnTo>
                <a:lnTo>
                  <a:pt x="6619222" y="2553128"/>
                </a:lnTo>
                <a:lnTo>
                  <a:pt x="0" y="255312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022" name="TextBox 21"/>
          <p:cNvSpPr/>
          <p:nvPr/>
        </p:nvSpPr>
        <p:spPr>
          <a:xfrm>
            <a:off x="2847600" y="4006440"/>
            <a:ext cx="13426200" cy="2132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This is also called recursive relationships. It is a relationship between the instances of one entity type. For example, one person is married to only one person.</a:t>
            </a:r>
            <a:endParaRPr b="0" lang="en-PH" sz="4000" spc="-1" strike="noStrike">
              <a:solidFill>
                <a:srgbClr val="000000"/>
              </a:solidFill>
              <a:latin typeface="Arial"/>
            </a:endParaRPr>
          </a:p>
        </p:txBody>
      </p:sp>
      <p:sp>
        <p:nvSpPr>
          <p:cNvPr id="1023" name="TextBox 22"/>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UNARY (DEGREE1)</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24" name="Group 2"/>
          <p:cNvGrpSpPr/>
          <p:nvPr/>
        </p:nvGrpSpPr>
        <p:grpSpPr>
          <a:xfrm>
            <a:off x="-5321520" y="5285880"/>
            <a:ext cx="8988840" cy="8780760"/>
            <a:chOff x="-5321520" y="5285880"/>
            <a:chExt cx="8988840" cy="8780760"/>
          </a:xfrm>
        </p:grpSpPr>
        <p:sp>
          <p:nvSpPr>
            <p:cNvPr id="102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2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27" name="Group 5"/>
          <p:cNvGrpSpPr/>
          <p:nvPr/>
        </p:nvGrpSpPr>
        <p:grpSpPr>
          <a:xfrm>
            <a:off x="-1367280" y="9054360"/>
            <a:ext cx="4441320" cy="4338360"/>
            <a:chOff x="-1367280" y="9054360"/>
            <a:chExt cx="4441320" cy="4338360"/>
          </a:xfrm>
        </p:grpSpPr>
        <p:sp>
          <p:nvSpPr>
            <p:cNvPr id="102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2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30" name="Group 8"/>
          <p:cNvGrpSpPr/>
          <p:nvPr/>
        </p:nvGrpSpPr>
        <p:grpSpPr>
          <a:xfrm>
            <a:off x="15163920" y="-4197240"/>
            <a:ext cx="9577080" cy="9354960"/>
            <a:chOff x="15163920" y="-4197240"/>
            <a:chExt cx="9577080" cy="9354960"/>
          </a:xfrm>
        </p:grpSpPr>
        <p:sp>
          <p:nvSpPr>
            <p:cNvPr id="103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3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33" name="Group 11"/>
          <p:cNvGrpSpPr/>
          <p:nvPr/>
        </p:nvGrpSpPr>
        <p:grpSpPr>
          <a:xfrm>
            <a:off x="16032240" y="-3598920"/>
            <a:ext cx="4732200" cy="4622400"/>
            <a:chOff x="16032240" y="-3598920"/>
            <a:chExt cx="4732200" cy="4622400"/>
          </a:xfrm>
        </p:grpSpPr>
        <p:sp>
          <p:nvSpPr>
            <p:cNvPr id="103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3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36" name="Group 14"/>
          <p:cNvGrpSpPr/>
          <p:nvPr/>
        </p:nvGrpSpPr>
        <p:grpSpPr>
          <a:xfrm>
            <a:off x="12844800" y="8637480"/>
            <a:ext cx="4098960" cy="4003920"/>
            <a:chOff x="12844800" y="8637480"/>
            <a:chExt cx="4098960" cy="4003920"/>
          </a:xfrm>
        </p:grpSpPr>
        <p:sp>
          <p:nvSpPr>
            <p:cNvPr id="103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3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39" name="Group 17"/>
          <p:cNvGrpSpPr/>
          <p:nvPr/>
        </p:nvGrpSpPr>
        <p:grpSpPr>
          <a:xfrm>
            <a:off x="1352160" y="-2332080"/>
            <a:ext cx="4118040" cy="4021920"/>
            <a:chOff x="1352160" y="-2332080"/>
            <a:chExt cx="4118040" cy="4021920"/>
          </a:xfrm>
        </p:grpSpPr>
        <p:sp>
          <p:nvSpPr>
            <p:cNvPr id="104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4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42" name="TextBox 20"/>
          <p:cNvSpPr/>
          <p:nvPr/>
        </p:nvSpPr>
        <p:spPr>
          <a:xfrm>
            <a:off x="2847600" y="4006440"/>
            <a:ext cx="13426200" cy="2132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It is a relationship between the instances of two entity types. For example, the Teacher teaches the subject.</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043" name="Freeform 21"/>
          <p:cNvSpPr/>
          <p:nvPr/>
        </p:nvSpPr>
        <p:spPr>
          <a:xfrm>
            <a:off x="4235760" y="6665040"/>
            <a:ext cx="10041480" cy="2590920"/>
          </a:xfrm>
          <a:custGeom>
            <a:avLst/>
            <a:gdLst>
              <a:gd name="textAreaLeft" fmla="*/ 0 w 10041480"/>
              <a:gd name="textAreaRight" fmla="*/ 10044000 w 10041480"/>
              <a:gd name="textAreaTop" fmla="*/ 0 h 2590920"/>
              <a:gd name="textAreaBottom" fmla="*/ 2593440 h 2590920"/>
            </a:gdLst>
            <a:ahLst/>
            <a:rect l="textAreaLeft" t="textAreaTop" r="textAreaRight" b="textAreaBottom"/>
            <a:pathLst>
              <a:path w="10043999" h="2593418">
                <a:moveTo>
                  <a:pt x="0" y="0"/>
                </a:moveTo>
                <a:lnTo>
                  <a:pt x="10043999" y="0"/>
                </a:lnTo>
                <a:lnTo>
                  <a:pt x="10043999" y="2593418"/>
                </a:lnTo>
                <a:lnTo>
                  <a:pt x="0" y="259341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044" name="TextBox 22"/>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BINARY (DEGREE2)</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45" name="Group 2"/>
          <p:cNvGrpSpPr/>
          <p:nvPr/>
        </p:nvGrpSpPr>
        <p:grpSpPr>
          <a:xfrm>
            <a:off x="-5321520" y="5285880"/>
            <a:ext cx="8988840" cy="8780760"/>
            <a:chOff x="-5321520" y="5285880"/>
            <a:chExt cx="8988840" cy="8780760"/>
          </a:xfrm>
        </p:grpSpPr>
        <p:sp>
          <p:nvSpPr>
            <p:cNvPr id="1046"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47"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48" name="Group 5"/>
          <p:cNvGrpSpPr/>
          <p:nvPr/>
        </p:nvGrpSpPr>
        <p:grpSpPr>
          <a:xfrm>
            <a:off x="-1367280" y="9054360"/>
            <a:ext cx="4441320" cy="4338360"/>
            <a:chOff x="-1367280" y="9054360"/>
            <a:chExt cx="4441320" cy="4338360"/>
          </a:xfrm>
        </p:grpSpPr>
        <p:sp>
          <p:nvSpPr>
            <p:cNvPr id="1049"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50"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51" name="Group 8"/>
          <p:cNvGrpSpPr/>
          <p:nvPr/>
        </p:nvGrpSpPr>
        <p:grpSpPr>
          <a:xfrm>
            <a:off x="15163920" y="-4197240"/>
            <a:ext cx="9577080" cy="9354960"/>
            <a:chOff x="15163920" y="-4197240"/>
            <a:chExt cx="9577080" cy="9354960"/>
          </a:xfrm>
        </p:grpSpPr>
        <p:sp>
          <p:nvSpPr>
            <p:cNvPr id="1052"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53"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54" name="Group 11"/>
          <p:cNvGrpSpPr/>
          <p:nvPr/>
        </p:nvGrpSpPr>
        <p:grpSpPr>
          <a:xfrm>
            <a:off x="16032240" y="-3598920"/>
            <a:ext cx="4732200" cy="4622400"/>
            <a:chOff x="16032240" y="-3598920"/>
            <a:chExt cx="4732200" cy="4622400"/>
          </a:xfrm>
        </p:grpSpPr>
        <p:sp>
          <p:nvSpPr>
            <p:cNvPr id="1055"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56"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57" name="Group 14"/>
          <p:cNvGrpSpPr/>
          <p:nvPr/>
        </p:nvGrpSpPr>
        <p:grpSpPr>
          <a:xfrm>
            <a:off x="12844800" y="8637480"/>
            <a:ext cx="4098960" cy="4003920"/>
            <a:chOff x="12844800" y="8637480"/>
            <a:chExt cx="4098960" cy="4003920"/>
          </a:xfrm>
        </p:grpSpPr>
        <p:sp>
          <p:nvSpPr>
            <p:cNvPr id="1058"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59"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60" name="Group 17"/>
          <p:cNvGrpSpPr/>
          <p:nvPr/>
        </p:nvGrpSpPr>
        <p:grpSpPr>
          <a:xfrm>
            <a:off x="1352160" y="-2332080"/>
            <a:ext cx="4118040" cy="4021920"/>
            <a:chOff x="1352160" y="-2332080"/>
            <a:chExt cx="4118040" cy="4021920"/>
          </a:xfrm>
        </p:grpSpPr>
        <p:sp>
          <p:nvSpPr>
            <p:cNvPr id="1061"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62"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63" name="TextBox 20"/>
          <p:cNvSpPr/>
          <p:nvPr/>
        </p:nvSpPr>
        <p:spPr>
          <a:xfrm>
            <a:off x="2543400" y="3003480"/>
            <a:ext cx="13426200" cy="4265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It is a relationship amongst instances of three entity types. In fig, the relationships "may have" provide the association of three entities, i.e., TEACHER, STUDENT, and SUBJECT. All three entities are many-to-many participants. There may be one or many participants in a ternary relationship.</a:t>
            </a:r>
            <a:endParaRPr b="0" lang="en-PH" sz="4000" spc="-1" strike="noStrike">
              <a:solidFill>
                <a:srgbClr val="000000"/>
              </a:solidFill>
              <a:latin typeface="Arial"/>
            </a:endParaRPr>
          </a:p>
        </p:txBody>
      </p:sp>
      <p:sp>
        <p:nvSpPr>
          <p:cNvPr id="1064"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TERNARY (DEGREE3) </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65" name="Group 2"/>
          <p:cNvGrpSpPr/>
          <p:nvPr/>
        </p:nvGrpSpPr>
        <p:grpSpPr>
          <a:xfrm>
            <a:off x="-5321520" y="5285880"/>
            <a:ext cx="8988840" cy="8780760"/>
            <a:chOff x="-5321520" y="5285880"/>
            <a:chExt cx="8988840" cy="8780760"/>
          </a:xfrm>
        </p:grpSpPr>
        <p:sp>
          <p:nvSpPr>
            <p:cNvPr id="1066"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67"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68" name="Group 5"/>
          <p:cNvGrpSpPr/>
          <p:nvPr/>
        </p:nvGrpSpPr>
        <p:grpSpPr>
          <a:xfrm>
            <a:off x="-1367280" y="9054360"/>
            <a:ext cx="4441320" cy="4338360"/>
            <a:chOff x="-1367280" y="9054360"/>
            <a:chExt cx="4441320" cy="4338360"/>
          </a:xfrm>
        </p:grpSpPr>
        <p:sp>
          <p:nvSpPr>
            <p:cNvPr id="1069"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70"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71" name="Group 8"/>
          <p:cNvGrpSpPr/>
          <p:nvPr/>
        </p:nvGrpSpPr>
        <p:grpSpPr>
          <a:xfrm>
            <a:off x="15163920" y="-4197240"/>
            <a:ext cx="9577080" cy="9354960"/>
            <a:chOff x="15163920" y="-4197240"/>
            <a:chExt cx="9577080" cy="9354960"/>
          </a:xfrm>
        </p:grpSpPr>
        <p:sp>
          <p:nvSpPr>
            <p:cNvPr id="1072"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73"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74" name="Group 11"/>
          <p:cNvGrpSpPr/>
          <p:nvPr/>
        </p:nvGrpSpPr>
        <p:grpSpPr>
          <a:xfrm>
            <a:off x="16032240" y="-3598920"/>
            <a:ext cx="4732200" cy="4622400"/>
            <a:chOff x="16032240" y="-3598920"/>
            <a:chExt cx="4732200" cy="4622400"/>
          </a:xfrm>
        </p:grpSpPr>
        <p:sp>
          <p:nvSpPr>
            <p:cNvPr id="1075"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76"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77" name="Group 14"/>
          <p:cNvGrpSpPr/>
          <p:nvPr/>
        </p:nvGrpSpPr>
        <p:grpSpPr>
          <a:xfrm>
            <a:off x="12844800" y="8637480"/>
            <a:ext cx="4098960" cy="4003920"/>
            <a:chOff x="12844800" y="8637480"/>
            <a:chExt cx="4098960" cy="4003920"/>
          </a:xfrm>
        </p:grpSpPr>
        <p:sp>
          <p:nvSpPr>
            <p:cNvPr id="1078"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79"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80" name="Group 17"/>
          <p:cNvGrpSpPr/>
          <p:nvPr/>
        </p:nvGrpSpPr>
        <p:grpSpPr>
          <a:xfrm>
            <a:off x="1352160" y="-2332080"/>
            <a:ext cx="4118040" cy="4021920"/>
            <a:chOff x="1352160" y="-2332080"/>
            <a:chExt cx="4118040" cy="4021920"/>
          </a:xfrm>
        </p:grpSpPr>
        <p:sp>
          <p:nvSpPr>
            <p:cNvPr id="1081"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82"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083" name="Freeform 20"/>
          <p:cNvSpPr/>
          <p:nvPr/>
        </p:nvSpPr>
        <p:spPr>
          <a:xfrm>
            <a:off x="2970720" y="1568520"/>
            <a:ext cx="12830760" cy="7429680"/>
          </a:xfrm>
          <a:custGeom>
            <a:avLst/>
            <a:gdLst>
              <a:gd name="textAreaLeft" fmla="*/ 0 w 12830760"/>
              <a:gd name="textAreaRight" fmla="*/ 12833280 w 12830760"/>
              <a:gd name="textAreaTop" fmla="*/ 0 h 7429680"/>
              <a:gd name="textAreaBottom" fmla="*/ 7432200 h 7429680"/>
            </a:gdLst>
            <a:ahLst/>
            <a:rect l="textAreaLeft" t="textAreaTop" r="textAreaRight" b="textAreaBottom"/>
            <a:pathLst>
              <a:path w="12833271" h="7432138">
                <a:moveTo>
                  <a:pt x="0" y="0"/>
                </a:moveTo>
                <a:lnTo>
                  <a:pt x="12833272" y="0"/>
                </a:lnTo>
                <a:lnTo>
                  <a:pt x="12833272" y="7432138"/>
                </a:lnTo>
                <a:lnTo>
                  <a:pt x="0" y="74321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084" name="Group 2"/>
          <p:cNvGrpSpPr/>
          <p:nvPr/>
        </p:nvGrpSpPr>
        <p:grpSpPr>
          <a:xfrm>
            <a:off x="-5321520" y="5285880"/>
            <a:ext cx="8988840" cy="8780760"/>
            <a:chOff x="-5321520" y="5285880"/>
            <a:chExt cx="8988840" cy="8780760"/>
          </a:xfrm>
        </p:grpSpPr>
        <p:sp>
          <p:nvSpPr>
            <p:cNvPr id="108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8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87" name="Group 5"/>
          <p:cNvGrpSpPr/>
          <p:nvPr/>
        </p:nvGrpSpPr>
        <p:grpSpPr>
          <a:xfrm>
            <a:off x="-1367280" y="9054360"/>
            <a:ext cx="4441320" cy="4338360"/>
            <a:chOff x="-1367280" y="9054360"/>
            <a:chExt cx="4441320" cy="4338360"/>
          </a:xfrm>
        </p:grpSpPr>
        <p:sp>
          <p:nvSpPr>
            <p:cNvPr id="108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8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90" name="Group 8"/>
          <p:cNvGrpSpPr/>
          <p:nvPr/>
        </p:nvGrpSpPr>
        <p:grpSpPr>
          <a:xfrm>
            <a:off x="15163920" y="-4197240"/>
            <a:ext cx="9577080" cy="9354960"/>
            <a:chOff x="15163920" y="-4197240"/>
            <a:chExt cx="9577080" cy="9354960"/>
          </a:xfrm>
        </p:grpSpPr>
        <p:sp>
          <p:nvSpPr>
            <p:cNvPr id="109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9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93" name="Group 11"/>
          <p:cNvGrpSpPr/>
          <p:nvPr/>
        </p:nvGrpSpPr>
        <p:grpSpPr>
          <a:xfrm>
            <a:off x="16032240" y="-3598920"/>
            <a:ext cx="4732200" cy="4622400"/>
            <a:chOff x="16032240" y="-3598920"/>
            <a:chExt cx="4732200" cy="4622400"/>
          </a:xfrm>
        </p:grpSpPr>
        <p:sp>
          <p:nvSpPr>
            <p:cNvPr id="109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9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96" name="Group 14"/>
          <p:cNvGrpSpPr/>
          <p:nvPr/>
        </p:nvGrpSpPr>
        <p:grpSpPr>
          <a:xfrm>
            <a:off x="12844800" y="8637480"/>
            <a:ext cx="4098960" cy="4003920"/>
            <a:chOff x="12844800" y="8637480"/>
            <a:chExt cx="4098960" cy="4003920"/>
          </a:xfrm>
        </p:grpSpPr>
        <p:sp>
          <p:nvSpPr>
            <p:cNvPr id="109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09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099" name="Group 17"/>
          <p:cNvGrpSpPr/>
          <p:nvPr/>
        </p:nvGrpSpPr>
        <p:grpSpPr>
          <a:xfrm>
            <a:off x="1352160" y="-2332080"/>
            <a:ext cx="4118040" cy="4021920"/>
            <a:chOff x="1352160" y="-2332080"/>
            <a:chExt cx="4118040" cy="4021920"/>
          </a:xfrm>
        </p:grpSpPr>
        <p:sp>
          <p:nvSpPr>
            <p:cNvPr id="110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0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102" name="TextBox 20"/>
          <p:cNvSpPr/>
          <p:nvPr/>
        </p:nvSpPr>
        <p:spPr>
          <a:xfrm>
            <a:off x="2543400" y="3003480"/>
            <a:ext cx="13426200" cy="2843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Cardinality describes the number of entities in one entity set, which can be associated with the number of entities of other sets via relationship set.</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103"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CARDINALITY</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04" name="Group 2"/>
          <p:cNvGrpSpPr/>
          <p:nvPr/>
        </p:nvGrpSpPr>
        <p:grpSpPr>
          <a:xfrm>
            <a:off x="-5321520" y="5285880"/>
            <a:ext cx="8988840" cy="8780760"/>
            <a:chOff x="-5321520" y="5285880"/>
            <a:chExt cx="8988840" cy="8780760"/>
          </a:xfrm>
        </p:grpSpPr>
        <p:sp>
          <p:nvSpPr>
            <p:cNvPr id="110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0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07" name="Group 5"/>
          <p:cNvGrpSpPr/>
          <p:nvPr/>
        </p:nvGrpSpPr>
        <p:grpSpPr>
          <a:xfrm>
            <a:off x="-1367280" y="9054360"/>
            <a:ext cx="4441320" cy="4338360"/>
            <a:chOff x="-1367280" y="9054360"/>
            <a:chExt cx="4441320" cy="4338360"/>
          </a:xfrm>
        </p:grpSpPr>
        <p:sp>
          <p:nvSpPr>
            <p:cNvPr id="110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0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10" name="Group 8"/>
          <p:cNvGrpSpPr/>
          <p:nvPr/>
        </p:nvGrpSpPr>
        <p:grpSpPr>
          <a:xfrm>
            <a:off x="15163920" y="-4197240"/>
            <a:ext cx="9577080" cy="9354960"/>
            <a:chOff x="15163920" y="-4197240"/>
            <a:chExt cx="9577080" cy="9354960"/>
          </a:xfrm>
        </p:grpSpPr>
        <p:sp>
          <p:nvSpPr>
            <p:cNvPr id="111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1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13" name="Group 11"/>
          <p:cNvGrpSpPr/>
          <p:nvPr/>
        </p:nvGrpSpPr>
        <p:grpSpPr>
          <a:xfrm>
            <a:off x="16032240" y="-3598920"/>
            <a:ext cx="4732200" cy="4622400"/>
            <a:chOff x="16032240" y="-3598920"/>
            <a:chExt cx="4732200" cy="4622400"/>
          </a:xfrm>
        </p:grpSpPr>
        <p:sp>
          <p:nvSpPr>
            <p:cNvPr id="111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1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16" name="Group 14"/>
          <p:cNvGrpSpPr/>
          <p:nvPr/>
        </p:nvGrpSpPr>
        <p:grpSpPr>
          <a:xfrm>
            <a:off x="12844800" y="8637480"/>
            <a:ext cx="4098960" cy="4003920"/>
            <a:chOff x="12844800" y="8637480"/>
            <a:chExt cx="4098960" cy="4003920"/>
          </a:xfrm>
        </p:grpSpPr>
        <p:sp>
          <p:nvSpPr>
            <p:cNvPr id="111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1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19" name="Group 17"/>
          <p:cNvGrpSpPr/>
          <p:nvPr/>
        </p:nvGrpSpPr>
        <p:grpSpPr>
          <a:xfrm>
            <a:off x="1352160" y="-2332080"/>
            <a:ext cx="4118040" cy="4021920"/>
            <a:chOff x="1352160" y="-2332080"/>
            <a:chExt cx="4118040" cy="4021920"/>
          </a:xfrm>
        </p:grpSpPr>
        <p:sp>
          <p:nvSpPr>
            <p:cNvPr id="112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2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122" name="TextBox 20"/>
          <p:cNvSpPr/>
          <p:nvPr/>
        </p:nvSpPr>
        <p:spPr>
          <a:xfrm>
            <a:off x="2429640" y="3642840"/>
            <a:ext cx="13426200" cy="3554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1" lang="en-US" sz="4000" spc="-1" strike="noStrike">
                <a:solidFill>
                  <a:srgbClr val="545454"/>
                </a:solidFill>
                <a:latin typeface="Open Sans Bold"/>
                <a:ea typeface="Open Sans Bold"/>
              </a:rPr>
              <a:t>One to One:</a:t>
            </a:r>
            <a:r>
              <a:rPr b="0" lang="en-US" sz="4000" spc="-1" strike="noStrike">
                <a:solidFill>
                  <a:srgbClr val="545454"/>
                </a:solidFill>
                <a:latin typeface="Open Sans"/>
                <a:ea typeface="Open Sans"/>
              </a:rPr>
              <a:t> One entity from entity set A can be contained with at most one entity of entity set B and vice versa. Let us assume that each student has only one student ID, and each student ID is assigned to only one person. So, the relationship will be one to one.</a:t>
            </a:r>
            <a:endParaRPr b="0" lang="en-PH" sz="4000" spc="-1" strike="noStrike">
              <a:solidFill>
                <a:srgbClr val="000000"/>
              </a:solidFill>
              <a:latin typeface="Arial"/>
            </a:endParaRPr>
          </a:p>
        </p:txBody>
      </p:sp>
      <p:sp>
        <p:nvSpPr>
          <p:cNvPr id="1123" name="Freeform 21"/>
          <p:cNvSpPr/>
          <p:nvPr/>
        </p:nvSpPr>
        <p:spPr>
          <a:xfrm>
            <a:off x="3800880" y="7742160"/>
            <a:ext cx="10911600" cy="2043000"/>
          </a:xfrm>
          <a:custGeom>
            <a:avLst/>
            <a:gdLst>
              <a:gd name="textAreaLeft" fmla="*/ 0 w 10911600"/>
              <a:gd name="textAreaRight" fmla="*/ 10914120 w 10911600"/>
              <a:gd name="textAreaTop" fmla="*/ 0 h 2043000"/>
              <a:gd name="textAreaBottom" fmla="*/ 2045520 h 2043000"/>
            </a:gdLst>
            <a:ahLst/>
            <a:rect l="textAreaLeft" t="textAreaTop" r="textAreaRight" b="textAreaBottom"/>
            <a:pathLst>
              <a:path w="10914075" h="2045390">
                <a:moveTo>
                  <a:pt x="0" y="0"/>
                </a:moveTo>
                <a:lnTo>
                  <a:pt x="10914074" y="0"/>
                </a:lnTo>
                <a:lnTo>
                  <a:pt x="10914074" y="2045390"/>
                </a:lnTo>
                <a:lnTo>
                  <a:pt x="0" y="204539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124" name="TextBox 22"/>
          <p:cNvSpPr/>
          <p:nvPr/>
        </p:nvSpPr>
        <p:spPr>
          <a:xfrm>
            <a:off x="1703880" y="1324080"/>
            <a:ext cx="1446300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CARDINALITIES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25" name="Group 2"/>
          <p:cNvGrpSpPr/>
          <p:nvPr/>
        </p:nvGrpSpPr>
        <p:grpSpPr>
          <a:xfrm>
            <a:off x="-5321520" y="5285880"/>
            <a:ext cx="8988840" cy="8780760"/>
            <a:chOff x="-5321520" y="5285880"/>
            <a:chExt cx="8988840" cy="8780760"/>
          </a:xfrm>
        </p:grpSpPr>
        <p:sp>
          <p:nvSpPr>
            <p:cNvPr id="1126"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27"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28" name="Group 5"/>
          <p:cNvGrpSpPr/>
          <p:nvPr/>
        </p:nvGrpSpPr>
        <p:grpSpPr>
          <a:xfrm>
            <a:off x="-1367280" y="9054360"/>
            <a:ext cx="4441320" cy="4338360"/>
            <a:chOff x="-1367280" y="9054360"/>
            <a:chExt cx="4441320" cy="4338360"/>
          </a:xfrm>
        </p:grpSpPr>
        <p:sp>
          <p:nvSpPr>
            <p:cNvPr id="1129"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30"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31" name="Group 8"/>
          <p:cNvGrpSpPr/>
          <p:nvPr/>
        </p:nvGrpSpPr>
        <p:grpSpPr>
          <a:xfrm>
            <a:off x="15163920" y="-4197240"/>
            <a:ext cx="9577080" cy="9354960"/>
            <a:chOff x="15163920" y="-4197240"/>
            <a:chExt cx="9577080" cy="9354960"/>
          </a:xfrm>
        </p:grpSpPr>
        <p:sp>
          <p:nvSpPr>
            <p:cNvPr id="1132"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33"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34" name="Group 11"/>
          <p:cNvGrpSpPr/>
          <p:nvPr/>
        </p:nvGrpSpPr>
        <p:grpSpPr>
          <a:xfrm>
            <a:off x="16032240" y="-3598920"/>
            <a:ext cx="4732200" cy="4622400"/>
            <a:chOff x="16032240" y="-3598920"/>
            <a:chExt cx="4732200" cy="4622400"/>
          </a:xfrm>
        </p:grpSpPr>
        <p:sp>
          <p:nvSpPr>
            <p:cNvPr id="1135"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36"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37" name="Group 14"/>
          <p:cNvGrpSpPr/>
          <p:nvPr/>
        </p:nvGrpSpPr>
        <p:grpSpPr>
          <a:xfrm>
            <a:off x="12844800" y="8637480"/>
            <a:ext cx="4098960" cy="4003920"/>
            <a:chOff x="12844800" y="8637480"/>
            <a:chExt cx="4098960" cy="4003920"/>
          </a:xfrm>
        </p:grpSpPr>
        <p:sp>
          <p:nvSpPr>
            <p:cNvPr id="1138"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39"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40" name="Group 17"/>
          <p:cNvGrpSpPr/>
          <p:nvPr/>
        </p:nvGrpSpPr>
        <p:grpSpPr>
          <a:xfrm>
            <a:off x="1352160" y="-2332080"/>
            <a:ext cx="4118040" cy="4021920"/>
            <a:chOff x="1352160" y="-2332080"/>
            <a:chExt cx="4118040" cy="4021920"/>
          </a:xfrm>
        </p:grpSpPr>
        <p:sp>
          <p:nvSpPr>
            <p:cNvPr id="1141"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42"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143" name="TextBox 20"/>
          <p:cNvSpPr/>
          <p:nvPr/>
        </p:nvSpPr>
        <p:spPr>
          <a:xfrm>
            <a:off x="2429640" y="3642840"/>
            <a:ext cx="13426200" cy="3554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1" lang="en-US" sz="4000" spc="-1" strike="noStrike">
                <a:solidFill>
                  <a:srgbClr val="545454"/>
                </a:solidFill>
                <a:latin typeface="Open Sans Bold"/>
                <a:ea typeface="Open Sans Bold"/>
              </a:rPr>
              <a:t>One to many:</a:t>
            </a:r>
            <a:r>
              <a:rPr b="0" lang="en-US" sz="4000" spc="-1" strike="noStrike">
                <a:solidFill>
                  <a:srgbClr val="545454"/>
                </a:solidFill>
                <a:latin typeface="Open Sans"/>
                <a:ea typeface="Open Sans"/>
              </a:rPr>
              <a:t> When a single instance of an entity is associated with more than one instances of another entity then it is called one to many relationships. For example, a client can place many orders; a order cannot be placed by many customers.</a:t>
            </a:r>
            <a:endParaRPr b="0" lang="en-PH" sz="4000" spc="-1" strike="noStrike">
              <a:solidFill>
                <a:srgbClr val="000000"/>
              </a:solidFill>
              <a:latin typeface="Arial"/>
            </a:endParaRPr>
          </a:p>
        </p:txBody>
      </p:sp>
      <p:sp>
        <p:nvSpPr>
          <p:cNvPr id="1144" name="Freeform 21"/>
          <p:cNvSpPr/>
          <p:nvPr/>
        </p:nvSpPr>
        <p:spPr>
          <a:xfrm>
            <a:off x="3722040" y="7728480"/>
            <a:ext cx="10841400" cy="2270880"/>
          </a:xfrm>
          <a:custGeom>
            <a:avLst/>
            <a:gdLst>
              <a:gd name="textAreaLeft" fmla="*/ 0 w 10841400"/>
              <a:gd name="textAreaRight" fmla="*/ 10843920 w 10841400"/>
              <a:gd name="textAreaTop" fmla="*/ 0 h 2270880"/>
              <a:gd name="textAreaBottom" fmla="*/ 2273400 h 2270880"/>
            </a:gdLst>
            <a:ahLst/>
            <a:rect l="textAreaLeft" t="textAreaTop" r="textAreaRight" b="textAreaBottom"/>
            <a:pathLst>
              <a:path w="10843866" h="2273450">
                <a:moveTo>
                  <a:pt x="0" y="0"/>
                </a:moveTo>
                <a:lnTo>
                  <a:pt x="10843866" y="0"/>
                </a:lnTo>
                <a:lnTo>
                  <a:pt x="10843866" y="2273450"/>
                </a:lnTo>
                <a:lnTo>
                  <a:pt x="0" y="227345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145" name="TextBox 22"/>
          <p:cNvSpPr/>
          <p:nvPr/>
        </p:nvSpPr>
        <p:spPr>
          <a:xfrm>
            <a:off x="1703880" y="1324080"/>
            <a:ext cx="1446300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CARDINALITIES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46" name="Group 2"/>
          <p:cNvGrpSpPr/>
          <p:nvPr/>
        </p:nvGrpSpPr>
        <p:grpSpPr>
          <a:xfrm>
            <a:off x="-5321520" y="5285880"/>
            <a:ext cx="8988840" cy="8780760"/>
            <a:chOff x="-5321520" y="5285880"/>
            <a:chExt cx="8988840" cy="8780760"/>
          </a:xfrm>
        </p:grpSpPr>
        <p:sp>
          <p:nvSpPr>
            <p:cNvPr id="114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4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49" name="Group 5"/>
          <p:cNvGrpSpPr/>
          <p:nvPr/>
        </p:nvGrpSpPr>
        <p:grpSpPr>
          <a:xfrm>
            <a:off x="-1367280" y="9054360"/>
            <a:ext cx="4441320" cy="4338360"/>
            <a:chOff x="-1367280" y="9054360"/>
            <a:chExt cx="4441320" cy="4338360"/>
          </a:xfrm>
        </p:grpSpPr>
        <p:sp>
          <p:nvSpPr>
            <p:cNvPr id="115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5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52" name="Group 8"/>
          <p:cNvGrpSpPr/>
          <p:nvPr/>
        </p:nvGrpSpPr>
        <p:grpSpPr>
          <a:xfrm>
            <a:off x="15163920" y="-4197240"/>
            <a:ext cx="9577080" cy="9354960"/>
            <a:chOff x="15163920" y="-4197240"/>
            <a:chExt cx="9577080" cy="9354960"/>
          </a:xfrm>
        </p:grpSpPr>
        <p:sp>
          <p:nvSpPr>
            <p:cNvPr id="115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5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55" name="Group 11"/>
          <p:cNvGrpSpPr/>
          <p:nvPr/>
        </p:nvGrpSpPr>
        <p:grpSpPr>
          <a:xfrm>
            <a:off x="16032240" y="-3598920"/>
            <a:ext cx="4732200" cy="4622400"/>
            <a:chOff x="16032240" y="-3598920"/>
            <a:chExt cx="4732200" cy="4622400"/>
          </a:xfrm>
        </p:grpSpPr>
        <p:sp>
          <p:nvSpPr>
            <p:cNvPr id="115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5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58" name="Group 14"/>
          <p:cNvGrpSpPr/>
          <p:nvPr/>
        </p:nvGrpSpPr>
        <p:grpSpPr>
          <a:xfrm>
            <a:off x="12844800" y="8637480"/>
            <a:ext cx="4098960" cy="4003920"/>
            <a:chOff x="12844800" y="8637480"/>
            <a:chExt cx="4098960" cy="4003920"/>
          </a:xfrm>
        </p:grpSpPr>
        <p:sp>
          <p:nvSpPr>
            <p:cNvPr id="115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6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61" name="Group 17"/>
          <p:cNvGrpSpPr/>
          <p:nvPr/>
        </p:nvGrpSpPr>
        <p:grpSpPr>
          <a:xfrm>
            <a:off x="1352160" y="-2332080"/>
            <a:ext cx="4118040" cy="4021920"/>
            <a:chOff x="1352160" y="-2332080"/>
            <a:chExt cx="4118040" cy="4021920"/>
          </a:xfrm>
        </p:grpSpPr>
        <p:sp>
          <p:nvSpPr>
            <p:cNvPr id="116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6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164" name="TextBox 20"/>
          <p:cNvSpPr/>
          <p:nvPr/>
        </p:nvSpPr>
        <p:spPr>
          <a:xfrm>
            <a:off x="2429640" y="3168720"/>
            <a:ext cx="13426200" cy="2843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1" lang="en-US" sz="4000" spc="-1" strike="noStrike">
                <a:solidFill>
                  <a:srgbClr val="545454"/>
                </a:solidFill>
                <a:latin typeface="Open Sans Bold"/>
                <a:ea typeface="Open Sans Bold"/>
              </a:rPr>
              <a:t>Many to Many:</a:t>
            </a:r>
            <a:r>
              <a:rPr b="0" lang="en-US" sz="4000" spc="-1" strike="noStrike">
                <a:solidFill>
                  <a:srgbClr val="545454"/>
                </a:solidFill>
                <a:latin typeface="Open Sans"/>
                <a:ea typeface="Open Sans"/>
              </a:rPr>
              <a:t> One entity from A can be associated with more than one entity from B and vice-versa. For example, the student can be assigned to many projects, and a project can be assigned to many students.</a:t>
            </a:r>
            <a:endParaRPr b="0" lang="en-PH" sz="4000" spc="-1" strike="noStrike">
              <a:solidFill>
                <a:srgbClr val="000000"/>
              </a:solidFill>
              <a:latin typeface="Arial"/>
            </a:endParaRPr>
          </a:p>
        </p:txBody>
      </p:sp>
      <p:sp>
        <p:nvSpPr>
          <p:cNvPr id="1165" name="Freeform 21"/>
          <p:cNvSpPr/>
          <p:nvPr/>
        </p:nvSpPr>
        <p:spPr>
          <a:xfrm>
            <a:off x="3659400" y="6673320"/>
            <a:ext cx="10966680" cy="2398680"/>
          </a:xfrm>
          <a:custGeom>
            <a:avLst/>
            <a:gdLst>
              <a:gd name="textAreaLeft" fmla="*/ 0 w 10966680"/>
              <a:gd name="textAreaRight" fmla="*/ 10969200 w 10966680"/>
              <a:gd name="textAreaTop" fmla="*/ 0 h 2398680"/>
              <a:gd name="textAreaBottom" fmla="*/ 2401200 h 2398680"/>
            </a:gdLst>
            <a:ahLst/>
            <a:rect l="textAreaLeft" t="textAreaTop" r="textAreaRight" b="textAreaBottom"/>
            <a:pathLst>
              <a:path w="10969370" h="2401021">
                <a:moveTo>
                  <a:pt x="0" y="0"/>
                </a:moveTo>
                <a:lnTo>
                  <a:pt x="10969370" y="0"/>
                </a:lnTo>
                <a:lnTo>
                  <a:pt x="10969370" y="2401021"/>
                </a:lnTo>
                <a:lnTo>
                  <a:pt x="0" y="2401021"/>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166" name="TextBox 22"/>
          <p:cNvSpPr/>
          <p:nvPr/>
        </p:nvSpPr>
        <p:spPr>
          <a:xfrm>
            <a:off x="1703880" y="790200"/>
            <a:ext cx="1446300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TYPES OF CARDINALITIES</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67" name="Group 2"/>
          <p:cNvGrpSpPr/>
          <p:nvPr/>
        </p:nvGrpSpPr>
        <p:grpSpPr>
          <a:xfrm>
            <a:off x="-5321520" y="5285880"/>
            <a:ext cx="8988840" cy="8780760"/>
            <a:chOff x="-5321520" y="5285880"/>
            <a:chExt cx="8988840" cy="8780760"/>
          </a:xfrm>
        </p:grpSpPr>
        <p:sp>
          <p:nvSpPr>
            <p:cNvPr id="1168"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69"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70" name="Group 5"/>
          <p:cNvGrpSpPr/>
          <p:nvPr/>
        </p:nvGrpSpPr>
        <p:grpSpPr>
          <a:xfrm>
            <a:off x="-1367280" y="9054360"/>
            <a:ext cx="4441320" cy="4338360"/>
            <a:chOff x="-1367280" y="9054360"/>
            <a:chExt cx="4441320" cy="4338360"/>
          </a:xfrm>
        </p:grpSpPr>
        <p:sp>
          <p:nvSpPr>
            <p:cNvPr id="1171"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72"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73" name="Group 8"/>
          <p:cNvGrpSpPr/>
          <p:nvPr/>
        </p:nvGrpSpPr>
        <p:grpSpPr>
          <a:xfrm>
            <a:off x="15163920" y="-4197240"/>
            <a:ext cx="9577080" cy="9354960"/>
            <a:chOff x="15163920" y="-4197240"/>
            <a:chExt cx="9577080" cy="9354960"/>
          </a:xfrm>
        </p:grpSpPr>
        <p:sp>
          <p:nvSpPr>
            <p:cNvPr id="1174"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75"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76" name="Group 11"/>
          <p:cNvGrpSpPr/>
          <p:nvPr/>
        </p:nvGrpSpPr>
        <p:grpSpPr>
          <a:xfrm>
            <a:off x="16032240" y="-3598920"/>
            <a:ext cx="4732200" cy="4622400"/>
            <a:chOff x="16032240" y="-3598920"/>
            <a:chExt cx="4732200" cy="4622400"/>
          </a:xfrm>
        </p:grpSpPr>
        <p:sp>
          <p:nvSpPr>
            <p:cNvPr id="1177"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78"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79" name="Group 14"/>
          <p:cNvGrpSpPr/>
          <p:nvPr/>
        </p:nvGrpSpPr>
        <p:grpSpPr>
          <a:xfrm>
            <a:off x="12844800" y="8637480"/>
            <a:ext cx="4098960" cy="4003920"/>
            <a:chOff x="12844800" y="8637480"/>
            <a:chExt cx="4098960" cy="4003920"/>
          </a:xfrm>
        </p:grpSpPr>
        <p:sp>
          <p:nvSpPr>
            <p:cNvPr id="1180"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81"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82" name="Group 17"/>
          <p:cNvGrpSpPr/>
          <p:nvPr/>
        </p:nvGrpSpPr>
        <p:grpSpPr>
          <a:xfrm>
            <a:off x="1352160" y="-2332080"/>
            <a:ext cx="4118040" cy="4021920"/>
            <a:chOff x="1352160" y="-2332080"/>
            <a:chExt cx="4118040" cy="4021920"/>
          </a:xfrm>
        </p:grpSpPr>
        <p:sp>
          <p:nvSpPr>
            <p:cNvPr id="1183"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84"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185" name="Freeform 20"/>
          <p:cNvSpPr/>
          <p:nvPr/>
        </p:nvSpPr>
        <p:spPr>
          <a:xfrm>
            <a:off x="1134000" y="816120"/>
            <a:ext cx="16017840" cy="8767440"/>
          </a:xfrm>
          <a:custGeom>
            <a:avLst/>
            <a:gdLst>
              <a:gd name="textAreaLeft" fmla="*/ 0 w 16017840"/>
              <a:gd name="textAreaRight" fmla="*/ 16020360 w 16017840"/>
              <a:gd name="textAreaTop" fmla="*/ 0 h 8767440"/>
              <a:gd name="textAreaBottom" fmla="*/ 8769960 h 8767440"/>
            </a:gdLst>
            <a:ahLst/>
            <a:rect l="textAreaLeft" t="textAreaTop" r="textAreaRight" b="textAreaBottom"/>
            <a:pathLst>
              <a:path w="16020245" h="8770057">
                <a:moveTo>
                  <a:pt x="0" y="0"/>
                </a:moveTo>
                <a:lnTo>
                  <a:pt x="16020246" y="0"/>
                </a:lnTo>
                <a:lnTo>
                  <a:pt x="16020246" y="8770058"/>
                </a:lnTo>
                <a:lnTo>
                  <a:pt x="0" y="877005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86" name="Group 2"/>
          <p:cNvGrpSpPr/>
          <p:nvPr/>
        </p:nvGrpSpPr>
        <p:grpSpPr>
          <a:xfrm>
            <a:off x="-5362560" y="4536720"/>
            <a:ext cx="10423800" cy="10182600"/>
            <a:chOff x="-5362560" y="4536720"/>
            <a:chExt cx="10423800" cy="10182600"/>
          </a:xfrm>
        </p:grpSpPr>
        <p:sp>
          <p:nvSpPr>
            <p:cNvPr id="1187" name="Freeform 3"/>
            <p:cNvSpPr/>
            <p:nvPr/>
          </p:nvSpPr>
          <p:spPr>
            <a:xfrm rot="19037400">
              <a:off x="-4714200" y="74336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88" name="TextBox 4"/>
            <p:cNvSpPr/>
            <p:nvPr/>
          </p:nvSpPr>
          <p:spPr>
            <a:xfrm rot="19037400">
              <a:off x="-4864320" y="705024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89" name="Group 5"/>
          <p:cNvGrpSpPr/>
          <p:nvPr/>
        </p:nvGrpSpPr>
        <p:grpSpPr>
          <a:xfrm>
            <a:off x="-776160" y="8906400"/>
            <a:ext cx="5150520" cy="5031360"/>
            <a:chOff x="-776160" y="8906400"/>
            <a:chExt cx="5150520" cy="5031360"/>
          </a:xfrm>
        </p:grpSpPr>
        <p:sp>
          <p:nvSpPr>
            <p:cNvPr id="1190" name="Freeform 6"/>
            <p:cNvSpPr/>
            <p:nvPr/>
          </p:nvSpPr>
          <p:spPr>
            <a:xfrm rot="19037400">
              <a:off x="-455760" y="1033812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91" name="TextBox 7"/>
            <p:cNvSpPr/>
            <p:nvPr/>
          </p:nvSpPr>
          <p:spPr>
            <a:xfrm rot="19037400">
              <a:off x="-529920" y="101487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92" name="Group 8"/>
          <p:cNvGrpSpPr/>
          <p:nvPr/>
        </p:nvGrpSpPr>
        <p:grpSpPr>
          <a:xfrm>
            <a:off x="14316840" y="-4223880"/>
            <a:ext cx="10423800" cy="10182600"/>
            <a:chOff x="14316840" y="-4223880"/>
            <a:chExt cx="10423800" cy="10182600"/>
          </a:xfrm>
        </p:grpSpPr>
        <p:sp>
          <p:nvSpPr>
            <p:cNvPr id="1193" name="Freeform 9"/>
            <p:cNvSpPr/>
            <p:nvPr/>
          </p:nvSpPr>
          <p:spPr>
            <a:xfrm rot="19037400">
              <a:off x="14964840" y="-1326240"/>
              <a:ext cx="9427680" cy="4712760"/>
            </a:xfrm>
            <a:custGeom>
              <a:avLst/>
              <a:gdLst>
                <a:gd name="textAreaLeft" fmla="*/ 0 w 9427680"/>
                <a:gd name="textAreaRight" fmla="*/ 9430200 w 9427680"/>
                <a:gd name="textAreaTop" fmla="*/ 0 h 4712760"/>
                <a:gd name="textAreaBottom" fmla="*/ 4715280 h 4712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94" name="TextBox 10"/>
            <p:cNvSpPr/>
            <p:nvPr/>
          </p:nvSpPr>
          <p:spPr>
            <a:xfrm rot="19037400">
              <a:off x="14814720" y="-1710000"/>
              <a:ext cx="9427680" cy="51548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95" name="Group 11"/>
          <p:cNvGrpSpPr/>
          <p:nvPr/>
        </p:nvGrpSpPr>
        <p:grpSpPr>
          <a:xfrm>
            <a:off x="15262200" y="-3572280"/>
            <a:ext cx="5150880" cy="5031360"/>
            <a:chOff x="15262200" y="-3572280"/>
            <a:chExt cx="5150880" cy="5031360"/>
          </a:xfrm>
        </p:grpSpPr>
        <p:sp>
          <p:nvSpPr>
            <p:cNvPr id="1196" name="Freeform 12"/>
            <p:cNvSpPr/>
            <p:nvPr/>
          </p:nvSpPr>
          <p:spPr>
            <a:xfrm rot="19037400">
              <a:off x="15582600" y="-2140200"/>
              <a:ext cx="4658760" cy="2328120"/>
            </a:xfrm>
            <a:custGeom>
              <a:avLst/>
              <a:gdLst>
                <a:gd name="textAreaLeft" fmla="*/ 0 w 4658760"/>
                <a:gd name="textAreaRight" fmla="*/ 4661280 w 4658760"/>
                <a:gd name="textAreaTop" fmla="*/ 0 h 2328120"/>
                <a:gd name="textAreaBottom" fmla="*/ 2330640 h 23281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197" name="TextBox 13"/>
            <p:cNvSpPr/>
            <p:nvPr/>
          </p:nvSpPr>
          <p:spPr>
            <a:xfrm rot="19037400">
              <a:off x="15508080" y="-2329560"/>
              <a:ext cx="4658760" cy="2546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198" name="Group 14"/>
          <p:cNvGrpSpPr/>
          <p:nvPr/>
        </p:nvGrpSpPr>
        <p:grpSpPr>
          <a:xfrm>
            <a:off x="13810680" y="8219880"/>
            <a:ext cx="4098960" cy="4003920"/>
            <a:chOff x="13810680" y="8219880"/>
            <a:chExt cx="4098960" cy="4003920"/>
          </a:xfrm>
        </p:grpSpPr>
        <p:sp>
          <p:nvSpPr>
            <p:cNvPr id="1199" name="Freeform 15"/>
            <p:cNvSpPr/>
            <p:nvPr/>
          </p:nvSpPr>
          <p:spPr>
            <a:xfrm rot="19037400">
              <a:off x="14065200" y="93592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00" name="TextBox 16"/>
            <p:cNvSpPr/>
            <p:nvPr/>
          </p:nvSpPr>
          <p:spPr>
            <a:xfrm rot="19037400">
              <a:off x="14006160" y="92084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01" name="Group 17"/>
          <p:cNvGrpSpPr/>
          <p:nvPr/>
        </p:nvGrpSpPr>
        <p:grpSpPr>
          <a:xfrm>
            <a:off x="908640" y="-1966680"/>
            <a:ext cx="4117680" cy="4021920"/>
            <a:chOff x="908640" y="-1966680"/>
            <a:chExt cx="4117680" cy="4021920"/>
          </a:xfrm>
        </p:grpSpPr>
        <p:sp>
          <p:nvSpPr>
            <p:cNvPr id="1202" name="Freeform 18"/>
            <p:cNvSpPr/>
            <p:nvPr/>
          </p:nvSpPr>
          <p:spPr>
            <a:xfrm rot="19037400">
              <a:off x="1164600" y="-8215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03" name="TextBox 19"/>
            <p:cNvSpPr/>
            <p:nvPr/>
          </p:nvSpPr>
          <p:spPr>
            <a:xfrm rot="19037400">
              <a:off x="1104840" y="-9734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04" name="TextBox 20"/>
          <p:cNvSpPr/>
          <p:nvPr/>
        </p:nvSpPr>
        <p:spPr>
          <a:xfrm>
            <a:off x="1695960" y="2551320"/>
            <a:ext cx="14921640" cy="3009240"/>
          </a:xfrm>
          <a:prstGeom prst="rect">
            <a:avLst/>
          </a:prstGeom>
          <a:noFill/>
          <a:ln w="0">
            <a:noFill/>
          </a:ln>
        </p:spPr>
        <p:style>
          <a:lnRef idx="0"/>
          <a:fillRef idx="0"/>
          <a:effectRef idx="0"/>
          <a:fontRef idx="minor"/>
        </p:style>
        <p:txBody>
          <a:bodyPr lIns="0" rIns="0" tIns="0" bIns="0" anchor="t">
            <a:spAutoFit/>
          </a:bodyPr>
          <a:p>
            <a:pPr algn="ctr" defTabSz="914400">
              <a:lnSpc>
                <a:spcPts val="11849"/>
              </a:lnSpc>
            </a:pPr>
            <a:r>
              <a:rPr b="0" lang="en-US" sz="13939" spc="-1" strike="noStrike">
                <a:solidFill>
                  <a:srgbClr val="545454"/>
                </a:solidFill>
                <a:latin typeface="Bold Ink"/>
                <a:ea typeface="Bold Ink"/>
              </a:rPr>
              <a:t>DATA FLOW DIAGRAM</a:t>
            </a:r>
            <a:endParaRPr b="0" lang="en-PH" sz="1393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05" name="Group 2"/>
          <p:cNvGrpSpPr/>
          <p:nvPr/>
        </p:nvGrpSpPr>
        <p:grpSpPr>
          <a:xfrm>
            <a:off x="-5321520" y="5285880"/>
            <a:ext cx="8988840" cy="8780760"/>
            <a:chOff x="-5321520" y="5285880"/>
            <a:chExt cx="8988840" cy="8780760"/>
          </a:xfrm>
        </p:grpSpPr>
        <p:sp>
          <p:nvSpPr>
            <p:cNvPr id="1206"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07"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08" name="Group 5"/>
          <p:cNvGrpSpPr/>
          <p:nvPr/>
        </p:nvGrpSpPr>
        <p:grpSpPr>
          <a:xfrm>
            <a:off x="-1367280" y="9054360"/>
            <a:ext cx="4441320" cy="4338360"/>
            <a:chOff x="-1367280" y="9054360"/>
            <a:chExt cx="4441320" cy="4338360"/>
          </a:xfrm>
        </p:grpSpPr>
        <p:sp>
          <p:nvSpPr>
            <p:cNvPr id="1209"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10"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11" name="Group 8"/>
          <p:cNvGrpSpPr/>
          <p:nvPr/>
        </p:nvGrpSpPr>
        <p:grpSpPr>
          <a:xfrm>
            <a:off x="15163920" y="-4197240"/>
            <a:ext cx="9577080" cy="9354960"/>
            <a:chOff x="15163920" y="-4197240"/>
            <a:chExt cx="9577080" cy="9354960"/>
          </a:xfrm>
        </p:grpSpPr>
        <p:sp>
          <p:nvSpPr>
            <p:cNvPr id="1212"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13"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14" name="Group 11"/>
          <p:cNvGrpSpPr/>
          <p:nvPr/>
        </p:nvGrpSpPr>
        <p:grpSpPr>
          <a:xfrm>
            <a:off x="16032240" y="-3598920"/>
            <a:ext cx="4732200" cy="4622400"/>
            <a:chOff x="16032240" y="-3598920"/>
            <a:chExt cx="4732200" cy="4622400"/>
          </a:xfrm>
        </p:grpSpPr>
        <p:sp>
          <p:nvSpPr>
            <p:cNvPr id="1215"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16"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17" name="Group 14"/>
          <p:cNvGrpSpPr/>
          <p:nvPr/>
        </p:nvGrpSpPr>
        <p:grpSpPr>
          <a:xfrm>
            <a:off x="12844800" y="8637480"/>
            <a:ext cx="4098960" cy="4003920"/>
            <a:chOff x="12844800" y="8637480"/>
            <a:chExt cx="4098960" cy="4003920"/>
          </a:xfrm>
        </p:grpSpPr>
        <p:sp>
          <p:nvSpPr>
            <p:cNvPr id="1218"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19"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20" name="Group 17"/>
          <p:cNvGrpSpPr/>
          <p:nvPr/>
        </p:nvGrpSpPr>
        <p:grpSpPr>
          <a:xfrm>
            <a:off x="1352160" y="-2332080"/>
            <a:ext cx="4118040" cy="4021920"/>
            <a:chOff x="1352160" y="-2332080"/>
            <a:chExt cx="4118040" cy="4021920"/>
          </a:xfrm>
        </p:grpSpPr>
        <p:sp>
          <p:nvSpPr>
            <p:cNvPr id="1221"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22"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23" name="TextBox 20"/>
          <p:cNvSpPr/>
          <p:nvPr/>
        </p:nvSpPr>
        <p:spPr>
          <a:xfrm>
            <a:off x="2041200" y="794880"/>
            <a:ext cx="15523560" cy="9975240"/>
          </a:xfrm>
          <a:prstGeom prst="rect">
            <a:avLst/>
          </a:prstGeom>
          <a:noFill/>
          <a:ln w="0">
            <a:noFill/>
          </a:ln>
        </p:spPr>
        <p:style>
          <a:lnRef idx="0"/>
          <a:fillRef idx="0"/>
          <a:effectRef idx="0"/>
          <a:fontRef idx="minor"/>
        </p:style>
        <p:txBody>
          <a:bodyPr lIns="0" rIns="0" tIns="0" bIns="0" anchor="t">
            <a:spAutoFit/>
          </a:bodyPr>
          <a:p>
            <a:pPr algn="ctr" defTabSz="914400">
              <a:lnSpc>
                <a:spcPts val="7464"/>
              </a:lnSpc>
            </a:pPr>
            <a:r>
              <a:rPr b="0" lang="en-US" sz="8780" spc="-1" strike="noStrike">
                <a:solidFill>
                  <a:srgbClr val="545454"/>
                </a:solidFill>
                <a:latin typeface="Bold Ink"/>
                <a:ea typeface="Bold Ink"/>
              </a:rPr>
              <a:t>LEARNING OBJECTIVES </a:t>
            </a:r>
            <a:endParaRPr b="0" lang="en-PH" sz="8780" spc="-1" strike="noStrike">
              <a:solidFill>
                <a:srgbClr val="000000"/>
              </a:solidFill>
              <a:latin typeface="Arial"/>
            </a:endParaRPr>
          </a:p>
          <a:p>
            <a:pPr algn="ctr" defTabSz="914400">
              <a:lnSpc>
                <a:spcPts val="7464"/>
              </a:lnSpc>
            </a:pPr>
            <a:endParaRPr b="0" lang="en-PH" sz="1800" spc="-1" strike="noStrike">
              <a:solidFill>
                <a:srgbClr val="000000"/>
              </a:solidFill>
              <a:latin typeface="Arial"/>
            </a:endParaRPr>
          </a:p>
          <a:p>
            <a:pPr lvl="1" marL="1356480" indent="-678240" defTabSz="914400">
              <a:lnSpc>
                <a:spcPts val="5715"/>
              </a:lnSpc>
              <a:buClr>
                <a:srgbClr val="545454"/>
              </a:buClr>
              <a:buFont typeface="Arial"/>
              <a:buChar char="•"/>
            </a:pPr>
            <a:r>
              <a:rPr b="0" lang="en-US" sz="6280" spc="-1" strike="noStrike">
                <a:solidFill>
                  <a:srgbClr val="545454"/>
                </a:solidFill>
                <a:latin typeface="Bold Ink"/>
                <a:ea typeface="Bold Ink"/>
              </a:rPr>
              <a:t>Understand the use of data flow diagram</a:t>
            </a:r>
            <a:endParaRPr b="0" lang="en-PH" sz="6280" spc="-1" strike="noStrike">
              <a:solidFill>
                <a:srgbClr val="000000"/>
              </a:solidFill>
              <a:latin typeface="Arial"/>
            </a:endParaRPr>
          </a:p>
          <a:p>
            <a:pPr lvl="1" marL="1356480" indent="-678240" defTabSz="914400">
              <a:lnSpc>
                <a:spcPts val="5715"/>
              </a:lnSpc>
              <a:buClr>
                <a:srgbClr val="545454"/>
              </a:buClr>
              <a:buFont typeface="Arial"/>
              <a:buChar char="•"/>
            </a:pPr>
            <a:r>
              <a:rPr b="0" lang="en-US" sz="6280" spc="-1" strike="noStrike">
                <a:solidFill>
                  <a:srgbClr val="545454"/>
                </a:solidFill>
                <a:latin typeface="Bold Ink"/>
                <a:ea typeface="Bold Ink"/>
              </a:rPr>
              <a:t>Know the different symbols used in dfd</a:t>
            </a:r>
            <a:endParaRPr b="0" lang="en-PH" sz="6280" spc="-1" strike="noStrike">
              <a:solidFill>
                <a:srgbClr val="000000"/>
              </a:solidFill>
              <a:latin typeface="Arial"/>
            </a:endParaRPr>
          </a:p>
          <a:p>
            <a:pPr lvl="1" marL="1356480" indent="-678240" defTabSz="914400">
              <a:lnSpc>
                <a:spcPts val="5715"/>
              </a:lnSpc>
              <a:buClr>
                <a:srgbClr val="545454"/>
              </a:buClr>
              <a:buFont typeface="Arial"/>
              <a:buChar char="•"/>
            </a:pPr>
            <a:r>
              <a:rPr b="0" lang="en-US" sz="6280" spc="-1" strike="noStrike">
                <a:solidFill>
                  <a:srgbClr val="545454"/>
                </a:solidFill>
                <a:latin typeface="Bold Ink"/>
                <a:ea typeface="Bold Ink"/>
              </a:rPr>
              <a:t>Understand the levels of data flow diagraM</a:t>
            </a:r>
            <a:endParaRPr b="0" lang="en-PH" sz="6280" spc="-1" strike="noStrike">
              <a:solidFill>
                <a:srgbClr val="000000"/>
              </a:solidFill>
              <a:latin typeface="Arial"/>
            </a:endParaRPr>
          </a:p>
          <a:p>
            <a:pPr lvl="1" marL="1356480" indent="-678240" defTabSz="914400">
              <a:lnSpc>
                <a:spcPts val="5715"/>
              </a:lnSpc>
              <a:buClr>
                <a:srgbClr val="545454"/>
              </a:buClr>
              <a:buFont typeface="Arial"/>
              <a:buChar char="•"/>
            </a:pPr>
            <a:r>
              <a:rPr b="0" lang="en-US" sz="6280" spc="-1" strike="noStrike">
                <a:solidFill>
                  <a:srgbClr val="545454"/>
                </a:solidFill>
                <a:latin typeface="Bold Ink"/>
                <a:ea typeface="Bold Ink"/>
              </a:rPr>
              <a:t>Learn the different data flow diagram errORS</a:t>
            </a:r>
            <a:endParaRPr b="0" lang="en-PH" sz="6280" spc="-1" strike="noStrike">
              <a:solidFill>
                <a:srgbClr val="000000"/>
              </a:solidFill>
              <a:latin typeface="Arial"/>
            </a:endParaRPr>
          </a:p>
          <a:p>
            <a:pPr lvl="1" marL="1356480" indent="-678240" defTabSz="914400">
              <a:lnSpc>
                <a:spcPts val="5715"/>
              </a:lnSpc>
              <a:buClr>
                <a:srgbClr val="545454"/>
              </a:buClr>
              <a:buFont typeface="Arial"/>
              <a:buChar char="•"/>
            </a:pPr>
            <a:r>
              <a:rPr b="0" lang="en-US" sz="6280" spc="-1" strike="noStrike">
                <a:solidFill>
                  <a:srgbClr val="545454"/>
                </a:solidFill>
                <a:latin typeface="Bold Ink"/>
                <a:ea typeface="Bold Ink"/>
              </a:rPr>
              <a:t>Learn the different dfd diagramming rules</a:t>
            </a:r>
            <a:endParaRPr b="0" lang="en-PH" sz="6280" spc="-1" strike="noStrike">
              <a:solidFill>
                <a:srgbClr val="000000"/>
              </a:solidFill>
              <a:latin typeface="Arial"/>
            </a:endParaRPr>
          </a:p>
          <a:p>
            <a:pPr algn="ctr" defTabSz="914400">
              <a:lnSpc>
                <a:spcPts val="6474"/>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24" name="Group 2"/>
          <p:cNvGrpSpPr/>
          <p:nvPr/>
        </p:nvGrpSpPr>
        <p:grpSpPr>
          <a:xfrm>
            <a:off x="-5321520" y="5285880"/>
            <a:ext cx="8988840" cy="8780760"/>
            <a:chOff x="-5321520" y="5285880"/>
            <a:chExt cx="8988840" cy="8780760"/>
          </a:xfrm>
        </p:grpSpPr>
        <p:sp>
          <p:nvSpPr>
            <p:cNvPr id="122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2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27" name="Group 5"/>
          <p:cNvGrpSpPr/>
          <p:nvPr/>
        </p:nvGrpSpPr>
        <p:grpSpPr>
          <a:xfrm>
            <a:off x="-1367280" y="9054360"/>
            <a:ext cx="4441320" cy="4338360"/>
            <a:chOff x="-1367280" y="9054360"/>
            <a:chExt cx="4441320" cy="4338360"/>
          </a:xfrm>
        </p:grpSpPr>
        <p:sp>
          <p:nvSpPr>
            <p:cNvPr id="122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2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30" name="Group 8"/>
          <p:cNvGrpSpPr/>
          <p:nvPr/>
        </p:nvGrpSpPr>
        <p:grpSpPr>
          <a:xfrm>
            <a:off x="15163920" y="-4197240"/>
            <a:ext cx="9577080" cy="9354960"/>
            <a:chOff x="15163920" y="-4197240"/>
            <a:chExt cx="9577080" cy="9354960"/>
          </a:xfrm>
        </p:grpSpPr>
        <p:sp>
          <p:nvSpPr>
            <p:cNvPr id="123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3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33" name="Group 11"/>
          <p:cNvGrpSpPr/>
          <p:nvPr/>
        </p:nvGrpSpPr>
        <p:grpSpPr>
          <a:xfrm>
            <a:off x="16032240" y="-3598920"/>
            <a:ext cx="4732200" cy="4622400"/>
            <a:chOff x="16032240" y="-3598920"/>
            <a:chExt cx="4732200" cy="4622400"/>
          </a:xfrm>
        </p:grpSpPr>
        <p:sp>
          <p:nvSpPr>
            <p:cNvPr id="123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3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36" name="Group 14"/>
          <p:cNvGrpSpPr/>
          <p:nvPr/>
        </p:nvGrpSpPr>
        <p:grpSpPr>
          <a:xfrm>
            <a:off x="12844800" y="8637480"/>
            <a:ext cx="4098960" cy="4003920"/>
            <a:chOff x="12844800" y="8637480"/>
            <a:chExt cx="4098960" cy="4003920"/>
          </a:xfrm>
        </p:grpSpPr>
        <p:sp>
          <p:nvSpPr>
            <p:cNvPr id="123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3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39" name="Group 17"/>
          <p:cNvGrpSpPr/>
          <p:nvPr/>
        </p:nvGrpSpPr>
        <p:grpSpPr>
          <a:xfrm>
            <a:off x="1352160" y="-2332080"/>
            <a:ext cx="4118040" cy="4021920"/>
            <a:chOff x="1352160" y="-2332080"/>
            <a:chExt cx="4118040" cy="4021920"/>
          </a:xfrm>
        </p:grpSpPr>
        <p:sp>
          <p:nvSpPr>
            <p:cNvPr id="124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4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42" name="TextBox 20"/>
          <p:cNvSpPr/>
          <p:nvPr/>
        </p:nvSpPr>
        <p:spPr>
          <a:xfrm>
            <a:off x="2559600" y="4101840"/>
            <a:ext cx="13426200" cy="4265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A Data Flow Diagram (DFD) is a traditional visual representation of the information flows within a system. A neat and clear DFD can depict the right amount of the system requirement graphically. It can be manual, automated, or a combination of both.</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243" name="TextBox 21"/>
          <p:cNvSpPr/>
          <p:nvPr/>
        </p:nvSpPr>
        <p:spPr>
          <a:xfrm>
            <a:off x="1703880" y="1324080"/>
            <a:ext cx="1446300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WHAT IS DATA FLOW DIAGRAM</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44" name="Group 2"/>
          <p:cNvGrpSpPr/>
          <p:nvPr/>
        </p:nvGrpSpPr>
        <p:grpSpPr>
          <a:xfrm>
            <a:off x="-5321520" y="5285880"/>
            <a:ext cx="8988840" cy="8780760"/>
            <a:chOff x="-5321520" y="5285880"/>
            <a:chExt cx="8988840" cy="8780760"/>
          </a:xfrm>
        </p:grpSpPr>
        <p:sp>
          <p:nvSpPr>
            <p:cNvPr id="124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4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47" name="Group 5"/>
          <p:cNvGrpSpPr/>
          <p:nvPr/>
        </p:nvGrpSpPr>
        <p:grpSpPr>
          <a:xfrm>
            <a:off x="-1367280" y="9054360"/>
            <a:ext cx="4441320" cy="4338360"/>
            <a:chOff x="-1367280" y="9054360"/>
            <a:chExt cx="4441320" cy="4338360"/>
          </a:xfrm>
        </p:grpSpPr>
        <p:sp>
          <p:nvSpPr>
            <p:cNvPr id="124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4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50" name="Group 8"/>
          <p:cNvGrpSpPr/>
          <p:nvPr/>
        </p:nvGrpSpPr>
        <p:grpSpPr>
          <a:xfrm>
            <a:off x="15163920" y="-4197240"/>
            <a:ext cx="9577080" cy="9354960"/>
            <a:chOff x="15163920" y="-4197240"/>
            <a:chExt cx="9577080" cy="9354960"/>
          </a:xfrm>
        </p:grpSpPr>
        <p:sp>
          <p:nvSpPr>
            <p:cNvPr id="125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5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53" name="Group 11"/>
          <p:cNvGrpSpPr/>
          <p:nvPr/>
        </p:nvGrpSpPr>
        <p:grpSpPr>
          <a:xfrm>
            <a:off x="16032240" y="-3598920"/>
            <a:ext cx="4732200" cy="4622400"/>
            <a:chOff x="16032240" y="-3598920"/>
            <a:chExt cx="4732200" cy="4622400"/>
          </a:xfrm>
        </p:grpSpPr>
        <p:sp>
          <p:nvSpPr>
            <p:cNvPr id="125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5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56" name="Group 14"/>
          <p:cNvGrpSpPr/>
          <p:nvPr/>
        </p:nvGrpSpPr>
        <p:grpSpPr>
          <a:xfrm>
            <a:off x="12844800" y="8637480"/>
            <a:ext cx="4098960" cy="4003920"/>
            <a:chOff x="12844800" y="8637480"/>
            <a:chExt cx="4098960" cy="4003920"/>
          </a:xfrm>
        </p:grpSpPr>
        <p:sp>
          <p:nvSpPr>
            <p:cNvPr id="125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5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59" name="Group 17"/>
          <p:cNvGrpSpPr/>
          <p:nvPr/>
        </p:nvGrpSpPr>
        <p:grpSpPr>
          <a:xfrm>
            <a:off x="1352160" y="-2332080"/>
            <a:ext cx="4118040" cy="4021920"/>
            <a:chOff x="1352160" y="-2332080"/>
            <a:chExt cx="4118040" cy="4021920"/>
          </a:xfrm>
        </p:grpSpPr>
        <p:sp>
          <p:nvSpPr>
            <p:cNvPr id="126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6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62" name="TextBox 20"/>
          <p:cNvSpPr/>
          <p:nvPr/>
        </p:nvSpPr>
        <p:spPr>
          <a:xfrm>
            <a:off x="2740680" y="3151440"/>
            <a:ext cx="13426200" cy="5687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1)All names should be unique. This makes it easier to refer to elements in the DFD.</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2)Remember that DFD is not a flow chart. Arrows in a flow chart that represents the order of events; arrows in DFD represents flowing data. A DFD does not involve any order of events.</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263" name="TextBox 21"/>
          <p:cNvSpPr/>
          <p:nvPr/>
        </p:nvSpPr>
        <p:spPr>
          <a:xfrm>
            <a:off x="1703880" y="13240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ESSENTIAL FOR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64" name="Group 2"/>
          <p:cNvGrpSpPr/>
          <p:nvPr/>
        </p:nvGrpSpPr>
        <p:grpSpPr>
          <a:xfrm>
            <a:off x="-5321520" y="5285880"/>
            <a:ext cx="8988840" cy="8780760"/>
            <a:chOff x="-5321520" y="5285880"/>
            <a:chExt cx="8988840" cy="8780760"/>
          </a:xfrm>
        </p:grpSpPr>
        <p:sp>
          <p:nvSpPr>
            <p:cNvPr id="126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6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67" name="Group 5"/>
          <p:cNvGrpSpPr/>
          <p:nvPr/>
        </p:nvGrpSpPr>
        <p:grpSpPr>
          <a:xfrm>
            <a:off x="-1367280" y="9054360"/>
            <a:ext cx="4441320" cy="4338360"/>
            <a:chOff x="-1367280" y="9054360"/>
            <a:chExt cx="4441320" cy="4338360"/>
          </a:xfrm>
        </p:grpSpPr>
        <p:sp>
          <p:nvSpPr>
            <p:cNvPr id="126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6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70" name="Group 8"/>
          <p:cNvGrpSpPr/>
          <p:nvPr/>
        </p:nvGrpSpPr>
        <p:grpSpPr>
          <a:xfrm>
            <a:off x="15163920" y="-4197240"/>
            <a:ext cx="9577080" cy="9354960"/>
            <a:chOff x="15163920" y="-4197240"/>
            <a:chExt cx="9577080" cy="9354960"/>
          </a:xfrm>
        </p:grpSpPr>
        <p:sp>
          <p:nvSpPr>
            <p:cNvPr id="127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7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73" name="Group 11"/>
          <p:cNvGrpSpPr/>
          <p:nvPr/>
        </p:nvGrpSpPr>
        <p:grpSpPr>
          <a:xfrm>
            <a:off x="16032240" y="-3598920"/>
            <a:ext cx="4732200" cy="4622400"/>
            <a:chOff x="16032240" y="-3598920"/>
            <a:chExt cx="4732200" cy="4622400"/>
          </a:xfrm>
        </p:grpSpPr>
        <p:sp>
          <p:nvSpPr>
            <p:cNvPr id="127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7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76" name="Group 14"/>
          <p:cNvGrpSpPr/>
          <p:nvPr/>
        </p:nvGrpSpPr>
        <p:grpSpPr>
          <a:xfrm>
            <a:off x="12844800" y="8637480"/>
            <a:ext cx="4098960" cy="4003920"/>
            <a:chOff x="12844800" y="8637480"/>
            <a:chExt cx="4098960" cy="4003920"/>
          </a:xfrm>
        </p:grpSpPr>
        <p:sp>
          <p:nvSpPr>
            <p:cNvPr id="127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7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79" name="Group 17"/>
          <p:cNvGrpSpPr/>
          <p:nvPr/>
        </p:nvGrpSpPr>
        <p:grpSpPr>
          <a:xfrm>
            <a:off x="1352160" y="-2332080"/>
            <a:ext cx="4118040" cy="4021920"/>
            <a:chOff x="1352160" y="-2332080"/>
            <a:chExt cx="4118040" cy="4021920"/>
          </a:xfrm>
        </p:grpSpPr>
        <p:sp>
          <p:nvSpPr>
            <p:cNvPr id="128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8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282" name="TextBox 20"/>
          <p:cNvSpPr/>
          <p:nvPr/>
        </p:nvSpPr>
        <p:spPr>
          <a:xfrm>
            <a:off x="2947680" y="2089440"/>
            <a:ext cx="13426200" cy="782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3) Suppress logical decisions. If we ever have the urge to draw a diamond-shaped box in a DFD, suppress that urge! A diamond-shaped box is used in flow charts to represents decision points with multiple exists paths of which the only one is taken. This implies an ordering of events, which makes no sense in a DFD.</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4) Do not become bogged down with details. Defer error conditions and error handling until the end of the analysis.</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283" name="TextBox 21"/>
          <p:cNvSpPr/>
          <p:nvPr/>
        </p:nvSpPr>
        <p:spPr>
          <a:xfrm>
            <a:off x="1911240" y="569880"/>
            <a:ext cx="1446300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ESSENTIAL FOR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284" name="Group 2"/>
          <p:cNvGrpSpPr/>
          <p:nvPr/>
        </p:nvGrpSpPr>
        <p:grpSpPr>
          <a:xfrm>
            <a:off x="-5321520" y="5285880"/>
            <a:ext cx="8988840" cy="8780760"/>
            <a:chOff x="-5321520" y="5285880"/>
            <a:chExt cx="8988840" cy="8780760"/>
          </a:xfrm>
        </p:grpSpPr>
        <p:sp>
          <p:nvSpPr>
            <p:cNvPr id="128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8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87" name="Group 5"/>
          <p:cNvGrpSpPr/>
          <p:nvPr/>
        </p:nvGrpSpPr>
        <p:grpSpPr>
          <a:xfrm>
            <a:off x="-1367280" y="9054360"/>
            <a:ext cx="4441320" cy="4338360"/>
            <a:chOff x="-1367280" y="9054360"/>
            <a:chExt cx="4441320" cy="4338360"/>
          </a:xfrm>
        </p:grpSpPr>
        <p:sp>
          <p:nvSpPr>
            <p:cNvPr id="128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8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90" name="Group 8"/>
          <p:cNvGrpSpPr/>
          <p:nvPr/>
        </p:nvGrpSpPr>
        <p:grpSpPr>
          <a:xfrm>
            <a:off x="15163920" y="-4197240"/>
            <a:ext cx="9577080" cy="9354960"/>
            <a:chOff x="15163920" y="-4197240"/>
            <a:chExt cx="9577080" cy="9354960"/>
          </a:xfrm>
        </p:grpSpPr>
        <p:sp>
          <p:nvSpPr>
            <p:cNvPr id="129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9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93" name="Group 11"/>
          <p:cNvGrpSpPr/>
          <p:nvPr/>
        </p:nvGrpSpPr>
        <p:grpSpPr>
          <a:xfrm>
            <a:off x="16032240" y="-3598920"/>
            <a:ext cx="4732200" cy="4622400"/>
            <a:chOff x="16032240" y="-3598920"/>
            <a:chExt cx="4732200" cy="4622400"/>
          </a:xfrm>
        </p:grpSpPr>
        <p:sp>
          <p:nvSpPr>
            <p:cNvPr id="129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9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96" name="Group 14"/>
          <p:cNvGrpSpPr/>
          <p:nvPr/>
        </p:nvGrpSpPr>
        <p:grpSpPr>
          <a:xfrm>
            <a:off x="12844800" y="8637480"/>
            <a:ext cx="4098960" cy="4003920"/>
            <a:chOff x="12844800" y="8637480"/>
            <a:chExt cx="4098960" cy="4003920"/>
          </a:xfrm>
        </p:grpSpPr>
        <p:sp>
          <p:nvSpPr>
            <p:cNvPr id="129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29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299" name="Group 17"/>
          <p:cNvGrpSpPr/>
          <p:nvPr/>
        </p:nvGrpSpPr>
        <p:grpSpPr>
          <a:xfrm>
            <a:off x="1352160" y="-2332080"/>
            <a:ext cx="4118040" cy="4021920"/>
            <a:chOff x="1352160" y="-2332080"/>
            <a:chExt cx="4118040" cy="4021920"/>
          </a:xfrm>
        </p:grpSpPr>
        <p:sp>
          <p:nvSpPr>
            <p:cNvPr id="130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0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302" name="TextBox 20"/>
          <p:cNvSpPr/>
          <p:nvPr/>
        </p:nvSpPr>
        <p:spPr>
          <a:xfrm>
            <a:off x="3076920" y="3454560"/>
            <a:ext cx="13426200" cy="4265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The Level-0 DFD, also called context diagram of the result management system is shown in fig. As the bubbles are decomposed into less and less abstract bubbles, the corresponding data flow may also be needed to be decomposed.</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30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0-LEVEL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04" name="Group 2"/>
          <p:cNvGrpSpPr/>
          <p:nvPr/>
        </p:nvGrpSpPr>
        <p:grpSpPr>
          <a:xfrm>
            <a:off x="-5321520" y="5285880"/>
            <a:ext cx="8988840" cy="8780760"/>
            <a:chOff x="-5321520" y="5285880"/>
            <a:chExt cx="8988840" cy="8780760"/>
          </a:xfrm>
        </p:grpSpPr>
        <p:sp>
          <p:nvSpPr>
            <p:cNvPr id="130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0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07" name="Group 5"/>
          <p:cNvGrpSpPr/>
          <p:nvPr/>
        </p:nvGrpSpPr>
        <p:grpSpPr>
          <a:xfrm>
            <a:off x="-1367280" y="9054360"/>
            <a:ext cx="4441320" cy="4338360"/>
            <a:chOff x="-1367280" y="9054360"/>
            <a:chExt cx="4441320" cy="4338360"/>
          </a:xfrm>
        </p:grpSpPr>
        <p:sp>
          <p:nvSpPr>
            <p:cNvPr id="130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0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10" name="Group 8"/>
          <p:cNvGrpSpPr/>
          <p:nvPr/>
        </p:nvGrpSpPr>
        <p:grpSpPr>
          <a:xfrm>
            <a:off x="15163920" y="-4197240"/>
            <a:ext cx="9577080" cy="9354960"/>
            <a:chOff x="15163920" y="-4197240"/>
            <a:chExt cx="9577080" cy="9354960"/>
          </a:xfrm>
        </p:grpSpPr>
        <p:sp>
          <p:nvSpPr>
            <p:cNvPr id="131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1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13" name="Group 11"/>
          <p:cNvGrpSpPr/>
          <p:nvPr/>
        </p:nvGrpSpPr>
        <p:grpSpPr>
          <a:xfrm>
            <a:off x="16032240" y="-3598920"/>
            <a:ext cx="4732200" cy="4622400"/>
            <a:chOff x="16032240" y="-3598920"/>
            <a:chExt cx="4732200" cy="4622400"/>
          </a:xfrm>
        </p:grpSpPr>
        <p:sp>
          <p:nvSpPr>
            <p:cNvPr id="131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1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16" name="Group 14"/>
          <p:cNvGrpSpPr/>
          <p:nvPr/>
        </p:nvGrpSpPr>
        <p:grpSpPr>
          <a:xfrm>
            <a:off x="12844800" y="8637480"/>
            <a:ext cx="4098960" cy="4003920"/>
            <a:chOff x="12844800" y="8637480"/>
            <a:chExt cx="4098960" cy="4003920"/>
          </a:xfrm>
        </p:grpSpPr>
        <p:sp>
          <p:nvSpPr>
            <p:cNvPr id="131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1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19" name="Group 17"/>
          <p:cNvGrpSpPr/>
          <p:nvPr/>
        </p:nvGrpSpPr>
        <p:grpSpPr>
          <a:xfrm>
            <a:off x="1352160" y="-2332080"/>
            <a:ext cx="4118040" cy="4021920"/>
            <a:chOff x="1352160" y="-2332080"/>
            <a:chExt cx="4118040" cy="4021920"/>
          </a:xfrm>
        </p:grpSpPr>
        <p:sp>
          <p:nvSpPr>
            <p:cNvPr id="132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2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322" name="Freeform 20"/>
          <p:cNvSpPr/>
          <p:nvPr/>
        </p:nvSpPr>
        <p:spPr>
          <a:xfrm>
            <a:off x="5034240" y="2133000"/>
            <a:ext cx="8691480" cy="7854840"/>
          </a:xfrm>
          <a:custGeom>
            <a:avLst/>
            <a:gdLst>
              <a:gd name="textAreaLeft" fmla="*/ 0 w 8691480"/>
              <a:gd name="textAreaRight" fmla="*/ 8694000 w 8691480"/>
              <a:gd name="textAreaTop" fmla="*/ 0 h 7854840"/>
              <a:gd name="textAreaBottom" fmla="*/ 7857360 h 7854840"/>
            </a:gdLst>
            <a:ahLst/>
            <a:rect l="textAreaLeft" t="textAreaTop" r="textAreaRight" b="textAreaBottom"/>
            <a:pathLst>
              <a:path w="8694159" h="7857346">
                <a:moveTo>
                  <a:pt x="0" y="0"/>
                </a:moveTo>
                <a:lnTo>
                  <a:pt x="8694159" y="0"/>
                </a:lnTo>
                <a:lnTo>
                  <a:pt x="8694159" y="7857346"/>
                </a:lnTo>
                <a:lnTo>
                  <a:pt x="0" y="7857346"/>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32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0-LEVEL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24" name="Group 2"/>
          <p:cNvGrpSpPr/>
          <p:nvPr/>
        </p:nvGrpSpPr>
        <p:grpSpPr>
          <a:xfrm>
            <a:off x="-5321520" y="5285880"/>
            <a:ext cx="8988840" cy="8780760"/>
            <a:chOff x="-5321520" y="5285880"/>
            <a:chExt cx="8988840" cy="8780760"/>
          </a:xfrm>
        </p:grpSpPr>
        <p:sp>
          <p:nvSpPr>
            <p:cNvPr id="132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2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27" name="Group 5"/>
          <p:cNvGrpSpPr/>
          <p:nvPr/>
        </p:nvGrpSpPr>
        <p:grpSpPr>
          <a:xfrm>
            <a:off x="-1367280" y="9054360"/>
            <a:ext cx="4441320" cy="4338360"/>
            <a:chOff x="-1367280" y="9054360"/>
            <a:chExt cx="4441320" cy="4338360"/>
          </a:xfrm>
        </p:grpSpPr>
        <p:sp>
          <p:nvSpPr>
            <p:cNvPr id="132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2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30" name="Group 8"/>
          <p:cNvGrpSpPr/>
          <p:nvPr/>
        </p:nvGrpSpPr>
        <p:grpSpPr>
          <a:xfrm>
            <a:off x="15163920" y="-4197240"/>
            <a:ext cx="9577080" cy="9354960"/>
            <a:chOff x="15163920" y="-4197240"/>
            <a:chExt cx="9577080" cy="9354960"/>
          </a:xfrm>
        </p:grpSpPr>
        <p:sp>
          <p:nvSpPr>
            <p:cNvPr id="133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3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33" name="Group 11"/>
          <p:cNvGrpSpPr/>
          <p:nvPr/>
        </p:nvGrpSpPr>
        <p:grpSpPr>
          <a:xfrm>
            <a:off x="16032240" y="-3598920"/>
            <a:ext cx="4732200" cy="4622400"/>
            <a:chOff x="16032240" y="-3598920"/>
            <a:chExt cx="4732200" cy="4622400"/>
          </a:xfrm>
        </p:grpSpPr>
        <p:sp>
          <p:nvSpPr>
            <p:cNvPr id="133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3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36" name="Group 14"/>
          <p:cNvGrpSpPr/>
          <p:nvPr/>
        </p:nvGrpSpPr>
        <p:grpSpPr>
          <a:xfrm>
            <a:off x="12844800" y="8637480"/>
            <a:ext cx="4098960" cy="4003920"/>
            <a:chOff x="12844800" y="8637480"/>
            <a:chExt cx="4098960" cy="4003920"/>
          </a:xfrm>
        </p:grpSpPr>
        <p:sp>
          <p:nvSpPr>
            <p:cNvPr id="133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3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39" name="Group 17"/>
          <p:cNvGrpSpPr/>
          <p:nvPr/>
        </p:nvGrpSpPr>
        <p:grpSpPr>
          <a:xfrm>
            <a:off x="1352160" y="-2332080"/>
            <a:ext cx="4118040" cy="4021920"/>
            <a:chOff x="1352160" y="-2332080"/>
            <a:chExt cx="4118040" cy="4021920"/>
          </a:xfrm>
        </p:grpSpPr>
        <p:sp>
          <p:nvSpPr>
            <p:cNvPr id="134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4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342" name="TextBox 20"/>
          <p:cNvSpPr/>
          <p:nvPr/>
        </p:nvSpPr>
        <p:spPr>
          <a:xfrm>
            <a:off x="3076920" y="3454560"/>
            <a:ext cx="13426200" cy="3554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In 1-level DFD, a context diagram is decomposed into multiple bubbles/processes. In this level, we highlight the main objectives of the system and breakdown the high-level process of 0-level DFD into subprocesses.</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
        <p:nvSpPr>
          <p:cNvPr id="134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1-LEVEL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44" name="Group 2"/>
          <p:cNvGrpSpPr/>
          <p:nvPr/>
        </p:nvGrpSpPr>
        <p:grpSpPr>
          <a:xfrm>
            <a:off x="-5321520" y="5285880"/>
            <a:ext cx="8988840" cy="8780760"/>
            <a:chOff x="-5321520" y="5285880"/>
            <a:chExt cx="8988840" cy="8780760"/>
          </a:xfrm>
        </p:grpSpPr>
        <p:sp>
          <p:nvSpPr>
            <p:cNvPr id="134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4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47" name="Group 5"/>
          <p:cNvGrpSpPr/>
          <p:nvPr/>
        </p:nvGrpSpPr>
        <p:grpSpPr>
          <a:xfrm>
            <a:off x="-1367280" y="9054360"/>
            <a:ext cx="4441320" cy="4338360"/>
            <a:chOff x="-1367280" y="9054360"/>
            <a:chExt cx="4441320" cy="4338360"/>
          </a:xfrm>
        </p:grpSpPr>
        <p:sp>
          <p:nvSpPr>
            <p:cNvPr id="134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4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50" name="Group 8"/>
          <p:cNvGrpSpPr/>
          <p:nvPr/>
        </p:nvGrpSpPr>
        <p:grpSpPr>
          <a:xfrm>
            <a:off x="15163920" y="-4197240"/>
            <a:ext cx="9577080" cy="9354960"/>
            <a:chOff x="15163920" y="-4197240"/>
            <a:chExt cx="9577080" cy="9354960"/>
          </a:xfrm>
        </p:grpSpPr>
        <p:sp>
          <p:nvSpPr>
            <p:cNvPr id="135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5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53" name="Group 11"/>
          <p:cNvGrpSpPr/>
          <p:nvPr/>
        </p:nvGrpSpPr>
        <p:grpSpPr>
          <a:xfrm>
            <a:off x="16032240" y="-3598920"/>
            <a:ext cx="4732200" cy="4622400"/>
            <a:chOff x="16032240" y="-3598920"/>
            <a:chExt cx="4732200" cy="4622400"/>
          </a:xfrm>
        </p:grpSpPr>
        <p:sp>
          <p:nvSpPr>
            <p:cNvPr id="135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5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56" name="Group 14"/>
          <p:cNvGrpSpPr/>
          <p:nvPr/>
        </p:nvGrpSpPr>
        <p:grpSpPr>
          <a:xfrm>
            <a:off x="12844800" y="8637480"/>
            <a:ext cx="4098960" cy="4003920"/>
            <a:chOff x="12844800" y="8637480"/>
            <a:chExt cx="4098960" cy="4003920"/>
          </a:xfrm>
        </p:grpSpPr>
        <p:sp>
          <p:nvSpPr>
            <p:cNvPr id="135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5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59" name="Group 17"/>
          <p:cNvGrpSpPr/>
          <p:nvPr/>
        </p:nvGrpSpPr>
        <p:grpSpPr>
          <a:xfrm>
            <a:off x="1352160" y="-2332080"/>
            <a:ext cx="4118040" cy="4021920"/>
            <a:chOff x="1352160" y="-2332080"/>
            <a:chExt cx="4118040" cy="4021920"/>
          </a:xfrm>
        </p:grpSpPr>
        <p:sp>
          <p:nvSpPr>
            <p:cNvPr id="136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6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362" name="Freeform 20"/>
          <p:cNvSpPr/>
          <p:nvPr/>
        </p:nvSpPr>
        <p:spPr>
          <a:xfrm>
            <a:off x="4608000" y="1994760"/>
            <a:ext cx="8646480" cy="8289720"/>
          </a:xfrm>
          <a:custGeom>
            <a:avLst/>
            <a:gdLst>
              <a:gd name="textAreaLeft" fmla="*/ 0 w 8646480"/>
              <a:gd name="textAreaRight" fmla="*/ 8649000 w 8646480"/>
              <a:gd name="textAreaTop" fmla="*/ 0 h 8289720"/>
              <a:gd name="textAreaBottom" fmla="*/ 8292240 h 8289720"/>
            </a:gdLst>
            <a:ahLst/>
            <a:rect l="textAreaLeft" t="textAreaTop" r="textAreaRight" b="textAreaBottom"/>
            <a:pathLst>
              <a:path w="8649152" h="8292374">
                <a:moveTo>
                  <a:pt x="0" y="0"/>
                </a:moveTo>
                <a:lnTo>
                  <a:pt x="8649152" y="0"/>
                </a:lnTo>
                <a:lnTo>
                  <a:pt x="8649152" y="8292374"/>
                </a:lnTo>
                <a:lnTo>
                  <a:pt x="0" y="829237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36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1-LEVEL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64" name="Group 2"/>
          <p:cNvGrpSpPr/>
          <p:nvPr/>
        </p:nvGrpSpPr>
        <p:grpSpPr>
          <a:xfrm>
            <a:off x="-5321520" y="5285880"/>
            <a:ext cx="8988840" cy="8780760"/>
            <a:chOff x="-5321520" y="5285880"/>
            <a:chExt cx="8988840" cy="8780760"/>
          </a:xfrm>
        </p:grpSpPr>
        <p:sp>
          <p:nvSpPr>
            <p:cNvPr id="136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6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67" name="Group 5"/>
          <p:cNvGrpSpPr/>
          <p:nvPr/>
        </p:nvGrpSpPr>
        <p:grpSpPr>
          <a:xfrm>
            <a:off x="-1367280" y="9054360"/>
            <a:ext cx="4441320" cy="4338360"/>
            <a:chOff x="-1367280" y="9054360"/>
            <a:chExt cx="4441320" cy="4338360"/>
          </a:xfrm>
        </p:grpSpPr>
        <p:sp>
          <p:nvSpPr>
            <p:cNvPr id="136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6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70" name="Group 8"/>
          <p:cNvGrpSpPr/>
          <p:nvPr/>
        </p:nvGrpSpPr>
        <p:grpSpPr>
          <a:xfrm>
            <a:off x="15163920" y="-4197240"/>
            <a:ext cx="9577080" cy="9354960"/>
            <a:chOff x="15163920" y="-4197240"/>
            <a:chExt cx="9577080" cy="9354960"/>
          </a:xfrm>
        </p:grpSpPr>
        <p:sp>
          <p:nvSpPr>
            <p:cNvPr id="137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7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73" name="Group 11"/>
          <p:cNvGrpSpPr/>
          <p:nvPr/>
        </p:nvGrpSpPr>
        <p:grpSpPr>
          <a:xfrm>
            <a:off x="16032240" y="-3598920"/>
            <a:ext cx="4732200" cy="4622400"/>
            <a:chOff x="16032240" y="-3598920"/>
            <a:chExt cx="4732200" cy="4622400"/>
          </a:xfrm>
        </p:grpSpPr>
        <p:sp>
          <p:nvSpPr>
            <p:cNvPr id="137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7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76" name="Group 14"/>
          <p:cNvGrpSpPr/>
          <p:nvPr/>
        </p:nvGrpSpPr>
        <p:grpSpPr>
          <a:xfrm>
            <a:off x="12844800" y="8637480"/>
            <a:ext cx="4098960" cy="4003920"/>
            <a:chOff x="12844800" y="8637480"/>
            <a:chExt cx="4098960" cy="4003920"/>
          </a:xfrm>
        </p:grpSpPr>
        <p:sp>
          <p:nvSpPr>
            <p:cNvPr id="137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7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79" name="Group 17"/>
          <p:cNvGrpSpPr/>
          <p:nvPr/>
        </p:nvGrpSpPr>
        <p:grpSpPr>
          <a:xfrm>
            <a:off x="1352160" y="-2332080"/>
            <a:ext cx="4118040" cy="4021920"/>
            <a:chOff x="1352160" y="-2332080"/>
            <a:chExt cx="4118040" cy="4021920"/>
          </a:xfrm>
        </p:grpSpPr>
        <p:sp>
          <p:nvSpPr>
            <p:cNvPr id="138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8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382" name="TextBox 20"/>
          <p:cNvSpPr/>
          <p:nvPr/>
        </p:nvSpPr>
        <p:spPr>
          <a:xfrm>
            <a:off x="3076920" y="3454560"/>
            <a:ext cx="13426200" cy="2132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2-level DFD goes one process deeper into parts of 1-level DFD. It can be used to project or record the specific/necessary detail about the system's functioning.</a:t>
            </a:r>
            <a:endParaRPr b="0" lang="en-PH" sz="4000" spc="-1" strike="noStrike">
              <a:solidFill>
                <a:srgbClr val="000000"/>
              </a:solidFill>
              <a:latin typeface="Arial"/>
            </a:endParaRPr>
          </a:p>
        </p:txBody>
      </p:sp>
      <p:sp>
        <p:nvSpPr>
          <p:cNvPr id="138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384" name="Group 2"/>
          <p:cNvGrpSpPr/>
          <p:nvPr/>
        </p:nvGrpSpPr>
        <p:grpSpPr>
          <a:xfrm>
            <a:off x="-5321520" y="5285880"/>
            <a:ext cx="8988840" cy="8780760"/>
            <a:chOff x="-5321520" y="5285880"/>
            <a:chExt cx="8988840" cy="8780760"/>
          </a:xfrm>
        </p:grpSpPr>
        <p:sp>
          <p:nvSpPr>
            <p:cNvPr id="138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8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87" name="Group 5"/>
          <p:cNvGrpSpPr/>
          <p:nvPr/>
        </p:nvGrpSpPr>
        <p:grpSpPr>
          <a:xfrm>
            <a:off x="-1367280" y="9054360"/>
            <a:ext cx="4441320" cy="4338360"/>
            <a:chOff x="-1367280" y="9054360"/>
            <a:chExt cx="4441320" cy="4338360"/>
          </a:xfrm>
        </p:grpSpPr>
        <p:sp>
          <p:nvSpPr>
            <p:cNvPr id="138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8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90" name="Group 8"/>
          <p:cNvGrpSpPr/>
          <p:nvPr/>
        </p:nvGrpSpPr>
        <p:grpSpPr>
          <a:xfrm>
            <a:off x="15163920" y="-4197240"/>
            <a:ext cx="9577080" cy="9354960"/>
            <a:chOff x="15163920" y="-4197240"/>
            <a:chExt cx="9577080" cy="9354960"/>
          </a:xfrm>
        </p:grpSpPr>
        <p:sp>
          <p:nvSpPr>
            <p:cNvPr id="139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9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93" name="Group 11"/>
          <p:cNvGrpSpPr/>
          <p:nvPr/>
        </p:nvGrpSpPr>
        <p:grpSpPr>
          <a:xfrm>
            <a:off x="16032240" y="-3598920"/>
            <a:ext cx="4732200" cy="4622400"/>
            <a:chOff x="16032240" y="-3598920"/>
            <a:chExt cx="4732200" cy="4622400"/>
          </a:xfrm>
        </p:grpSpPr>
        <p:sp>
          <p:nvSpPr>
            <p:cNvPr id="139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9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96" name="Group 14"/>
          <p:cNvGrpSpPr/>
          <p:nvPr/>
        </p:nvGrpSpPr>
        <p:grpSpPr>
          <a:xfrm>
            <a:off x="12844800" y="8637480"/>
            <a:ext cx="4098960" cy="4003920"/>
            <a:chOff x="12844800" y="8637480"/>
            <a:chExt cx="4098960" cy="4003920"/>
          </a:xfrm>
        </p:grpSpPr>
        <p:sp>
          <p:nvSpPr>
            <p:cNvPr id="139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39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399" name="Group 17"/>
          <p:cNvGrpSpPr/>
          <p:nvPr/>
        </p:nvGrpSpPr>
        <p:grpSpPr>
          <a:xfrm>
            <a:off x="1352160" y="-2332080"/>
            <a:ext cx="4118040" cy="4021920"/>
            <a:chOff x="1352160" y="-2332080"/>
            <a:chExt cx="4118040" cy="4021920"/>
          </a:xfrm>
        </p:grpSpPr>
        <p:sp>
          <p:nvSpPr>
            <p:cNvPr id="140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0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02" name="Freeform 20"/>
          <p:cNvSpPr/>
          <p:nvPr/>
        </p:nvSpPr>
        <p:spPr>
          <a:xfrm>
            <a:off x="2401200" y="1690560"/>
            <a:ext cx="13765680" cy="8265600"/>
          </a:xfrm>
          <a:custGeom>
            <a:avLst/>
            <a:gdLst>
              <a:gd name="textAreaLeft" fmla="*/ 0 w 13765680"/>
              <a:gd name="textAreaRight" fmla="*/ 13768200 w 13765680"/>
              <a:gd name="textAreaTop" fmla="*/ 0 h 8265600"/>
              <a:gd name="textAreaBottom" fmla="*/ 8268120 h 8265600"/>
            </a:gdLst>
            <a:ahLst/>
            <a:rect l="textAreaLeft" t="textAreaTop" r="textAreaRight" b="textAreaBottom"/>
            <a:pathLst>
              <a:path w="13768345" h="8268058">
                <a:moveTo>
                  <a:pt x="0" y="0"/>
                </a:moveTo>
                <a:lnTo>
                  <a:pt x="13768345" y="0"/>
                </a:lnTo>
                <a:lnTo>
                  <a:pt x="13768345" y="8268059"/>
                </a:lnTo>
                <a:lnTo>
                  <a:pt x="0" y="8268059"/>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40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04" name="Group 2"/>
          <p:cNvGrpSpPr/>
          <p:nvPr/>
        </p:nvGrpSpPr>
        <p:grpSpPr>
          <a:xfrm>
            <a:off x="-5321520" y="5285880"/>
            <a:ext cx="8988840" cy="8780760"/>
            <a:chOff x="-5321520" y="5285880"/>
            <a:chExt cx="8988840" cy="8780760"/>
          </a:xfrm>
        </p:grpSpPr>
        <p:sp>
          <p:nvSpPr>
            <p:cNvPr id="140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0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07" name="Group 5"/>
          <p:cNvGrpSpPr/>
          <p:nvPr/>
        </p:nvGrpSpPr>
        <p:grpSpPr>
          <a:xfrm>
            <a:off x="-1367280" y="9054360"/>
            <a:ext cx="4441320" cy="4338360"/>
            <a:chOff x="-1367280" y="9054360"/>
            <a:chExt cx="4441320" cy="4338360"/>
          </a:xfrm>
        </p:grpSpPr>
        <p:sp>
          <p:nvSpPr>
            <p:cNvPr id="140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0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10" name="Group 8"/>
          <p:cNvGrpSpPr/>
          <p:nvPr/>
        </p:nvGrpSpPr>
        <p:grpSpPr>
          <a:xfrm>
            <a:off x="15163920" y="-4197240"/>
            <a:ext cx="9577080" cy="9354960"/>
            <a:chOff x="15163920" y="-4197240"/>
            <a:chExt cx="9577080" cy="9354960"/>
          </a:xfrm>
        </p:grpSpPr>
        <p:sp>
          <p:nvSpPr>
            <p:cNvPr id="141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1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13" name="Group 11"/>
          <p:cNvGrpSpPr/>
          <p:nvPr/>
        </p:nvGrpSpPr>
        <p:grpSpPr>
          <a:xfrm>
            <a:off x="16032240" y="-3598920"/>
            <a:ext cx="4732200" cy="4622400"/>
            <a:chOff x="16032240" y="-3598920"/>
            <a:chExt cx="4732200" cy="4622400"/>
          </a:xfrm>
        </p:grpSpPr>
        <p:sp>
          <p:nvSpPr>
            <p:cNvPr id="141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1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16" name="Group 14"/>
          <p:cNvGrpSpPr/>
          <p:nvPr/>
        </p:nvGrpSpPr>
        <p:grpSpPr>
          <a:xfrm>
            <a:off x="12844800" y="8637480"/>
            <a:ext cx="4098960" cy="4003920"/>
            <a:chOff x="12844800" y="8637480"/>
            <a:chExt cx="4098960" cy="4003920"/>
          </a:xfrm>
        </p:grpSpPr>
        <p:sp>
          <p:nvSpPr>
            <p:cNvPr id="141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1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19" name="Group 17"/>
          <p:cNvGrpSpPr/>
          <p:nvPr/>
        </p:nvGrpSpPr>
        <p:grpSpPr>
          <a:xfrm>
            <a:off x="1352160" y="-2332080"/>
            <a:ext cx="4118040" cy="4021920"/>
            <a:chOff x="1352160" y="-2332080"/>
            <a:chExt cx="4118040" cy="4021920"/>
          </a:xfrm>
        </p:grpSpPr>
        <p:sp>
          <p:nvSpPr>
            <p:cNvPr id="142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2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22" name="Freeform 20"/>
          <p:cNvSpPr/>
          <p:nvPr/>
        </p:nvSpPr>
        <p:spPr>
          <a:xfrm>
            <a:off x="2669400" y="2097720"/>
            <a:ext cx="13497840" cy="8104680"/>
          </a:xfrm>
          <a:custGeom>
            <a:avLst/>
            <a:gdLst>
              <a:gd name="textAreaLeft" fmla="*/ 0 w 13497840"/>
              <a:gd name="textAreaRight" fmla="*/ 13500360 w 13497840"/>
              <a:gd name="textAreaTop" fmla="*/ 0 h 8104680"/>
              <a:gd name="textAreaBottom" fmla="*/ 8107200 h 8104680"/>
            </a:gdLst>
            <a:ahLst/>
            <a:rect l="textAreaLeft" t="textAreaTop" r="textAreaRight" b="textAreaBottom"/>
            <a:pathLst>
              <a:path w="13500200" h="8107035">
                <a:moveTo>
                  <a:pt x="0" y="0"/>
                </a:moveTo>
                <a:lnTo>
                  <a:pt x="13500200" y="0"/>
                </a:lnTo>
                <a:lnTo>
                  <a:pt x="13500200" y="8107034"/>
                </a:lnTo>
                <a:lnTo>
                  <a:pt x="0" y="810703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42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24" name="Group 2"/>
          <p:cNvGrpSpPr/>
          <p:nvPr/>
        </p:nvGrpSpPr>
        <p:grpSpPr>
          <a:xfrm>
            <a:off x="-5321520" y="5285880"/>
            <a:ext cx="8988840" cy="8780760"/>
            <a:chOff x="-5321520" y="5285880"/>
            <a:chExt cx="8988840" cy="8780760"/>
          </a:xfrm>
        </p:grpSpPr>
        <p:sp>
          <p:nvSpPr>
            <p:cNvPr id="142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2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27" name="Group 5"/>
          <p:cNvGrpSpPr/>
          <p:nvPr/>
        </p:nvGrpSpPr>
        <p:grpSpPr>
          <a:xfrm>
            <a:off x="-1367280" y="9054360"/>
            <a:ext cx="4441320" cy="4338360"/>
            <a:chOff x="-1367280" y="9054360"/>
            <a:chExt cx="4441320" cy="4338360"/>
          </a:xfrm>
        </p:grpSpPr>
        <p:sp>
          <p:nvSpPr>
            <p:cNvPr id="142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2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30" name="Group 8"/>
          <p:cNvGrpSpPr/>
          <p:nvPr/>
        </p:nvGrpSpPr>
        <p:grpSpPr>
          <a:xfrm>
            <a:off x="15163920" y="-4197240"/>
            <a:ext cx="9577080" cy="9354960"/>
            <a:chOff x="15163920" y="-4197240"/>
            <a:chExt cx="9577080" cy="9354960"/>
          </a:xfrm>
        </p:grpSpPr>
        <p:sp>
          <p:nvSpPr>
            <p:cNvPr id="143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3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33" name="Group 11"/>
          <p:cNvGrpSpPr/>
          <p:nvPr/>
        </p:nvGrpSpPr>
        <p:grpSpPr>
          <a:xfrm>
            <a:off x="16032240" y="-3598920"/>
            <a:ext cx="4732200" cy="4622400"/>
            <a:chOff x="16032240" y="-3598920"/>
            <a:chExt cx="4732200" cy="4622400"/>
          </a:xfrm>
        </p:grpSpPr>
        <p:sp>
          <p:nvSpPr>
            <p:cNvPr id="143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3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36" name="Group 14"/>
          <p:cNvGrpSpPr/>
          <p:nvPr/>
        </p:nvGrpSpPr>
        <p:grpSpPr>
          <a:xfrm>
            <a:off x="12844800" y="8637480"/>
            <a:ext cx="4098960" cy="4003920"/>
            <a:chOff x="12844800" y="8637480"/>
            <a:chExt cx="4098960" cy="4003920"/>
          </a:xfrm>
        </p:grpSpPr>
        <p:sp>
          <p:nvSpPr>
            <p:cNvPr id="143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3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39" name="Group 17"/>
          <p:cNvGrpSpPr/>
          <p:nvPr/>
        </p:nvGrpSpPr>
        <p:grpSpPr>
          <a:xfrm>
            <a:off x="1352160" y="-2332080"/>
            <a:ext cx="4118040" cy="4021920"/>
            <a:chOff x="1352160" y="-2332080"/>
            <a:chExt cx="4118040" cy="4021920"/>
          </a:xfrm>
        </p:grpSpPr>
        <p:sp>
          <p:nvSpPr>
            <p:cNvPr id="144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4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42" name="Freeform 20"/>
          <p:cNvSpPr/>
          <p:nvPr/>
        </p:nvSpPr>
        <p:spPr>
          <a:xfrm>
            <a:off x="2500200" y="1855800"/>
            <a:ext cx="13702680" cy="8227800"/>
          </a:xfrm>
          <a:custGeom>
            <a:avLst/>
            <a:gdLst>
              <a:gd name="textAreaLeft" fmla="*/ 0 w 13702680"/>
              <a:gd name="textAreaRight" fmla="*/ 13705200 w 13702680"/>
              <a:gd name="textAreaTop" fmla="*/ 0 h 8227800"/>
              <a:gd name="textAreaBottom" fmla="*/ 8230320 h 8227800"/>
            </a:gdLst>
            <a:ahLst/>
            <a:rect l="textAreaLeft" t="textAreaTop" r="textAreaRight" b="textAreaBottom"/>
            <a:pathLst>
              <a:path w="13705249" h="8230169">
                <a:moveTo>
                  <a:pt x="0" y="0"/>
                </a:moveTo>
                <a:lnTo>
                  <a:pt x="13705249" y="0"/>
                </a:lnTo>
                <a:lnTo>
                  <a:pt x="13705249" y="8230169"/>
                </a:lnTo>
                <a:lnTo>
                  <a:pt x="0" y="8230169"/>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44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44" name="Group 2"/>
          <p:cNvGrpSpPr/>
          <p:nvPr/>
        </p:nvGrpSpPr>
        <p:grpSpPr>
          <a:xfrm>
            <a:off x="-5321520" y="5285880"/>
            <a:ext cx="8988840" cy="8780760"/>
            <a:chOff x="-5321520" y="5285880"/>
            <a:chExt cx="8988840" cy="8780760"/>
          </a:xfrm>
        </p:grpSpPr>
        <p:sp>
          <p:nvSpPr>
            <p:cNvPr id="144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4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47" name="Group 5"/>
          <p:cNvGrpSpPr/>
          <p:nvPr/>
        </p:nvGrpSpPr>
        <p:grpSpPr>
          <a:xfrm>
            <a:off x="-1367280" y="9054360"/>
            <a:ext cx="4441320" cy="4338360"/>
            <a:chOff x="-1367280" y="9054360"/>
            <a:chExt cx="4441320" cy="4338360"/>
          </a:xfrm>
        </p:grpSpPr>
        <p:sp>
          <p:nvSpPr>
            <p:cNvPr id="144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4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50" name="Group 8"/>
          <p:cNvGrpSpPr/>
          <p:nvPr/>
        </p:nvGrpSpPr>
        <p:grpSpPr>
          <a:xfrm>
            <a:off x="15163920" y="-4197240"/>
            <a:ext cx="9577080" cy="9354960"/>
            <a:chOff x="15163920" y="-4197240"/>
            <a:chExt cx="9577080" cy="9354960"/>
          </a:xfrm>
        </p:grpSpPr>
        <p:sp>
          <p:nvSpPr>
            <p:cNvPr id="145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5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53" name="Group 11"/>
          <p:cNvGrpSpPr/>
          <p:nvPr/>
        </p:nvGrpSpPr>
        <p:grpSpPr>
          <a:xfrm>
            <a:off x="16032240" y="-3598920"/>
            <a:ext cx="4732200" cy="4622400"/>
            <a:chOff x="16032240" y="-3598920"/>
            <a:chExt cx="4732200" cy="4622400"/>
          </a:xfrm>
        </p:grpSpPr>
        <p:sp>
          <p:nvSpPr>
            <p:cNvPr id="145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5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56" name="Group 14"/>
          <p:cNvGrpSpPr/>
          <p:nvPr/>
        </p:nvGrpSpPr>
        <p:grpSpPr>
          <a:xfrm>
            <a:off x="12844800" y="8637480"/>
            <a:ext cx="4098960" cy="4003920"/>
            <a:chOff x="12844800" y="8637480"/>
            <a:chExt cx="4098960" cy="4003920"/>
          </a:xfrm>
        </p:grpSpPr>
        <p:sp>
          <p:nvSpPr>
            <p:cNvPr id="145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5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59" name="Group 17"/>
          <p:cNvGrpSpPr/>
          <p:nvPr/>
        </p:nvGrpSpPr>
        <p:grpSpPr>
          <a:xfrm>
            <a:off x="1352160" y="-2332080"/>
            <a:ext cx="4118040" cy="4021920"/>
            <a:chOff x="1352160" y="-2332080"/>
            <a:chExt cx="4118040" cy="4021920"/>
          </a:xfrm>
        </p:grpSpPr>
        <p:sp>
          <p:nvSpPr>
            <p:cNvPr id="146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6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62" name="Freeform 20"/>
          <p:cNvSpPr/>
          <p:nvPr/>
        </p:nvSpPr>
        <p:spPr>
          <a:xfrm>
            <a:off x="2500200" y="1855800"/>
            <a:ext cx="13702680" cy="8227800"/>
          </a:xfrm>
          <a:custGeom>
            <a:avLst/>
            <a:gdLst>
              <a:gd name="textAreaLeft" fmla="*/ 0 w 13702680"/>
              <a:gd name="textAreaRight" fmla="*/ 13705200 w 13702680"/>
              <a:gd name="textAreaTop" fmla="*/ 0 h 8227800"/>
              <a:gd name="textAreaBottom" fmla="*/ 8230320 h 8227800"/>
            </a:gdLst>
            <a:ahLst/>
            <a:rect l="textAreaLeft" t="textAreaTop" r="textAreaRight" b="textAreaBottom"/>
            <a:pathLst>
              <a:path w="13705249" h="8230169">
                <a:moveTo>
                  <a:pt x="0" y="0"/>
                </a:moveTo>
                <a:lnTo>
                  <a:pt x="13705249" y="0"/>
                </a:lnTo>
                <a:lnTo>
                  <a:pt x="13705249" y="8230169"/>
                </a:lnTo>
                <a:lnTo>
                  <a:pt x="0" y="8230169"/>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46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64" name="Group 2"/>
          <p:cNvGrpSpPr/>
          <p:nvPr/>
        </p:nvGrpSpPr>
        <p:grpSpPr>
          <a:xfrm>
            <a:off x="-5321520" y="5285880"/>
            <a:ext cx="8988840" cy="8780760"/>
            <a:chOff x="-5321520" y="5285880"/>
            <a:chExt cx="8988840" cy="8780760"/>
          </a:xfrm>
        </p:grpSpPr>
        <p:sp>
          <p:nvSpPr>
            <p:cNvPr id="146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6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67" name="Group 5"/>
          <p:cNvGrpSpPr/>
          <p:nvPr/>
        </p:nvGrpSpPr>
        <p:grpSpPr>
          <a:xfrm>
            <a:off x="-1367280" y="9054360"/>
            <a:ext cx="4441320" cy="4338360"/>
            <a:chOff x="-1367280" y="9054360"/>
            <a:chExt cx="4441320" cy="4338360"/>
          </a:xfrm>
        </p:grpSpPr>
        <p:sp>
          <p:nvSpPr>
            <p:cNvPr id="146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6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70" name="Group 8"/>
          <p:cNvGrpSpPr/>
          <p:nvPr/>
        </p:nvGrpSpPr>
        <p:grpSpPr>
          <a:xfrm>
            <a:off x="15163920" y="-4197240"/>
            <a:ext cx="9577080" cy="9354960"/>
            <a:chOff x="15163920" y="-4197240"/>
            <a:chExt cx="9577080" cy="9354960"/>
          </a:xfrm>
        </p:grpSpPr>
        <p:sp>
          <p:nvSpPr>
            <p:cNvPr id="147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7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73" name="Group 11"/>
          <p:cNvGrpSpPr/>
          <p:nvPr/>
        </p:nvGrpSpPr>
        <p:grpSpPr>
          <a:xfrm>
            <a:off x="16032240" y="-3598920"/>
            <a:ext cx="4732200" cy="4622400"/>
            <a:chOff x="16032240" y="-3598920"/>
            <a:chExt cx="4732200" cy="4622400"/>
          </a:xfrm>
        </p:grpSpPr>
        <p:sp>
          <p:nvSpPr>
            <p:cNvPr id="147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7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76" name="Group 14"/>
          <p:cNvGrpSpPr/>
          <p:nvPr/>
        </p:nvGrpSpPr>
        <p:grpSpPr>
          <a:xfrm>
            <a:off x="12844800" y="8637480"/>
            <a:ext cx="4098960" cy="4003920"/>
            <a:chOff x="12844800" y="8637480"/>
            <a:chExt cx="4098960" cy="4003920"/>
          </a:xfrm>
        </p:grpSpPr>
        <p:sp>
          <p:nvSpPr>
            <p:cNvPr id="147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7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79" name="Group 17"/>
          <p:cNvGrpSpPr/>
          <p:nvPr/>
        </p:nvGrpSpPr>
        <p:grpSpPr>
          <a:xfrm>
            <a:off x="1352160" y="-2332080"/>
            <a:ext cx="4118040" cy="4021920"/>
            <a:chOff x="1352160" y="-2332080"/>
            <a:chExt cx="4118040" cy="4021920"/>
          </a:xfrm>
        </p:grpSpPr>
        <p:sp>
          <p:nvSpPr>
            <p:cNvPr id="148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8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482" name="Freeform 20"/>
          <p:cNvSpPr/>
          <p:nvPr/>
        </p:nvSpPr>
        <p:spPr>
          <a:xfrm>
            <a:off x="4012560" y="1690560"/>
            <a:ext cx="10260360" cy="8298000"/>
          </a:xfrm>
          <a:custGeom>
            <a:avLst/>
            <a:gdLst>
              <a:gd name="textAreaLeft" fmla="*/ 0 w 10260360"/>
              <a:gd name="textAreaRight" fmla="*/ 10262880 w 10260360"/>
              <a:gd name="textAreaTop" fmla="*/ 0 h 8298000"/>
              <a:gd name="textAreaBottom" fmla="*/ 8300520 h 8298000"/>
            </a:gdLst>
            <a:ahLst/>
            <a:rect l="textAreaLeft" t="textAreaTop" r="textAreaRight" b="textAreaBottom"/>
            <a:pathLst>
              <a:path w="10262869" h="8300515">
                <a:moveTo>
                  <a:pt x="0" y="0"/>
                </a:moveTo>
                <a:lnTo>
                  <a:pt x="10262870" y="0"/>
                </a:lnTo>
                <a:lnTo>
                  <a:pt x="10262870" y="8300515"/>
                </a:lnTo>
                <a:lnTo>
                  <a:pt x="0" y="8300515"/>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48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84" name="Group 2"/>
          <p:cNvGrpSpPr/>
          <p:nvPr/>
        </p:nvGrpSpPr>
        <p:grpSpPr>
          <a:xfrm>
            <a:off x="-5321520" y="5285880"/>
            <a:ext cx="8988840" cy="8780760"/>
            <a:chOff x="-5321520" y="5285880"/>
            <a:chExt cx="8988840" cy="8780760"/>
          </a:xfrm>
        </p:grpSpPr>
        <p:sp>
          <p:nvSpPr>
            <p:cNvPr id="148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8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87" name="Group 5"/>
          <p:cNvGrpSpPr/>
          <p:nvPr/>
        </p:nvGrpSpPr>
        <p:grpSpPr>
          <a:xfrm>
            <a:off x="-1367280" y="9054360"/>
            <a:ext cx="4441320" cy="4338360"/>
            <a:chOff x="-1367280" y="9054360"/>
            <a:chExt cx="4441320" cy="4338360"/>
          </a:xfrm>
        </p:grpSpPr>
        <p:sp>
          <p:nvSpPr>
            <p:cNvPr id="148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8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90" name="Group 8"/>
          <p:cNvGrpSpPr/>
          <p:nvPr/>
        </p:nvGrpSpPr>
        <p:grpSpPr>
          <a:xfrm>
            <a:off x="15163920" y="-4197240"/>
            <a:ext cx="9577080" cy="9354960"/>
            <a:chOff x="15163920" y="-4197240"/>
            <a:chExt cx="9577080" cy="9354960"/>
          </a:xfrm>
        </p:grpSpPr>
        <p:sp>
          <p:nvSpPr>
            <p:cNvPr id="149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9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93" name="Group 11"/>
          <p:cNvGrpSpPr/>
          <p:nvPr/>
        </p:nvGrpSpPr>
        <p:grpSpPr>
          <a:xfrm>
            <a:off x="16032240" y="-3598920"/>
            <a:ext cx="4732200" cy="4622400"/>
            <a:chOff x="16032240" y="-3598920"/>
            <a:chExt cx="4732200" cy="4622400"/>
          </a:xfrm>
        </p:grpSpPr>
        <p:sp>
          <p:nvSpPr>
            <p:cNvPr id="149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9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96" name="Group 14"/>
          <p:cNvGrpSpPr/>
          <p:nvPr/>
        </p:nvGrpSpPr>
        <p:grpSpPr>
          <a:xfrm>
            <a:off x="12844800" y="8637480"/>
            <a:ext cx="4098960" cy="4003920"/>
            <a:chOff x="12844800" y="8637480"/>
            <a:chExt cx="4098960" cy="4003920"/>
          </a:xfrm>
        </p:grpSpPr>
        <p:sp>
          <p:nvSpPr>
            <p:cNvPr id="149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49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499" name="Group 17"/>
          <p:cNvGrpSpPr/>
          <p:nvPr/>
        </p:nvGrpSpPr>
        <p:grpSpPr>
          <a:xfrm>
            <a:off x="1352160" y="-2332080"/>
            <a:ext cx="4118040" cy="4021920"/>
            <a:chOff x="1352160" y="-2332080"/>
            <a:chExt cx="4118040" cy="4021920"/>
          </a:xfrm>
        </p:grpSpPr>
        <p:sp>
          <p:nvSpPr>
            <p:cNvPr id="150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0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502" name="Freeform 20"/>
          <p:cNvSpPr/>
          <p:nvPr/>
        </p:nvSpPr>
        <p:spPr>
          <a:xfrm>
            <a:off x="3884400" y="1690560"/>
            <a:ext cx="10517040" cy="8415720"/>
          </a:xfrm>
          <a:custGeom>
            <a:avLst/>
            <a:gdLst>
              <a:gd name="textAreaLeft" fmla="*/ 0 w 10517040"/>
              <a:gd name="textAreaRight" fmla="*/ 10519560 w 10517040"/>
              <a:gd name="textAreaTop" fmla="*/ 0 h 8415720"/>
              <a:gd name="textAreaBottom" fmla="*/ 8418240 h 8415720"/>
            </a:gdLst>
            <a:ahLst/>
            <a:rect l="textAreaLeft" t="textAreaTop" r="textAreaRight" b="textAreaBottom"/>
            <a:pathLst>
              <a:path w="10519429" h="8418237">
                <a:moveTo>
                  <a:pt x="0" y="0"/>
                </a:moveTo>
                <a:lnTo>
                  <a:pt x="10519430" y="0"/>
                </a:lnTo>
                <a:lnTo>
                  <a:pt x="10519430" y="8418238"/>
                </a:lnTo>
                <a:lnTo>
                  <a:pt x="0" y="841823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50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04" name="Group 2"/>
          <p:cNvGrpSpPr/>
          <p:nvPr/>
        </p:nvGrpSpPr>
        <p:grpSpPr>
          <a:xfrm>
            <a:off x="-5321520" y="5285880"/>
            <a:ext cx="8988840" cy="8780760"/>
            <a:chOff x="-5321520" y="5285880"/>
            <a:chExt cx="8988840" cy="8780760"/>
          </a:xfrm>
        </p:grpSpPr>
        <p:sp>
          <p:nvSpPr>
            <p:cNvPr id="150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0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07" name="Group 5"/>
          <p:cNvGrpSpPr/>
          <p:nvPr/>
        </p:nvGrpSpPr>
        <p:grpSpPr>
          <a:xfrm>
            <a:off x="-1367280" y="9054360"/>
            <a:ext cx="4441320" cy="4338360"/>
            <a:chOff x="-1367280" y="9054360"/>
            <a:chExt cx="4441320" cy="4338360"/>
          </a:xfrm>
        </p:grpSpPr>
        <p:sp>
          <p:nvSpPr>
            <p:cNvPr id="150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0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10" name="Group 8"/>
          <p:cNvGrpSpPr/>
          <p:nvPr/>
        </p:nvGrpSpPr>
        <p:grpSpPr>
          <a:xfrm>
            <a:off x="15163920" y="-4197240"/>
            <a:ext cx="9577080" cy="9354960"/>
            <a:chOff x="15163920" y="-4197240"/>
            <a:chExt cx="9577080" cy="9354960"/>
          </a:xfrm>
        </p:grpSpPr>
        <p:sp>
          <p:nvSpPr>
            <p:cNvPr id="151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1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13" name="Group 11"/>
          <p:cNvGrpSpPr/>
          <p:nvPr/>
        </p:nvGrpSpPr>
        <p:grpSpPr>
          <a:xfrm>
            <a:off x="16032240" y="-3598920"/>
            <a:ext cx="4732200" cy="4622400"/>
            <a:chOff x="16032240" y="-3598920"/>
            <a:chExt cx="4732200" cy="4622400"/>
          </a:xfrm>
        </p:grpSpPr>
        <p:sp>
          <p:nvSpPr>
            <p:cNvPr id="151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1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16" name="Group 14"/>
          <p:cNvGrpSpPr/>
          <p:nvPr/>
        </p:nvGrpSpPr>
        <p:grpSpPr>
          <a:xfrm>
            <a:off x="12844800" y="8637480"/>
            <a:ext cx="4098960" cy="4003920"/>
            <a:chOff x="12844800" y="8637480"/>
            <a:chExt cx="4098960" cy="4003920"/>
          </a:xfrm>
        </p:grpSpPr>
        <p:sp>
          <p:nvSpPr>
            <p:cNvPr id="151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1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19" name="Group 17"/>
          <p:cNvGrpSpPr/>
          <p:nvPr/>
        </p:nvGrpSpPr>
        <p:grpSpPr>
          <a:xfrm>
            <a:off x="1352160" y="-2332080"/>
            <a:ext cx="4118040" cy="4021920"/>
            <a:chOff x="1352160" y="-2332080"/>
            <a:chExt cx="4118040" cy="4021920"/>
          </a:xfrm>
        </p:grpSpPr>
        <p:sp>
          <p:nvSpPr>
            <p:cNvPr id="152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2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522" name="Freeform 20"/>
          <p:cNvSpPr/>
          <p:nvPr/>
        </p:nvSpPr>
        <p:spPr>
          <a:xfrm>
            <a:off x="2700360" y="1690560"/>
            <a:ext cx="12566160" cy="8381880"/>
          </a:xfrm>
          <a:custGeom>
            <a:avLst/>
            <a:gdLst>
              <a:gd name="textAreaLeft" fmla="*/ 0 w 12566160"/>
              <a:gd name="textAreaRight" fmla="*/ 12568680 w 12566160"/>
              <a:gd name="textAreaTop" fmla="*/ 0 h 8381880"/>
              <a:gd name="textAreaBottom" fmla="*/ 8384400 h 8381880"/>
            </a:gdLst>
            <a:ahLst/>
            <a:rect l="textAreaLeft" t="textAreaTop" r="textAreaRight" b="textAreaBottom"/>
            <a:pathLst>
              <a:path w="12568691" h="8384431">
                <a:moveTo>
                  <a:pt x="0" y="0"/>
                </a:moveTo>
                <a:lnTo>
                  <a:pt x="12568690" y="0"/>
                </a:lnTo>
                <a:lnTo>
                  <a:pt x="12568690" y="8384431"/>
                </a:lnTo>
                <a:lnTo>
                  <a:pt x="0" y="8384431"/>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523" name="TextBox 21"/>
          <p:cNvSpPr/>
          <p:nvPr/>
        </p:nvSpPr>
        <p:spPr>
          <a:xfrm>
            <a:off x="0" y="569880"/>
            <a:ext cx="16374240" cy="113868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2-LEVEL DFD</a:t>
            </a:r>
            <a:endParaRPr b="0" lang="en-PH" sz="10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24" name="Group 2"/>
          <p:cNvGrpSpPr/>
          <p:nvPr/>
        </p:nvGrpSpPr>
        <p:grpSpPr>
          <a:xfrm>
            <a:off x="-5321520" y="5285880"/>
            <a:ext cx="8988840" cy="8780760"/>
            <a:chOff x="-5321520" y="5285880"/>
            <a:chExt cx="8988840" cy="8780760"/>
          </a:xfrm>
        </p:grpSpPr>
        <p:sp>
          <p:nvSpPr>
            <p:cNvPr id="1525"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26"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27" name="Group 5"/>
          <p:cNvGrpSpPr/>
          <p:nvPr/>
        </p:nvGrpSpPr>
        <p:grpSpPr>
          <a:xfrm>
            <a:off x="-1367280" y="9054360"/>
            <a:ext cx="4441320" cy="4338360"/>
            <a:chOff x="-1367280" y="9054360"/>
            <a:chExt cx="4441320" cy="4338360"/>
          </a:xfrm>
        </p:grpSpPr>
        <p:sp>
          <p:nvSpPr>
            <p:cNvPr id="1528"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29"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30" name="Group 8"/>
          <p:cNvGrpSpPr/>
          <p:nvPr/>
        </p:nvGrpSpPr>
        <p:grpSpPr>
          <a:xfrm>
            <a:off x="15163920" y="-4197240"/>
            <a:ext cx="9577080" cy="9354960"/>
            <a:chOff x="15163920" y="-4197240"/>
            <a:chExt cx="9577080" cy="9354960"/>
          </a:xfrm>
        </p:grpSpPr>
        <p:sp>
          <p:nvSpPr>
            <p:cNvPr id="1531"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32"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33" name="Group 11"/>
          <p:cNvGrpSpPr/>
          <p:nvPr/>
        </p:nvGrpSpPr>
        <p:grpSpPr>
          <a:xfrm>
            <a:off x="16032240" y="-3598920"/>
            <a:ext cx="4732200" cy="4622400"/>
            <a:chOff x="16032240" y="-3598920"/>
            <a:chExt cx="4732200" cy="4622400"/>
          </a:xfrm>
        </p:grpSpPr>
        <p:sp>
          <p:nvSpPr>
            <p:cNvPr id="1534"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35"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36" name="Group 14"/>
          <p:cNvGrpSpPr/>
          <p:nvPr/>
        </p:nvGrpSpPr>
        <p:grpSpPr>
          <a:xfrm>
            <a:off x="12844800" y="8637480"/>
            <a:ext cx="4098960" cy="4003920"/>
            <a:chOff x="12844800" y="8637480"/>
            <a:chExt cx="4098960" cy="4003920"/>
          </a:xfrm>
        </p:grpSpPr>
        <p:sp>
          <p:nvSpPr>
            <p:cNvPr id="1537"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38"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39" name="Group 17"/>
          <p:cNvGrpSpPr/>
          <p:nvPr/>
        </p:nvGrpSpPr>
        <p:grpSpPr>
          <a:xfrm>
            <a:off x="1352160" y="-2332080"/>
            <a:ext cx="4118040" cy="4021920"/>
            <a:chOff x="1352160" y="-2332080"/>
            <a:chExt cx="4118040" cy="4021920"/>
          </a:xfrm>
        </p:grpSpPr>
        <p:sp>
          <p:nvSpPr>
            <p:cNvPr id="1540"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41"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542" name="Freeform 20"/>
          <p:cNvSpPr/>
          <p:nvPr/>
        </p:nvSpPr>
        <p:spPr>
          <a:xfrm>
            <a:off x="2870280" y="5182920"/>
            <a:ext cx="12985560" cy="3881880"/>
          </a:xfrm>
          <a:custGeom>
            <a:avLst/>
            <a:gdLst>
              <a:gd name="textAreaLeft" fmla="*/ 0 w 12985560"/>
              <a:gd name="textAreaRight" fmla="*/ 12988080 w 12985560"/>
              <a:gd name="textAreaTop" fmla="*/ 0 h 3881880"/>
              <a:gd name="textAreaBottom" fmla="*/ 3884400 h 3881880"/>
            </a:gdLst>
            <a:ahLst/>
            <a:rect l="textAreaLeft" t="textAreaTop" r="textAreaRight" b="textAreaBottom"/>
            <a:pathLst>
              <a:path w="12987988" h="3884258">
                <a:moveTo>
                  <a:pt x="0" y="0"/>
                </a:moveTo>
                <a:lnTo>
                  <a:pt x="12987989" y="0"/>
                </a:lnTo>
                <a:lnTo>
                  <a:pt x="12987989" y="3884258"/>
                </a:lnTo>
                <a:lnTo>
                  <a:pt x="0" y="388425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543"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DATA FLOW DIAGRAM ERRORS</a:t>
            </a:r>
            <a:endParaRPr b="0" lang="en-PH" sz="10550" spc="-1" strike="noStrike">
              <a:solidFill>
                <a:srgbClr val="000000"/>
              </a:solidFill>
              <a:latin typeface="Arial"/>
            </a:endParaRPr>
          </a:p>
        </p:txBody>
      </p:sp>
      <p:sp>
        <p:nvSpPr>
          <p:cNvPr id="1544" name="TextBox 22"/>
          <p:cNvSpPr/>
          <p:nvPr/>
        </p:nvSpPr>
        <p:spPr>
          <a:xfrm>
            <a:off x="2429640" y="2888640"/>
            <a:ext cx="13426200" cy="1421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1)     A process with only input data flow or only output data flow from it.</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45" name="Group 2"/>
          <p:cNvGrpSpPr/>
          <p:nvPr/>
        </p:nvGrpSpPr>
        <p:grpSpPr>
          <a:xfrm>
            <a:off x="-5321520" y="5285880"/>
            <a:ext cx="8988840" cy="8780760"/>
            <a:chOff x="-5321520" y="5285880"/>
            <a:chExt cx="8988840" cy="8780760"/>
          </a:xfrm>
        </p:grpSpPr>
        <p:sp>
          <p:nvSpPr>
            <p:cNvPr id="1546"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47"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48" name="Group 5"/>
          <p:cNvGrpSpPr/>
          <p:nvPr/>
        </p:nvGrpSpPr>
        <p:grpSpPr>
          <a:xfrm>
            <a:off x="-1367280" y="9054360"/>
            <a:ext cx="4441320" cy="4338360"/>
            <a:chOff x="-1367280" y="9054360"/>
            <a:chExt cx="4441320" cy="4338360"/>
          </a:xfrm>
        </p:grpSpPr>
        <p:sp>
          <p:nvSpPr>
            <p:cNvPr id="1549"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50"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51" name="Group 8"/>
          <p:cNvGrpSpPr/>
          <p:nvPr/>
        </p:nvGrpSpPr>
        <p:grpSpPr>
          <a:xfrm>
            <a:off x="15163920" y="-4197240"/>
            <a:ext cx="9577080" cy="9354960"/>
            <a:chOff x="15163920" y="-4197240"/>
            <a:chExt cx="9577080" cy="9354960"/>
          </a:xfrm>
        </p:grpSpPr>
        <p:sp>
          <p:nvSpPr>
            <p:cNvPr id="1552"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53"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54" name="Group 11"/>
          <p:cNvGrpSpPr/>
          <p:nvPr/>
        </p:nvGrpSpPr>
        <p:grpSpPr>
          <a:xfrm>
            <a:off x="16032240" y="-3598920"/>
            <a:ext cx="4732200" cy="4622400"/>
            <a:chOff x="16032240" y="-3598920"/>
            <a:chExt cx="4732200" cy="4622400"/>
          </a:xfrm>
        </p:grpSpPr>
        <p:sp>
          <p:nvSpPr>
            <p:cNvPr id="1555"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56"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57" name="Group 14"/>
          <p:cNvGrpSpPr/>
          <p:nvPr/>
        </p:nvGrpSpPr>
        <p:grpSpPr>
          <a:xfrm>
            <a:off x="12844800" y="8637480"/>
            <a:ext cx="4098960" cy="4003920"/>
            <a:chOff x="12844800" y="8637480"/>
            <a:chExt cx="4098960" cy="4003920"/>
          </a:xfrm>
        </p:grpSpPr>
        <p:sp>
          <p:nvSpPr>
            <p:cNvPr id="1558"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59"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60" name="Group 17"/>
          <p:cNvGrpSpPr/>
          <p:nvPr/>
        </p:nvGrpSpPr>
        <p:grpSpPr>
          <a:xfrm>
            <a:off x="1352160" y="-2332080"/>
            <a:ext cx="4118040" cy="4021920"/>
            <a:chOff x="1352160" y="-2332080"/>
            <a:chExt cx="4118040" cy="4021920"/>
          </a:xfrm>
        </p:grpSpPr>
        <p:sp>
          <p:nvSpPr>
            <p:cNvPr id="1561"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62"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563" name="Freeform 20"/>
          <p:cNvSpPr/>
          <p:nvPr/>
        </p:nvSpPr>
        <p:spPr>
          <a:xfrm>
            <a:off x="3076920" y="4623840"/>
            <a:ext cx="13089960" cy="5265000"/>
          </a:xfrm>
          <a:custGeom>
            <a:avLst/>
            <a:gdLst>
              <a:gd name="textAreaLeft" fmla="*/ 0 w 13089960"/>
              <a:gd name="textAreaRight" fmla="*/ 13092480 w 13089960"/>
              <a:gd name="textAreaTop" fmla="*/ 0 h 5265000"/>
              <a:gd name="textAreaBottom" fmla="*/ 5267520 h 5265000"/>
            </a:gdLst>
            <a:ahLst/>
            <a:rect l="textAreaLeft" t="textAreaTop" r="textAreaRight" b="textAreaBottom"/>
            <a:pathLst>
              <a:path w="13092642" h="5267446">
                <a:moveTo>
                  <a:pt x="0" y="0"/>
                </a:moveTo>
                <a:lnTo>
                  <a:pt x="13092641" y="0"/>
                </a:lnTo>
                <a:lnTo>
                  <a:pt x="13092641" y="5267445"/>
                </a:lnTo>
                <a:lnTo>
                  <a:pt x="0" y="5267445"/>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564"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DATA FLOW DIAGRAM ERRORS</a:t>
            </a:r>
            <a:endParaRPr b="0" lang="en-PH" sz="10550" spc="-1" strike="noStrike">
              <a:solidFill>
                <a:srgbClr val="000000"/>
              </a:solidFill>
              <a:latin typeface="Arial"/>
            </a:endParaRPr>
          </a:p>
        </p:txBody>
      </p:sp>
      <p:sp>
        <p:nvSpPr>
          <p:cNvPr id="1565" name="TextBox 22"/>
          <p:cNvSpPr/>
          <p:nvPr/>
        </p:nvSpPr>
        <p:spPr>
          <a:xfrm>
            <a:off x="2429640" y="2888640"/>
            <a:ext cx="13426200" cy="1421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1) Data stores or external entities are connected directly to each other, in any combination.</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66" name="Group 2"/>
          <p:cNvGrpSpPr/>
          <p:nvPr/>
        </p:nvGrpSpPr>
        <p:grpSpPr>
          <a:xfrm>
            <a:off x="-5321520" y="5285880"/>
            <a:ext cx="8988840" cy="8780760"/>
            <a:chOff x="-5321520" y="5285880"/>
            <a:chExt cx="8988840" cy="8780760"/>
          </a:xfrm>
        </p:grpSpPr>
        <p:sp>
          <p:nvSpPr>
            <p:cNvPr id="156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6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69" name="Group 5"/>
          <p:cNvGrpSpPr/>
          <p:nvPr/>
        </p:nvGrpSpPr>
        <p:grpSpPr>
          <a:xfrm>
            <a:off x="-1367280" y="9054360"/>
            <a:ext cx="4441320" cy="4338360"/>
            <a:chOff x="-1367280" y="9054360"/>
            <a:chExt cx="4441320" cy="4338360"/>
          </a:xfrm>
        </p:grpSpPr>
        <p:sp>
          <p:nvSpPr>
            <p:cNvPr id="157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7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72" name="Group 8"/>
          <p:cNvGrpSpPr/>
          <p:nvPr/>
        </p:nvGrpSpPr>
        <p:grpSpPr>
          <a:xfrm>
            <a:off x="15163920" y="-4197240"/>
            <a:ext cx="9577080" cy="9354960"/>
            <a:chOff x="15163920" y="-4197240"/>
            <a:chExt cx="9577080" cy="9354960"/>
          </a:xfrm>
        </p:grpSpPr>
        <p:sp>
          <p:nvSpPr>
            <p:cNvPr id="157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7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75" name="Group 11"/>
          <p:cNvGrpSpPr/>
          <p:nvPr/>
        </p:nvGrpSpPr>
        <p:grpSpPr>
          <a:xfrm>
            <a:off x="16032240" y="-3598920"/>
            <a:ext cx="4732200" cy="4622400"/>
            <a:chOff x="16032240" y="-3598920"/>
            <a:chExt cx="4732200" cy="4622400"/>
          </a:xfrm>
        </p:grpSpPr>
        <p:sp>
          <p:nvSpPr>
            <p:cNvPr id="157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7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78" name="Group 14"/>
          <p:cNvGrpSpPr/>
          <p:nvPr/>
        </p:nvGrpSpPr>
        <p:grpSpPr>
          <a:xfrm>
            <a:off x="12844800" y="8637480"/>
            <a:ext cx="4098960" cy="4003920"/>
            <a:chOff x="12844800" y="8637480"/>
            <a:chExt cx="4098960" cy="4003920"/>
          </a:xfrm>
        </p:grpSpPr>
        <p:sp>
          <p:nvSpPr>
            <p:cNvPr id="157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8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81" name="Group 17"/>
          <p:cNvGrpSpPr/>
          <p:nvPr/>
        </p:nvGrpSpPr>
        <p:grpSpPr>
          <a:xfrm>
            <a:off x="1352160" y="-2332080"/>
            <a:ext cx="4118040" cy="4021920"/>
            <a:chOff x="1352160" y="-2332080"/>
            <a:chExt cx="4118040" cy="4021920"/>
          </a:xfrm>
        </p:grpSpPr>
        <p:sp>
          <p:nvSpPr>
            <p:cNvPr id="158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8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584" name="TextBox 20"/>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DATA FLOW DIAGRAM ERRORS</a:t>
            </a:r>
            <a:endParaRPr b="0" lang="en-PH" sz="10550" spc="-1" strike="noStrike">
              <a:solidFill>
                <a:srgbClr val="000000"/>
              </a:solidFill>
              <a:latin typeface="Arial"/>
            </a:endParaRPr>
          </a:p>
        </p:txBody>
      </p:sp>
      <p:sp>
        <p:nvSpPr>
          <p:cNvPr id="1585" name="TextBox 21"/>
          <p:cNvSpPr/>
          <p:nvPr/>
        </p:nvSpPr>
        <p:spPr>
          <a:xfrm>
            <a:off x="3076920" y="3072960"/>
            <a:ext cx="13426200" cy="4976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3) Incorrectly labeling data flow or objects</a:t>
            </a:r>
            <a:endParaRPr b="0" lang="en-PH" sz="40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 </a:t>
            </a:r>
            <a:r>
              <a:rPr b="0" lang="en-US" sz="4000" spc="-1" strike="noStrike">
                <a:solidFill>
                  <a:srgbClr val="545454"/>
                </a:solidFill>
                <a:latin typeface="Open Sans"/>
                <a:ea typeface="Open Sans"/>
              </a:rPr>
              <a:t>Examples are:</a:t>
            </a:r>
            <a:endParaRPr b="0" lang="en-PH" sz="4000" spc="-1" strike="noStrike">
              <a:solidFill>
                <a:srgbClr val="000000"/>
              </a:solidFill>
              <a:latin typeface="Arial"/>
            </a:endParaRPr>
          </a:p>
          <a:p>
            <a:pPr lvl="1" marL="863640" indent="-431640" algn="just" defTabSz="914400">
              <a:lnSpc>
                <a:spcPts val="5598"/>
              </a:lnSpc>
              <a:buClr>
                <a:srgbClr val="545454"/>
              </a:buClr>
              <a:buFont typeface="Arial"/>
              <a:buChar char="•"/>
            </a:pPr>
            <a:r>
              <a:rPr b="0" lang="en-US" sz="4000" spc="-1" strike="noStrike">
                <a:solidFill>
                  <a:srgbClr val="545454"/>
                </a:solidFill>
                <a:latin typeface="Open Sans"/>
                <a:ea typeface="Open Sans"/>
              </a:rPr>
              <a:t>a)Labels omitted from data flow or objects.</a:t>
            </a:r>
            <a:endParaRPr b="0" lang="en-PH" sz="4000" spc="-1" strike="noStrike">
              <a:solidFill>
                <a:srgbClr val="000000"/>
              </a:solidFill>
              <a:latin typeface="Arial"/>
            </a:endParaRPr>
          </a:p>
          <a:p>
            <a:pPr lvl="1" marL="863640" indent="-431640" algn="just" defTabSz="914400">
              <a:lnSpc>
                <a:spcPts val="5598"/>
              </a:lnSpc>
              <a:buClr>
                <a:srgbClr val="545454"/>
              </a:buClr>
              <a:buFont typeface="Arial"/>
              <a:buChar char="•"/>
            </a:pPr>
            <a:r>
              <a:rPr b="0" lang="en-US" sz="4000" spc="-1" strike="noStrike">
                <a:solidFill>
                  <a:srgbClr val="545454"/>
                </a:solidFill>
                <a:latin typeface="Open Sans"/>
                <a:ea typeface="Open Sans"/>
              </a:rPr>
              <a:t>b)Data flow labeled with a verb.</a:t>
            </a:r>
            <a:endParaRPr b="0" lang="en-PH" sz="4000" spc="-1" strike="noStrike">
              <a:solidFill>
                <a:srgbClr val="000000"/>
              </a:solidFill>
              <a:latin typeface="Arial"/>
            </a:endParaRPr>
          </a:p>
          <a:p>
            <a:pPr lvl="1" marL="863640" indent="-431640" algn="just" defTabSz="914400">
              <a:lnSpc>
                <a:spcPts val="5598"/>
              </a:lnSpc>
              <a:buClr>
                <a:srgbClr val="545454"/>
              </a:buClr>
              <a:buFont typeface="Arial"/>
              <a:buChar char="•"/>
            </a:pPr>
            <a:r>
              <a:rPr b="0" lang="en-US" sz="4000" spc="-1" strike="noStrike">
                <a:solidFill>
                  <a:srgbClr val="545454"/>
                </a:solidFill>
                <a:latin typeface="Open Sans"/>
                <a:ea typeface="Open Sans"/>
              </a:rPr>
              <a:t>c)Processes labeled with a noun.</a:t>
            </a:r>
            <a:endParaRPr b="0" lang="en-PH" sz="40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4)Too many processes on a data flow diagram.</a:t>
            </a:r>
            <a:endParaRPr b="0" lang="en-PH" sz="4000" spc="-1" strike="noStrike">
              <a:solidFill>
                <a:srgbClr val="000000"/>
              </a:solidFill>
              <a:latin typeface="Arial"/>
            </a:endParaRPr>
          </a:p>
          <a:p>
            <a:pPr lvl="1" marL="863640" indent="-431640" algn="just" defTabSz="914400">
              <a:lnSpc>
                <a:spcPts val="5598"/>
              </a:lnSpc>
              <a:buClr>
                <a:srgbClr val="545454"/>
              </a:buClr>
              <a:buFont typeface="Arial"/>
              <a:buChar char="•"/>
            </a:pPr>
            <a:r>
              <a:rPr b="0" lang="en-US" sz="4000" spc="-1" strike="noStrike">
                <a:solidFill>
                  <a:srgbClr val="545454"/>
                </a:solidFill>
                <a:latin typeface="Open Sans"/>
                <a:ea typeface="Open Sans"/>
              </a:rPr>
              <a:t>a)Nine is the suggested maximum.</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86" name="Group 2"/>
          <p:cNvGrpSpPr/>
          <p:nvPr/>
        </p:nvGrpSpPr>
        <p:grpSpPr>
          <a:xfrm>
            <a:off x="-5321520" y="5285880"/>
            <a:ext cx="8988840" cy="8780760"/>
            <a:chOff x="-5321520" y="5285880"/>
            <a:chExt cx="8988840" cy="8780760"/>
          </a:xfrm>
        </p:grpSpPr>
        <p:sp>
          <p:nvSpPr>
            <p:cNvPr id="158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8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89" name="Group 5"/>
          <p:cNvGrpSpPr/>
          <p:nvPr/>
        </p:nvGrpSpPr>
        <p:grpSpPr>
          <a:xfrm>
            <a:off x="-1367280" y="9054360"/>
            <a:ext cx="4441320" cy="4338360"/>
            <a:chOff x="-1367280" y="9054360"/>
            <a:chExt cx="4441320" cy="4338360"/>
          </a:xfrm>
        </p:grpSpPr>
        <p:sp>
          <p:nvSpPr>
            <p:cNvPr id="159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9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92" name="Group 8"/>
          <p:cNvGrpSpPr/>
          <p:nvPr/>
        </p:nvGrpSpPr>
        <p:grpSpPr>
          <a:xfrm>
            <a:off x="15163920" y="-4197240"/>
            <a:ext cx="9577080" cy="9354960"/>
            <a:chOff x="15163920" y="-4197240"/>
            <a:chExt cx="9577080" cy="9354960"/>
          </a:xfrm>
        </p:grpSpPr>
        <p:sp>
          <p:nvSpPr>
            <p:cNvPr id="159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9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95" name="Group 11"/>
          <p:cNvGrpSpPr/>
          <p:nvPr/>
        </p:nvGrpSpPr>
        <p:grpSpPr>
          <a:xfrm>
            <a:off x="16032240" y="-3598920"/>
            <a:ext cx="4732200" cy="4622400"/>
            <a:chOff x="16032240" y="-3598920"/>
            <a:chExt cx="4732200" cy="4622400"/>
          </a:xfrm>
        </p:grpSpPr>
        <p:sp>
          <p:nvSpPr>
            <p:cNvPr id="159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59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598" name="Group 14"/>
          <p:cNvGrpSpPr/>
          <p:nvPr/>
        </p:nvGrpSpPr>
        <p:grpSpPr>
          <a:xfrm>
            <a:off x="12844800" y="8637480"/>
            <a:ext cx="4098960" cy="4003920"/>
            <a:chOff x="12844800" y="8637480"/>
            <a:chExt cx="4098960" cy="4003920"/>
          </a:xfrm>
        </p:grpSpPr>
        <p:sp>
          <p:nvSpPr>
            <p:cNvPr id="159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0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01" name="Group 17"/>
          <p:cNvGrpSpPr/>
          <p:nvPr/>
        </p:nvGrpSpPr>
        <p:grpSpPr>
          <a:xfrm>
            <a:off x="1352160" y="-2332080"/>
            <a:ext cx="4118040" cy="4021920"/>
            <a:chOff x="1352160" y="-2332080"/>
            <a:chExt cx="4118040" cy="4021920"/>
          </a:xfrm>
        </p:grpSpPr>
        <p:sp>
          <p:nvSpPr>
            <p:cNvPr id="160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0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04" name="TextBox 20"/>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DATA FLOW DIAGRAM ERRORS</a:t>
            </a:r>
            <a:endParaRPr b="0" lang="en-PH" sz="10550" spc="-1" strike="noStrike">
              <a:solidFill>
                <a:srgbClr val="000000"/>
              </a:solidFill>
              <a:latin typeface="Arial"/>
            </a:endParaRPr>
          </a:p>
        </p:txBody>
      </p:sp>
      <p:sp>
        <p:nvSpPr>
          <p:cNvPr id="1605" name="TextBox 21"/>
          <p:cNvSpPr/>
          <p:nvPr/>
        </p:nvSpPr>
        <p:spPr>
          <a:xfrm>
            <a:off x="3076920" y="3072960"/>
            <a:ext cx="13426200" cy="4265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1)Omitting data flow from the diagram</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2)Unbalanced decomposition between a parent process and a child diagram</a:t>
            </a:r>
            <a:endParaRPr b="0" lang="en-PH" sz="4000" spc="-1" strike="noStrike">
              <a:solidFill>
                <a:srgbClr val="000000"/>
              </a:solidFill>
              <a:latin typeface="Arial"/>
            </a:endParaRPr>
          </a:p>
          <a:p>
            <a:pPr lvl="1" marL="863640" indent="-431640" algn="just" defTabSz="914400">
              <a:lnSpc>
                <a:spcPts val="5598"/>
              </a:lnSpc>
              <a:buClr>
                <a:srgbClr val="545454"/>
              </a:buClr>
              <a:buFont typeface="Arial"/>
              <a:buChar char="•"/>
            </a:pPr>
            <a:r>
              <a:rPr b="0" lang="en-US" sz="4000" spc="-1" strike="noStrike">
                <a:solidFill>
                  <a:srgbClr val="545454"/>
                </a:solidFill>
                <a:latin typeface="Open Sans"/>
                <a:ea typeface="Open Sans"/>
              </a:rPr>
              <a:t>a) The data flow in and out of a parent process must be present on the child diagram.</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06" name="Group 2"/>
          <p:cNvGrpSpPr/>
          <p:nvPr/>
        </p:nvGrpSpPr>
        <p:grpSpPr>
          <a:xfrm>
            <a:off x="-5321520" y="5285880"/>
            <a:ext cx="8988840" cy="8780760"/>
            <a:chOff x="-5321520" y="5285880"/>
            <a:chExt cx="8988840" cy="8780760"/>
          </a:xfrm>
        </p:grpSpPr>
        <p:sp>
          <p:nvSpPr>
            <p:cNvPr id="1607"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08"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09" name="Group 5"/>
          <p:cNvGrpSpPr/>
          <p:nvPr/>
        </p:nvGrpSpPr>
        <p:grpSpPr>
          <a:xfrm>
            <a:off x="-1367280" y="9054360"/>
            <a:ext cx="4441320" cy="4338360"/>
            <a:chOff x="-1367280" y="9054360"/>
            <a:chExt cx="4441320" cy="4338360"/>
          </a:xfrm>
        </p:grpSpPr>
        <p:sp>
          <p:nvSpPr>
            <p:cNvPr id="1610"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11"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12" name="Group 8"/>
          <p:cNvGrpSpPr/>
          <p:nvPr/>
        </p:nvGrpSpPr>
        <p:grpSpPr>
          <a:xfrm>
            <a:off x="15163920" y="-4197240"/>
            <a:ext cx="9577080" cy="9354960"/>
            <a:chOff x="15163920" y="-4197240"/>
            <a:chExt cx="9577080" cy="9354960"/>
          </a:xfrm>
        </p:grpSpPr>
        <p:sp>
          <p:nvSpPr>
            <p:cNvPr id="1613"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14"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15" name="Group 11"/>
          <p:cNvGrpSpPr/>
          <p:nvPr/>
        </p:nvGrpSpPr>
        <p:grpSpPr>
          <a:xfrm>
            <a:off x="16032240" y="-3598920"/>
            <a:ext cx="4732200" cy="4622400"/>
            <a:chOff x="16032240" y="-3598920"/>
            <a:chExt cx="4732200" cy="4622400"/>
          </a:xfrm>
        </p:grpSpPr>
        <p:sp>
          <p:nvSpPr>
            <p:cNvPr id="1616"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17"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18" name="Group 14"/>
          <p:cNvGrpSpPr/>
          <p:nvPr/>
        </p:nvGrpSpPr>
        <p:grpSpPr>
          <a:xfrm>
            <a:off x="12844800" y="8637480"/>
            <a:ext cx="4098960" cy="4003920"/>
            <a:chOff x="12844800" y="8637480"/>
            <a:chExt cx="4098960" cy="4003920"/>
          </a:xfrm>
        </p:grpSpPr>
        <p:sp>
          <p:nvSpPr>
            <p:cNvPr id="1619"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20"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21" name="Group 17"/>
          <p:cNvGrpSpPr/>
          <p:nvPr/>
        </p:nvGrpSpPr>
        <p:grpSpPr>
          <a:xfrm>
            <a:off x="1352160" y="-2332080"/>
            <a:ext cx="4118040" cy="4021920"/>
            <a:chOff x="1352160" y="-2332080"/>
            <a:chExt cx="4118040" cy="4021920"/>
          </a:xfrm>
        </p:grpSpPr>
        <p:sp>
          <p:nvSpPr>
            <p:cNvPr id="1622"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23"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24" name="Freeform 20"/>
          <p:cNvSpPr/>
          <p:nvPr/>
        </p:nvSpPr>
        <p:spPr>
          <a:xfrm>
            <a:off x="4426200" y="3115080"/>
            <a:ext cx="11741040" cy="6901920"/>
          </a:xfrm>
          <a:custGeom>
            <a:avLst/>
            <a:gdLst>
              <a:gd name="textAreaLeft" fmla="*/ 0 w 11741040"/>
              <a:gd name="textAreaRight" fmla="*/ 11743560 w 11741040"/>
              <a:gd name="textAreaTop" fmla="*/ 0 h 6901920"/>
              <a:gd name="textAreaBottom" fmla="*/ 6904440 h 6901920"/>
            </a:gdLst>
            <a:ahLst/>
            <a:rect l="textAreaLeft" t="textAreaTop" r="textAreaRight" b="textAreaBottom"/>
            <a:pathLst>
              <a:path w="11743455" h="6904443">
                <a:moveTo>
                  <a:pt x="0" y="0"/>
                </a:moveTo>
                <a:lnTo>
                  <a:pt x="11743455" y="0"/>
                </a:lnTo>
                <a:lnTo>
                  <a:pt x="11743455" y="6904444"/>
                </a:lnTo>
                <a:lnTo>
                  <a:pt x="0" y="690444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625"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 </a:t>
            </a:r>
            <a:r>
              <a:rPr b="0" lang="en-US" sz="10550" spc="-1" strike="noStrike">
                <a:solidFill>
                  <a:srgbClr val="545454"/>
                </a:solidFill>
                <a:latin typeface="Bold Ink"/>
                <a:ea typeface="Bold Ink"/>
              </a:rPr>
              <a:t>DFD DIAGRAMMING RULES</a:t>
            </a:r>
            <a:endParaRPr b="0" lang="en-PH" sz="10550" spc="-1" strike="noStrike">
              <a:solidFill>
                <a:srgbClr val="000000"/>
              </a:solidFill>
              <a:latin typeface="Arial"/>
            </a:endParaRPr>
          </a:p>
        </p:txBody>
      </p:sp>
      <p:sp>
        <p:nvSpPr>
          <p:cNvPr id="1626" name="TextBox 22"/>
          <p:cNvSpPr/>
          <p:nvPr/>
        </p:nvSpPr>
        <p:spPr>
          <a:xfrm>
            <a:off x="2011320" y="2737080"/>
            <a:ext cx="13426200" cy="71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 </a:t>
            </a:r>
            <a:r>
              <a:rPr b="0" lang="en-US" sz="4000" spc="-1" strike="noStrike">
                <a:solidFill>
                  <a:srgbClr val="545454"/>
                </a:solidFill>
                <a:latin typeface="Open Sans"/>
                <a:ea typeface="Open Sans"/>
              </a:rPr>
              <a:t>PROCESS</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27" name="Group 2"/>
          <p:cNvGrpSpPr/>
          <p:nvPr/>
        </p:nvGrpSpPr>
        <p:grpSpPr>
          <a:xfrm>
            <a:off x="-5321520" y="5285880"/>
            <a:ext cx="8988840" cy="8780760"/>
            <a:chOff x="-5321520" y="5285880"/>
            <a:chExt cx="8988840" cy="8780760"/>
          </a:xfrm>
        </p:grpSpPr>
        <p:sp>
          <p:nvSpPr>
            <p:cNvPr id="1628"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29"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30" name="Group 5"/>
          <p:cNvGrpSpPr/>
          <p:nvPr/>
        </p:nvGrpSpPr>
        <p:grpSpPr>
          <a:xfrm>
            <a:off x="-1367280" y="9054360"/>
            <a:ext cx="4441320" cy="4338360"/>
            <a:chOff x="-1367280" y="9054360"/>
            <a:chExt cx="4441320" cy="4338360"/>
          </a:xfrm>
        </p:grpSpPr>
        <p:sp>
          <p:nvSpPr>
            <p:cNvPr id="1631"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32"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33" name="Group 8"/>
          <p:cNvGrpSpPr/>
          <p:nvPr/>
        </p:nvGrpSpPr>
        <p:grpSpPr>
          <a:xfrm>
            <a:off x="15163920" y="-4197240"/>
            <a:ext cx="9577080" cy="9354960"/>
            <a:chOff x="15163920" y="-4197240"/>
            <a:chExt cx="9577080" cy="9354960"/>
          </a:xfrm>
        </p:grpSpPr>
        <p:sp>
          <p:nvSpPr>
            <p:cNvPr id="1634"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35"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36" name="Group 11"/>
          <p:cNvGrpSpPr/>
          <p:nvPr/>
        </p:nvGrpSpPr>
        <p:grpSpPr>
          <a:xfrm>
            <a:off x="16032240" y="-3598920"/>
            <a:ext cx="4732200" cy="4622400"/>
            <a:chOff x="16032240" y="-3598920"/>
            <a:chExt cx="4732200" cy="4622400"/>
          </a:xfrm>
        </p:grpSpPr>
        <p:sp>
          <p:nvSpPr>
            <p:cNvPr id="1637"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38"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39" name="Group 14"/>
          <p:cNvGrpSpPr/>
          <p:nvPr/>
        </p:nvGrpSpPr>
        <p:grpSpPr>
          <a:xfrm>
            <a:off x="12844800" y="8637480"/>
            <a:ext cx="4098960" cy="4003920"/>
            <a:chOff x="12844800" y="8637480"/>
            <a:chExt cx="4098960" cy="4003920"/>
          </a:xfrm>
        </p:grpSpPr>
        <p:sp>
          <p:nvSpPr>
            <p:cNvPr id="1640"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41"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42" name="Group 17"/>
          <p:cNvGrpSpPr/>
          <p:nvPr/>
        </p:nvGrpSpPr>
        <p:grpSpPr>
          <a:xfrm>
            <a:off x="1352160" y="-2332080"/>
            <a:ext cx="4118040" cy="4021920"/>
            <a:chOff x="1352160" y="-2332080"/>
            <a:chExt cx="4118040" cy="4021920"/>
          </a:xfrm>
        </p:grpSpPr>
        <p:sp>
          <p:nvSpPr>
            <p:cNvPr id="1643"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44"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45" name="Freeform 20"/>
          <p:cNvSpPr/>
          <p:nvPr/>
        </p:nvSpPr>
        <p:spPr>
          <a:xfrm>
            <a:off x="3669120" y="3131640"/>
            <a:ext cx="13401720" cy="6683040"/>
          </a:xfrm>
          <a:custGeom>
            <a:avLst/>
            <a:gdLst>
              <a:gd name="textAreaLeft" fmla="*/ 0 w 13401720"/>
              <a:gd name="textAreaRight" fmla="*/ 13404240 w 13401720"/>
              <a:gd name="textAreaTop" fmla="*/ 0 h 6683040"/>
              <a:gd name="textAreaBottom" fmla="*/ 6685560 h 6683040"/>
            </a:gdLst>
            <a:ahLst/>
            <a:rect l="textAreaLeft" t="textAreaTop" r="textAreaRight" b="textAreaBottom"/>
            <a:pathLst>
              <a:path w="13404288" h="6685677">
                <a:moveTo>
                  <a:pt x="0" y="0"/>
                </a:moveTo>
                <a:lnTo>
                  <a:pt x="13404288" y="0"/>
                </a:lnTo>
                <a:lnTo>
                  <a:pt x="13404288" y="6685677"/>
                </a:lnTo>
                <a:lnTo>
                  <a:pt x="0" y="668567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646"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 </a:t>
            </a:r>
            <a:r>
              <a:rPr b="0" lang="en-US" sz="10550" spc="-1" strike="noStrike">
                <a:solidFill>
                  <a:srgbClr val="545454"/>
                </a:solidFill>
                <a:latin typeface="Bold Ink"/>
                <a:ea typeface="Bold Ink"/>
              </a:rPr>
              <a:t>DFD DIAGRAMMING RULES</a:t>
            </a:r>
            <a:endParaRPr b="0" lang="en-PH" sz="10550" spc="-1" strike="noStrike">
              <a:solidFill>
                <a:srgbClr val="000000"/>
              </a:solidFill>
              <a:latin typeface="Arial"/>
            </a:endParaRPr>
          </a:p>
        </p:txBody>
      </p:sp>
      <p:sp>
        <p:nvSpPr>
          <p:cNvPr id="1647" name="TextBox 22"/>
          <p:cNvSpPr/>
          <p:nvPr/>
        </p:nvSpPr>
        <p:spPr>
          <a:xfrm>
            <a:off x="416160" y="2737080"/>
            <a:ext cx="13426200" cy="71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 </a:t>
            </a:r>
            <a:r>
              <a:rPr b="0" lang="en-US" sz="4000" spc="-1" strike="noStrike">
                <a:solidFill>
                  <a:srgbClr val="545454"/>
                </a:solidFill>
                <a:latin typeface="Open Sans"/>
                <a:ea typeface="Open Sans"/>
              </a:rPr>
              <a:t>DATA STORE</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48" name="Group 2"/>
          <p:cNvGrpSpPr/>
          <p:nvPr/>
        </p:nvGrpSpPr>
        <p:grpSpPr>
          <a:xfrm>
            <a:off x="-5321520" y="5285880"/>
            <a:ext cx="8988840" cy="8780760"/>
            <a:chOff x="-5321520" y="5285880"/>
            <a:chExt cx="8988840" cy="8780760"/>
          </a:xfrm>
        </p:grpSpPr>
        <p:sp>
          <p:nvSpPr>
            <p:cNvPr id="1649"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50"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51" name="Group 5"/>
          <p:cNvGrpSpPr/>
          <p:nvPr/>
        </p:nvGrpSpPr>
        <p:grpSpPr>
          <a:xfrm>
            <a:off x="-1367280" y="9054360"/>
            <a:ext cx="4441320" cy="4338360"/>
            <a:chOff x="-1367280" y="9054360"/>
            <a:chExt cx="4441320" cy="4338360"/>
          </a:xfrm>
        </p:grpSpPr>
        <p:sp>
          <p:nvSpPr>
            <p:cNvPr id="1652"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53"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54" name="Group 8"/>
          <p:cNvGrpSpPr/>
          <p:nvPr/>
        </p:nvGrpSpPr>
        <p:grpSpPr>
          <a:xfrm>
            <a:off x="15163920" y="-4197240"/>
            <a:ext cx="9577080" cy="9354960"/>
            <a:chOff x="15163920" y="-4197240"/>
            <a:chExt cx="9577080" cy="9354960"/>
          </a:xfrm>
        </p:grpSpPr>
        <p:sp>
          <p:nvSpPr>
            <p:cNvPr id="1655"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56"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57" name="Group 11"/>
          <p:cNvGrpSpPr/>
          <p:nvPr/>
        </p:nvGrpSpPr>
        <p:grpSpPr>
          <a:xfrm>
            <a:off x="16032240" y="-3598920"/>
            <a:ext cx="4732200" cy="4622400"/>
            <a:chOff x="16032240" y="-3598920"/>
            <a:chExt cx="4732200" cy="4622400"/>
          </a:xfrm>
        </p:grpSpPr>
        <p:sp>
          <p:nvSpPr>
            <p:cNvPr id="1658"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59"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60" name="Group 14"/>
          <p:cNvGrpSpPr/>
          <p:nvPr/>
        </p:nvGrpSpPr>
        <p:grpSpPr>
          <a:xfrm>
            <a:off x="12844800" y="8637480"/>
            <a:ext cx="4098960" cy="4003920"/>
            <a:chOff x="12844800" y="8637480"/>
            <a:chExt cx="4098960" cy="4003920"/>
          </a:xfrm>
        </p:grpSpPr>
        <p:sp>
          <p:nvSpPr>
            <p:cNvPr id="1661"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62"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63" name="Group 17"/>
          <p:cNvGrpSpPr/>
          <p:nvPr/>
        </p:nvGrpSpPr>
        <p:grpSpPr>
          <a:xfrm>
            <a:off x="1352160" y="-2332080"/>
            <a:ext cx="4118040" cy="4021920"/>
            <a:chOff x="1352160" y="-2332080"/>
            <a:chExt cx="4118040" cy="4021920"/>
          </a:xfrm>
        </p:grpSpPr>
        <p:sp>
          <p:nvSpPr>
            <p:cNvPr id="1664"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65"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66" name="Freeform 20"/>
          <p:cNvSpPr/>
          <p:nvPr/>
        </p:nvSpPr>
        <p:spPr>
          <a:xfrm>
            <a:off x="4473000" y="2813400"/>
            <a:ext cx="10682640" cy="2552400"/>
          </a:xfrm>
          <a:custGeom>
            <a:avLst/>
            <a:gdLst>
              <a:gd name="textAreaLeft" fmla="*/ 0 w 10682640"/>
              <a:gd name="textAreaRight" fmla="*/ 10685160 w 10682640"/>
              <a:gd name="textAreaTop" fmla="*/ 0 h 2552400"/>
              <a:gd name="textAreaBottom" fmla="*/ 2554920 h 2552400"/>
            </a:gdLst>
            <a:ahLst/>
            <a:rect l="textAreaLeft" t="textAreaTop" r="textAreaRight" b="textAreaBottom"/>
            <a:pathLst>
              <a:path w="10685028" h="2554740">
                <a:moveTo>
                  <a:pt x="0" y="0"/>
                </a:moveTo>
                <a:lnTo>
                  <a:pt x="10685028" y="0"/>
                </a:lnTo>
                <a:lnTo>
                  <a:pt x="10685028" y="2554740"/>
                </a:lnTo>
                <a:lnTo>
                  <a:pt x="0" y="255474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667"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 </a:t>
            </a:r>
            <a:r>
              <a:rPr b="0" lang="en-US" sz="10550" spc="-1" strike="noStrike">
                <a:solidFill>
                  <a:srgbClr val="545454"/>
                </a:solidFill>
                <a:latin typeface="Bold Ink"/>
                <a:ea typeface="Bold Ink"/>
              </a:rPr>
              <a:t>DFD DIAGRAMMING RULES</a:t>
            </a:r>
            <a:endParaRPr b="0" lang="en-PH" sz="10550" spc="-1" strike="noStrike">
              <a:solidFill>
                <a:srgbClr val="000000"/>
              </a:solidFill>
              <a:latin typeface="Arial"/>
            </a:endParaRPr>
          </a:p>
        </p:txBody>
      </p:sp>
      <p:sp>
        <p:nvSpPr>
          <p:cNvPr id="1668" name="TextBox 22"/>
          <p:cNvSpPr/>
          <p:nvPr/>
        </p:nvSpPr>
        <p:spPr>
          <a:xfrm>
            <a:off x="416160" y="2737080"/>
            <a:ext cx="13426200" cy="71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SOURCE/SINK</a:t>
            </a:r>
            <a:endParaRPr b="0" lang="en-PH" sz="4000" spc="-1" strike="noStrike">
              <a:solidFill>
                <a:srgbClr val="000000"/>
              </a:solidFill>
              <a:latin typeface="Arial"/>
            </a:endParaRPr>
          </a:p>
        </p:txBody>
      </p:sp>
      <p:sp>
        <p:nvSpPr>
          <p:cNvPr id="1669" name="TextBox 23"/>
          <p:cNvSpPr/>
          <p:nvPr/>
        </p:nvSpPr>
        <p:spPr>
          <a:xfrm>
            <a:off x="2740680" y="5712840"/>
            <a:ext cx="13426200" cy="4265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No data moves directly between external entities without going through a process.</a:t>
            </a:r>
            <a:endParaRPr b="0" lang="en-PH" sz="4000" spc="-1" strike="noStrike">
              <a:solidFill>
                <a:srgbClr val="000000"/>
              </a:solidFill>
              <a:latin typeface="Arial"/>
            </a:endParaRPr>
          </a:p>
          <a:p>
            <a:pPr algn="just" defTabSz="914400">
              <a:lnSpc>
                <a:spcPts val="5598"/>
              </a:lnSpc>
            </a:pPr>
            <a:r>
              <a:rPr b="0" lang="en-US" sz="4000" spc="-1" strike="noStrike">
                <a:solidFill>
                  <a:srgbClr val="545454"/>
                </a:solidFill>
                <a:latin typeface="Open Sans"/>
                <a:ea typeface="Open Sans"/>
              </a:rPr>
              <a:t>Interactions between external entities without intervening processes are outside the system and therefore not represented in the DFD.</a:t>
            </a:r>
            <a:endParaRPr b="0" lang="en-PH" sz="4000" spc="-1" strike="noStrike">
              <a:solidFill>
                <a:srgbClr val="000000"/>
              </a:solidFill>
              <a:latin typeface="Arial"/>
            </a:endParaRPr>
          </a:p>
          <a:p>
            <a:pPr algn="just" defTabSz="914400">
              <a:lnSpc>
                <a:spcPts val="5598"/>
              </a:lnSpc>
            </a:pPr>
            <a:endParaRPr b="0" lang="en-PH"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70" name="Group 2"/>
          <p:cNvGrpSpPr/>
          <p:nvPr/>
        </p:nvGrpSpPr>
        <p:grpSpPr>
          <a:xfrm>
            <a:off x="-5321520" y="5285880"/>
            <a:ext cx="8988840" cy="8780760"/>
            <a:chOff x="-5321520" y="5285880"/>
            <a:chExt cx="8988840" cy="8780760"/>
          </a:xfrm>
        </p:grpSpPr>
        <p:sp>
          <p:nvSpPr>
            <p:cNvPr id="1671"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72"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73" name="Group 5"/>
          <p:cNvGrpSpPr/>
          <p:nvPr/>
        </p:nvGrpSpPr>
        <p:grpSpPr>
          <a:xfrm>
            <a:off x="-1367280" y="9054360"/>
            <a:ext cx="4441320" cy="4338360"/>
            <a:chOff x="-1367280" y="9054360"/>
            <a:chExt cx="4441320" cy="4338360"/>
          </a:xfrm>
        </p:grpSpPr>
        <p:sp>
          <p:nvSpPr>
            <p:cNvPr id="1674"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75"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76" name="Group 8"/>
          <p:cNvGrpSpPr/>
          <p:nvPr/>
        </p:nvGrpSpPr>
        <p:grpSpPr>
          <a:xfrm>
            <a:off x="15163920" y="-4197240"/>
            <a:ext cx="9577080" cy="9354960"/>
            <a:chOff x="15163920" y="-4197240"/>
            <a:chExt cx="9577080" cy="9354960"/>
          </a:xfrm>
        </p:grpSpPr>
        <p:sp>
          <p:nvSpPr>
            <p:cNvPr id="1677"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78"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79" name="Group 11"/>
          <p:cNvGrpSpPr/>
          <p:nvPr/>
        </p:nvGrpSpPr>
        <p:grpSpPr>
          <a:xfrm>
            <a:off x="16032240" y="-3598920"/>
            <a:ext cx="4732200" cy="4622400"/>
            <a:chOff x="16032240" y="-3598920"/>
            <a:chExt cx="4732200" cy="4622400"/>
          </a:xfrm>
        </p:grpSpPr>
        <p:sp>
          <p:nvSpPr>
            <p:cNvPr id="1680"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81"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82" name="Group 14"/>
          <p:cNvGrpSpPr/>
          <p:nvPr/>
        </p:nvGrpSpPr>
        <p:grpSpPr>
          <a:xfrm>
            <a:off x="12844800" y="8637480"/>
            <a:ext cx="4098960" cy="4003920"/>
            <a:chOff x="12844800" y="8637480"/>
            <a:chExt cx="4098960" cy="4003920"/>
          </a:xfrm>
        </p:grpSpPr>
        <p:sp>
          <p:nvSpPr>
            <p:cNvPr id="1683"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84"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85" name="Group 17"/>
          <p:cNvGrpSpPr/>
          <p:nvPr/>
        </p:nvGrpSpPr>
        <p:grpSpPr>
          <a:xfrm>
            <a:off x="1352160" y="-2332080"/>
            <a:ext cx="4118040" cy="4021920"/>
            <a:chOff x="1352160" y="-2332080"/>
            <a:chExt cx="4118040" cy="4021920"/>
          </a:xfrm>
        </p:grpSpPr>
        <p:sp>
          <p:nvSpPr>
            <p:cNvPr id="1686"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87"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688" name="Freeform 20"/>
          <p:cNvSpPr/>
          <p:nvPr/>
        </p:nvSpPr>
        <p:spPr>
          <a:xfrm>
            <a:off x="3473280" y="2964960"/>
            <a:ext cx="13665240" cy="7010280"/>
          </a:xfrm>
          <a:custGeom>
            <a:avLst/>
            <a:gdLst>
              <a:gd name="textAreaLeft" fmla="*/ 0 w 13665240"/>
              <a:gd name="textAreaRight" fmla="*/ 13667760 w 13665240"/>
              <a:gd name="textAreaTop" fmla="*/ 0 h 7010280"/>
              <a:gd name="textAreaBottom" fmla="*/ 7012800 h 7010280"/>
            </a:gdLst>
            <a:ahLst/>
            <a:rect l="textAreaLeft" t="textAreaTop" r="textAreaRight" b="textAreaBottom"/>
            <a:pathLst>
              <a:path w="13667840" h="7012974">
                <a:moveTo>
                  <a:pt x="0" y="0"/>
                </a:moveTo>
                <a:lnTo>
                  <a:pt x="13667839" y="0"/>
                </a:lnTo>
                <a:lnTo>
                  <a:pt x="13667839" y="7012974"/>
                </a:lnTo>
                <a:lnTo>
                  <a:pt x="0" y="701297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689"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 </a:t>
            </a:r>
            <a:r>
              <a:rPr b="0" lang="en-US" sz="10550" spc="-1" strike="noStrike">
                <a:solidFill>
                  <a:srgbClr val="545454"/>
                </a:solidFill>
                <a:latin typeface="Bold Ink"/>
                <a:ea typeface="Bold Ink"/>
              </a:rPr>
              <a:t>DFD DIAGRAMMING RULES</a:t>
            </a:r>
            <a:endParaRPr b="0" lang="en-PH" sz="10550" spc="-1" strike="noStrike">
              <a:solidFill>
                <a:srgbClr val="000000"/>
              </a:solidFill>
              <a:latin typeface="Arial"/>
            </a:endParaRPr>
          </a:p>
        </p:txBody>
      </p:sp>
      <p:sp>
        <p:nvSpPr>
          <p:cNvPr id="1690" name="TextBox 22"/>
          <p:cNvSpPr/>
          <p:nvPr/>
        </p:nvSpPr>
        <p:spPr>
          <a:xfrm>
            <a:off x="416160" y="2737080"/>
            <a:ext cx="13426200" cy="71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DATA FLOW</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91" name="Group 2"/>
          <p:cNvGrpSpPr/>
          <p:nvPr/>
        </p:nvGrpSpPr>
        <p:grpSpPr>
          <a:xfrm>
            <a:off x="-5321520" y="5285880"/>
            <a:ext cx="8988840" cy="8780760"/>
            <a:chOff x="-5321520" y="5285880"/>
            <a:chExt cx="8988840" cy="8780760"/>
          </a:xfrm>
        </p:grpSpPr>
        <p:sp>
          <p:nvSpPr>
            <p:cNvPr id="1692"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93"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94" name="Group 5"/>
          <p:cNvGrpSpPr/>
          <p:nvPr/>
        </p:nvGrpSpPr>
        <p:grpSpPr>
          <a:xfrm>
            <a:off x="-1367280" y="9054360"/>
            <a:ext cx="4441320" cy="4338360"/>
            <a:chOff x="-1367280" y="9054360"/>
            <a:chExt cx="4441320" cy="4338360"/>
          </a:xfrm>
        </p:grpSpPr>
        <p:sp>
          <p:nvSpPr>
            <p:cNvPr id="1695"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96"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697" name="Group 8"/>
          <p:cNvGrpSpPr/>
          <p:nvPr/>
        </p:nvGrpSpPr>
        <p:grpSpPr>
          <a:xfrm>
            <a:off x="15163920" y="-4197240"/>
            <a:ext cx="9577080" cy="9354960"/>
            <a:chOff x="15163920" y="-4197240"/>
            <a:chExt cx="9577080" cy="9354960"/>
          </a:xfrm>
        </p:grpSpPr>
        <p:sp>
          <p:nvSpPr>
            <p:cNvPr id="1698"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699"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00" name="Group 11"/>
          <p:cNvGrpSpPr/>
          <p:nvPr/>
        </p:nvGrpSpPr>
        <p:grpSpPr>
          <a:xfrm>
            <a:off x="16032240" y="-3598920"/>
            <a:ext cx="4732200" cy="4622400"/>
            <a:chOff x="16032240" y="-3598920"/>
            <a:chExt cx="4732200" cy="4622400"/>
          </a:xfrm>
        </p:grpSpPr>
        <p:sp>
          <p:nvSpPr>
            <p:cNvPr id="1701"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02"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03" name="Group 14"/>
          <p:cNvGrpSpPr/>
          <p:nvPr/>
        </p:nvGrpSpPr>
        <p:grpSpPr>
          <a:xfrm>
            <a:off x="12844800" y="8637480"/>
            <a:ext cx="4098960" cy="4003920"/>
            <a:chOff x="12844800" y="8637480"/>
            <a:chExt cx="4098960" cy="4003920"/>
          </a:xfrm>
        </p:grpSpPr>
        <p:sp>
          <p:nvSpPr>
            <p:cNvPr id="1704"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05"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06" name="Group 17"/>
          <p:cNvGrpSpPr/>
          <p:nvPr/>
        </p:nvGrpSpPr>
        <p:grpSpPr>
          <a:xfrm>
            <a:off x="1352160" y="-2332080"/>
            <a:ext cx="4118040" cy="4021920"/>
            <a:chOff x="1352160" y="-2332080"/>
            <a:chExt cx="4118040" cy="4021920"/>
          </a:xfrm>
        </p:grpSpPr>
        <p:sp>
          <p:nvSpPr>
            <p:cNvPr id="1707"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08"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709" name="Freeform 20"/>
          <p:cNvSpPr/>
          <p:nvPr/>
        </p:nvSpPr>
        <p:spPr>
          <a:xfrm>
            <a:off x="3473280" y="2964960"/>
            <a:ext cx="14161320" cy="6924240"/>
          </a:xfrm>
          <a:custGeom>
            <a:avLst/>
            <a:gdLst>
              <a:gd name="textAreaLeft" fmla="*/ 0 w 14161320"/>
              <a:gd name="textAreaRight" fmla="*/ 14163840 w 14161320"/>
              <a:gd name="textAreaTop" fmla="*/ 0 h 6924240"/>
              <a:gd name="textAreaBottom" fmla="*/ 6926760 h 6924240"/>
            </a:gdLst>
            <a:ahLst/>
            <a:rect l="textAreaLeft" t="textAreaTop" r="textAreaRight" b="textAreaBottom"/>
            <a:pathLst>
              <a:path w="14163873" h="6926631">
                <a:moveTo>
                  <a:pt x="0" y="0"/>
                </a:moveTo>
                <a:lnTo>
                  <a:pt x="14163872" y="0"/>
                </a:lnTo>
                <a:lnTo>
                  <a:pt x="14163872" y="6926630"/>
                </a:lnTo>
                <a:lnTo>
                  <a:pt x="0" y="692663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000000"/>
              </a:solidFill>
              <a:latin typeface="Arial"/>
              <a:ea typeface="DejaVu Sans"/>
            </a:endParaRPr>
          </a:p>
        </p:txBody>
      </p:sp>
      <p:sp>
        <p:nvSpPr>
          <p:cNvPr id="1710" name="TextBox 21"/>
          <p:cNvSpPr/>
          <p:nvPr/>
        </p:nvSpPr>
        <p:spPr>
          <a:xfrm>
            <a:off x="0" y="569880"/>
            <a:ext cx="16374240" cy="2277720"/>
          </a:xfrm>
          <a:prstGeom prst="rect">
            <a:avLst/>
          </a:prstGeom>
          <a:noFill/>
          <a:ln w="0">
            <a:noFill/>
          </a:ln>
        </p:spPr>
        <p:style>
          <a:lnRef idx="0"/>
          <a:fillRef idx="0"/>
          <a:effectRef idx="0"/>
          <a:fontRef idx="minor"/>
        </p:style>
        <p:txBody>
          <a:bodyPr lIns="0" rIns="0" tIns="0" bIns="0" anchor="t">
            <a:spAutoFit/>
          </a:bodyPr>
          <a:p>
            <a:pPr algn="ctr" defTabSz="914400">
              <a:lnSpc>
                <a:spcPts val="8969"/>
              </a:lnSpc>
            </a:pPr>
            <a:r>
              <a:rPr b="0" lang="en-US" sz="10550" spc="-1" strike="noStrike">
                <a:solidFill>
                  <a:srgbClr val="545454"/>
                </a:solidFill>
                <a:latin typeface="Bold Ink"/>
                <a:ea typeface="Bold Ink"/>
              </a:rPr>
              <a:t> </a:t>
            </a:r>
            <a:r>
              <a:rPr b="0" lang="en-US" sz="10550" spc="-1" strike="noStrike">
                <a:solidFill>
                  <a:srgbClr val="545454"/>
                </a:solidFill>
                <a:latin typeface="Bold Ink"/>
                <a:ea typeface="Bold Ink"/>
              </a:rPr>
              <a:t>DFD DIAGRAMMING RULES</a:t>
            </a:r>
            <a:endParaRPr b="0" lang="en-PH" sz="10550" spc="-1" strike="noStrike">
              <a:solidFill>
                <a:srgbClr val="000000"/>
              </a:solidFill>
              <a:latin typeface="Arial"/>
            </a:endParaRPr>
          </a:p>
        </p:txBody>
      </p:sp>
      <p:sp>
        <p:nvSpPr>
          <p:cNvPr id="1711" name="TextBox 22"/>
          <p:cNvSpPr/>
          <p:nvPr/>
        </p:nvSpPr>
        <p:spPr>
          <a:xfrm>
            <a:off x="416160" y="2737080"/>
            <a:ext cx="13426200" cy="71064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0" lang="en-US" sz="4000" spc="-1" strike="noStrike">
                <a:solidFill>
                  <a:srgbClr val="545454"/>
                </a:solidFill>
                <a:latin typeface="Open Sans"/>
                <a:ea typeface="Open Sans"/>
              </a:rPr>
              <a:t>DATA FLOW</a:t>
            </a:r>
            <a:endParaRPr b="0" lang="en-PH"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712" name="Group 2"/>
          <p:cNvGrpSpPr/>
          <p:nvPr/>
        </p:nvGrpSpPr>
        <p:grpSpPr>
          <a:xfrm>
            <a:off x="-5321520" y="5285880"/>
            <a:ext cx="8988840" cy="8780760"/>
            <a:chOff x="-5321520" y="5285880"/>
            <a:chExt cx="8988840" cy="8780760"/>
          </a:xfrm>
        </p:grpSpPr>
        <p:sp>
          <p:nvSpPr>
            <p:cNvPr id="1713" name="Freeform 3"/>
            <p:cNvSpPr/>
            <p:nvPr/>
          </p:nvSpPr>
          <p:spPr>
            <a:xfrm rot="19037400">
              <a:off x="-4763520" y="7784280"/>
              <a:ext cx="8129880" cy="4063680"/>
            </a:xfrm>
            <a:custGeom>
              <a:avLst/>
              <a:gdLst>
                <a:gd name="textAreaLeft" fmla="*/ 0 w 8129880"/>
                <a:gd name="textAreaRight" fmla="*/ 8132400 w 8129880"/>
                <a:gd name="textAreaTop" fmla="*/ 0 h 4063680"/>
                <a:gd name="textAreaBottom" fmla="*/ 4066200 h 406368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14" name="TextBox 4"/>
            <p:cNvSpPr/>
            <p:nvPr/>
          </p:nvSpPr>
          <p:spPr>
            <a:xfrm rot="19037400">
              <a:off x="-4892040" y="7453440"/>
              <a:ext cx="8129880" cy="444492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15" name="Group 5"/>
          <p:cNvGrpSpPr/>
          <p:nvPr/>
        </p:nvGrpSpPr>
        <p:grpSpPr>
          <a:xfrm>
            <a:off x="-1367280" y="9054360"/>
            <a:ext cx="4441320" cy="4338360"/>
            <a:chOff x="-1367280" y="9054360"/>
            <a:chExt cx="4441320" cy="4338360"/>
          </a:xfrm>
        </p:grpSpPr>
        <p:sp>
          <p:nvSpPr>
            <p:cNvPr id="1716" name="Freeform 6"/>
            <p:cNvSpPr/>
            <p:nvPr/>
          </p:nvSpPr>
          <p:spPr>
            <a:xfrm rot="19037400">
              <a:off x="-1091160" y="10289160"/>
              <a:ext cx="4017240" cy="2007360"/>
            </a:xfrm>
            <a:custGeom>
              <a:avLst/>
              <a:gdLst>
                <a:gd name="textAreaLeft" fmla="*/ 0 w 4017240"/>
                <a:gd name="textAreaRight" fmla="*/ 4019760 w 4017240"/>
                <a:gd name="textAreaTop" fmla="*/ 0 h 2007360"/>
                <a:gd name="textAreaBottom" fmla="*/ 2009880 h 20073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17" name="TextBox 7"/>
            <p:cNvSpPr/>
            <p:nvPr/>
          </p:nvSpPr>
          <p:spPr>
            <a:xfrm rot="19037400">
              <a:off x="-1155240" y="10125360"/>
              <a:ext cx="4017240" cy="2195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18" name="Group 8"/>
          <p:cNvGrpSpPr/>
          <p:nvPr/>
        </p:nvGrpSpPr>
        <p:grpSpPr>
          <a:xfrm>
            <a:off x="15163920" y="-4197240"/>
            <a:ext cx="9577080" cy="9354960"/>
            <a:chOff x="15163920" y="-4197240"/>
            <a:chExt cx="9577080" cy="9354960"/>
          </a:xfrm>
        </p:grpSpPr>
        <p:sp>
          <p:nvSpPr>
            <p:cNvPr id="1719" name="Freeform 9"/>
            <p:cNvSpPr/>
            <p:nvPr/>
          </p:nvSpPr>
          <p:spPr>
            <a:xfrm rot="19037400">
              <a:off x="15758640" y="-1535040"/>
              <a:ext cx="8661960" cy="4329720"/>
            </a:xfrm>
            <a:custGeom>
              <a:avLst/>
              <a:gdLst>
                <a:gd name="textAreaLeft" fmla="*/ 0 w 8661960"/>
                <a:gd name="textAreaRight" fmla="*/ 8664480 w 8661960"/>
                <a:gd name="textAreaTop" fmla="*/ 0 h 4329720"/>
                <a:gd name="textAreaBottom" fmla="*/ 4332240 h 432972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545454"/>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20" name="TextBox 10"/>
            <p:cNvSpPr/>
            <p:nvPr/>
          </p:nvSpPr>
          <p:spPr>
            <a:xfrm rot="19037400">
              <a:off x="15621120" y="-1887480"/>
              <a:ext cx="8661960" cy="473580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21" name="Group 11"/>
          <p:cNvGrpSpPr/>
          <p:nvPr/>
        </p:nvGrpSpPr>
        <p:grpSpPr>
          <a:xfrm>
            <a:off x="16032240" y="-3598920"/>
            <a:ext cx="4732200" cy="4622400"/>
            <a:chOff x="16032240" y="-3598920"/>
            <a:chExt cx="4732200" cy="4622400"/>
          </a:xfrm>
        </p:grpSpPr>
        <p:sp>
          <p:nvSpPr>
            <p:cNvPr id="1722" name="Freeform 12"/>
            <p:cNvSpPr/>
            <p:nvPr/>
          </p:nvSpPr>
          <p:spPr>
            <a:xfrm rot="19037400">
              <a:off x="16326360" y="-2283120"/>
              <a:ext cx="4280400" cy="2138760"/>
            </a:xfrm>
            <a:custGeom>
              <a:avLst/>
              <a:gdLst>
                <a:gd name="textAreaLeft" fmla="*/ 0 w 4280400"/>
                <a:gd name="textAreaRight" fmla="*/ 4282920 w 4280400"/>
                <a:gd name="textAreaTop" fmla="*/ 0 h 2138760"/>
                <a:gd name="textAreaBottom" fmla="*/ 2141280 h 21387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737373"/>
            </a:solidFill>
            <a:ln w="0">
              <a:noFill/>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23" name="TextBox 13"/>
            <p:cNvSpPr/>
            <p:nvPr/>
          </p:nvSpPr>
          <p:spPr>
            <a:xfrm rot="19037400">
              <a:off x="16257960" y="-2457360"/>
              <a:ext cx="4280400" cy="23396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24" name="Group 14"/>
          <p:cNvGrpSpPr/>
          <p:nvPr/>
        </p:nvGrpSpPr>
        <p:grpSpPr>
          <a:xfrm>
            <a:off x="12844800" y="8637480"/>
            <a:ext cx="4098960" cy="4003920"/>
            <a:chOff x="12844800" y="8637480"/>
            <a:chExt cx="4098960" cy="4003920"/>
          </a:xfrm>
        </p:grpSpPr>
        <p:sp>
          <p:nvSpPr>
            <p:cNvPr id="1725" name="Freeform 15"/>
            <p:cNvSpPr/>
            <p:nvPr/>
          </p:nvSpPr>
          <p:spPr>
            <a:xfrm rot="19037400">
              <a:off x="13099320" y="9776880"/>
              <a:ext cx="3707640" cy="1852560"/>
            </a:xfrm>
            <a:custGeom>
              <a:avLst/>
              <a:gdLst>
                <a:gd name="textAreaLeft" fmla="*/ 0 w 3707640"/>
                <a:gd name="textAreaRight" fmla="*/ 3710160 w 3707640"/>
                <a:gd name="textAreaTop" fmla="*/ 0 h 1852560"/>
                <a:gd name="textAreaBottom" fmla="*/ 1855080 h 185256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26" name="TextBox 16"/>
            <p:cNvSpPr/>
            <p:nvPr/>
          </p:nvSpPr>
          <p:spPr>
            <a:xfrm rot="19037400">
              <a:off x="13040280" y="9626040"/>
              <a:ext cx="3707640" cy="2026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grpSp>
        <p:nvGrpSpPr>
          <p:cNvPr id="1727" name="Group 17"/>
          <p:cNvGrpSpPr/>
          <p:nvPr/>
        </p:nvGrpSpPr>
        <p:grpSpPr>
          <a:xfrm>
            <a:off x="1352160" y="-2332080"/>
            <a:ext cx="4118040" cy="4021920"/>
            <a:chOff x="1352160" y="-2332080"/>
            <a:chExt cx="4118040" cy="4021920"/>
          </a:xfrm>
        </p:grpSpPr>
        <p:sp>
          <p:nvSpPr>
            <p:cNvPr id="1728" name="Freeform 18"/>
            <p:cNvSpPr/>
            <p:nvPr/>
          </p:nvSpPr>
          <p:spPr>
            <a:xfrm rot="19037400">
              <a:off x="1608480" y="-1186920"/>
              <a:ext cx="3724200" cy="1860840"/>
            </a:xfrm>
            <a:custGeom>
              <a:avLst/>
              <a:gdLst>
                <a:gd name="textAreaLeft" fmla="*/ 0 w 3724200"/>
                <a:gd name="textAreaRight" fmla="*/ 3726720 w 3724200"/>
                <a:gd name="textAreaTop" fmla="*/ 0 h 1860840"/>
                <a:gd name="textAreaBottom" fmla="*/ 1863360 h 1860840"/>
              </a:gdLst>
              <a:ahLst/>
              <a:rect l="textAreaLeft" t="textAreaTop" r="textAreaRight" b="textAreaBottom"/>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noFill/>
            <a:ln cap="sq" w="57240">
              <a:solidFill>
                <a:srgbClr val="545454"/>
              </a:solidFill>
              <a:miter/>
            </a:ln>
          </p:spPr>
          <p:style>
            <a:lnRef idx="0"/>
            <a:fillRef idx="0"/>
            <a:effectRef idx="0"/>
            <a:fontRef idx="minor"/>
          </p:style>
          <p:txBody>
            <a:bodyPr lIns="90000" rIns="90000" tIns="45000" bIns="45000" anchor="t">
              <a:noAutofit/>
            </a:bodyPr>
            <a:p>
              <a:pPr>
                <a:lnSpc>
                  <a:spcPct val="100000"/>
                </a:lnSpc>
              </a:pPr>
              <a:endParaRPr b="0" lang="en-PH" sz="1800" spc="-1" strike="noStrike">
                <a:solidFill>
                  <a:srgbClr val="ffffff"/>
                </a:solidFill>
                <a:latin typeface="Arial"/>
                <a:ea typeface="DejaVu Sans"/>
              </a:endParaRPr>
            </a:p>
          </p:txBody>
        </p:sp>
        <p:sp>
          <p:nvSpPr>
            <p:cNvPr id="1729" name="TextBox 19"/>
            <p:cNvSpPr/>
            <p:nvPr/>
          </p:nvSpPr>
          <p:spPr>
            <a:xfrm rot="19037400">
              <a:off x="1548360" y="-1338840"/>
              <a:ext cx="3724200" cy="2035440"/>
            </a:xfrm>
            <a:prstGeom prst="rect">
              <a:avLst/>
            </a:prstGeom>
            <a:noFill/>
            <a:ln w="0">
              <a:noFill/>
            </a:ln>
          </p:spPr>
          <p:style>
            <a:lnRef idx="0"/>
            <a:fillRef idx="0"/>
            <a:effectRef idx="0"/>
            <a:fontRef idx="minor"/>
          </p:style>
          <p:txBody>
            <a:bodyPr lIns="50760" rIns="50760" tIns="50760" bIns="50760" anchor="ctr">
              <a:noAutofit/>
            </a:bodyPr>
            <a:p>
              <a:pPr>
                <a:lnSpc>
                  <a:spcPct val="100000"/>
                </a:lnSpc>
              </a:pPr>
              <a:endParaRPr b="0" lang="en-US" sz="1800" spc="-1" strike="noStrike">
                <a:solidFill>
                  <a:schemeClr val="dk1"/>
                </a:solidFill>
                <a:latin typeface="Calibri"/>
                <a:ea typeface="DejaVu Sans"/>
              </a:endParaRPr>
            </a:p>
          </p:txBody>
        </p:sp>
      </p:grpSp>
      <p:sp>
        <p:nvSpPr>
          <p:cNvPr id="1730" name="TextBox 20"/>
          <p:cNvSpPr/>
          <p:nvPr/>
        </p:nvSpPr>
        <p:spPr>
          <a:xfrm>
            <a:off x="3029760" y="3439080"/>
            <a:ext cx="12226320" cy="3786840"/>
          </a:xfrm>
          <a:prstGeom prst="rect">
            <a:avLst/>
          </a:prstGeom>
          <a:noFill/>
          <a:ln w="0">
            <a:noFill/>
          </a:ln>
        </p:spPr>
        <p:style>
          <a:lnRef idx="0"/>
          <a:fillRef idx="0"/>
          <a:effectRef idx="0"/>
          <a:fontRef idx="minor"/>
        </p:style>
        <p:txBody>
          <a:bodyPr lIns="0" rIns="0" tIns="0" bIns="0" anchor="t">
            <a:spAutoFit/>
          </a:bodyPr>
          <a:p>
            <a:pPr algn="ctr" defTabSz="914400">
              <a:lnSpc>
                <a:spcPts val="14910"/>
              </a:lnSpc>
            </a:pPr>
            <a:r>
              <a:rPr b="0" lang="en-US" sz="17540" spc="-1" strike="noStrike">
                <a:solidFill>
                  <a:srgbClr val="545454"/>
                </a:solidFill>
                <a:latin typeface="Bold Ink"/>
                <a:ea typeface="Bold Ink"/>
              </a:rPr>
              <a:t>THANK</a:t>
            </a:r>
            <a:endParaRPr b="0" lang="en-PH" sz="17540" spc="-1" strike="noStrike">
              <a:solidFill>
                <a:srgbClr val="000000"/>
              </a:solidFill>
              <a:latin typeface="Arial"/>
            </a:endParaRPr>
          </a:p>
          <a:p>
            <a:pPr algn="ctr" defTabSz="914400">
              <a:lnSpc>
                <a:spcPts val="14910"/>
              </a:lnSpc>
            </a:pPr>
            <a:r>
              <a:rPr b="0" lang="en-US" sz="17540" spc="-1" strike="noStrike">
                <a:solidFill>
                  <a:srgbClr val="545454"/>
                </a:solidFill>
                <a:latin typeface="Bold Ink"/>
                <a:ea typeface="Bold Ink"/>
              </a:rPr>
              <a:t>YOU</a:t>
            </a:r>
            <a:endParaRPr b="0" lang="en-PH" sz="1754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842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DAGulw--cBY</dc:identifier>
  <dc:language>en-PH</dc:language>
  <cp:lastModifiedBy/>
  <dcterms:modified xsi:type="dcterms:W3CDTF">2026-07-21T18:24:28Z</dcterms:modified>
  <cp:revision>9</cp:revision>
  <dc:subject/>
  <dc:title>Gray Simple Shapes Group Project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