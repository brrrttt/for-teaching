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PH" sz="4400" spc="-1" strike="noStrike">
                <a:solidFill>
                  <a:srgbClr val="000000"/>
                </a:solidFill>
                <a:latin typeface="Arial"/>
              </a:rPr>
              <a:t>Click to move the slide</a:t>
            </a:r>
            <a:endParaRPr b="0" lang="en-PH" sz="4400" spc="-1" strike="noStrike">
              <a:solidFill>
                <a:srgbClr val="000000"/>
              </a:solidFill>
              <a:latin typeface="Arial"/>
            </a:endParaRP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PH" sz="2000" spc="-1" strike="noStrike">
                <a:solidFill>
                  <a:srgbClr val="000000"/>
                </a:solidFill>
                <a:latin typeface="Arial"/>
              </a:rPr>
              <a:t>Click to edit the notes format</a:t>
            </a:r>
            <a:endParaRPr b="0" lang="en-PH" sz="2000" spc="-1" strike="noStrike">
              <a:solidFill>
                <a:srgbClr val="000000"/>
              </a:solidFill>
              <a:latin typeface="Arial"/>
            </a:endParaRPr>
          </a:p>
        </p:txBody>
      </p:sp>
      <p:sp>
        <p:nvSpPr>
          <p:cNvPr id="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PH" sz="1400" spc="-1" strike="noStrike">
                <a:solidFill>
                  <a:srgbClr val="000000"/>
                </a:solidFill>
                <a:latin typeface="Times New Roman"/>
              </a:rPr>
              <a:t>&lt;header&gt;</a:t>
            </a:r>
            <a:endParaRPr b="0" lang="en-PH" sz="1400" spc="-1" strike="noStrike">
              <a:solidFill>
                <a:srgbClr val="000000"/>
              </a:solidFill>
              <a:latin typeface="Times New Roman"/>
            </a:endParaRPr>
          </a:p>
        </p:txBody>
      </p:sp>
      <p:sp>
        <p:nvSpPr>
          <p:cNvPr id="5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PH" sz="1400" spc="-1" strike="noStrike">
                <a:solidFill>
                  <a:srgbClr val="000000"/>
                </a:solidFill>
                <a:latin typeface="Times New Roman"/>
              </a:defRPr>
            </a:lvl1pPr>
          </a:lstStyle>
          <a:p>
            <a:pPr indent="0" algn="r">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5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5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PH" sz="1400" spc="-1" strike="noStrike">
                <a:solidFill>
                  <a:srgbClr val="000000"/>
                </a:solidFill>
                <a:latin typeface="Times New Roman"/>
              </a:defRPr>
            </a:lvl1pPr>
          </a:lstStyle>
          <a:p>
            <a:pPr indent="0" algn="r">
              <a:buNone/>
            </a:pPr>
            <a:fld id="{620B72F2-8423-43F5-A8AF-83C7EB4A7B8B}" type="slidenum">
              <a:rPr b="0" lang="en-PH" sz="1400" spc="-1" strike="noStrike">
                <a:solidFill>
                  <a:srgbClr val="000000"/>
                </a:solidFill>
                <a:latin typeface="Times New Roman"/>
              </a:rPr>
              <a:t>&lt;number&gt;</a:t>
            </a:fld>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ldImg"/>
          </p:nvPr>
        </p:nvSpPr>
        <p:spPr>
          <a:xfrm>
            <a:off x="685800" y="1143000"/>
            <a:ext cx="5485680" cy="3085560"/>
          </a:xfrm>
          <a:prstGeom prst="rect">
            <a:avLst/>
          </a:prstGeom>
          <a:ln w="0">
            <a:noFill/>
          </a:ln>
        </p:spPr>
      </p:sp>
      <p:sp>
        <p:nvSpPr>
          <p:cNvPr id="7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74" name="PlaceHolder 3"/>
          <p:cNvSpPr>
            <a:spLocks noGrp="1"/>
          </p:cNvSpPr>
          <p:nvPr>
            <p:ph type="sldNum" idx="3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F5B83D2-F159-4978-86B0-60805F7605DD}" type="slidenum">
              <a:rPr b="0" lang="en-US" sz="1200" spc="-1" strike="noStrike">
                <a:solidFill>
                  <a:schemeClr val="dk1"/>
                </a:solidFill>
                <a:latin typeface="+mn-lt"/>
                <a:ea typeface="+mn-ea"/>
              </a:rPr>
              <a:t>14</a:t>
            </a:fld>
            <a:endParaRPr b="0" lang="en-PH"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685800" y="1143000"/>
            <a:ext cx="5485680" cy="3085560"/>
          </a:xfrm>
          <a:prstGeom prst="rect">
            <a:avLst/>
          </a:prstGeom>
          <a:ln w="0">
            <a:noFill/>
          </a:ln>
        </p:spPr>
      </p:sp>
      <p:sp>
        <p:nvSpPr>
          <p:cNvPr id="7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77" name="PlaceHolder 3"/>
          <p:cNvSpPr>
            <a:spLocks noGrp="1"/>
          </p:cNvSpPr>
          <p:nvPr>
            <p:ph type="sldNum" idx="38"/>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685800" y="1143000"/>
            <a:ext cx="5485680" cy="3085560"/>
          </a:xfrm>
          <a:prstGeom prst="rect">
            <a:avLst/>
          </a:prstGeom>
          <a:ln w="0">
            <a:noFill/>
          </a:ln>
        </p:spPr>
      </p:sp>
      <p:sp>
        <p:nvSpPr>
          <p:cNvPr id="7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0" name="PlaceHolder 3"/>
          <p:cNvSpPr>
            <a:spLocks noGrp="1"/>
          </p:cNvSpPr>
          <p:nvPr>
            <p:ph type="sldNum" idx="39"/>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685800" y="1143000"/>
            <a:ext cx="5485680" cy="3085560"/>
          </a:xfrm>
          <a:prstGeom prst="rect">
            <a:avLst/>
          </a:prstGeom>
          <a:ln w="0">
            <a:noFill/>
          </a:ln>
        </p:spPr>
      </p:sp>
      <p:sp>
        <p:nvSpPr>
          <p:cNvPr id="8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3" name="PlaceHolder 3"/>
          <p:cNvSpPr>
            <a:spLocks noGrp="1"/>
          </p:cNvSpPr>
          <p:nvPr>
            <p:ph type="sldNum" idx="40"/>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685800" y="1143000"/>
            <a:ext cx="5485680" cy="3085560"/>
          </a:xfrm>
          <a:prstGeom prst="rect">
            <a:avLst/>
          </a:prstGeom>
          <a:ln w="0">
            <a:noFill/>
          </a:ln>
        </p:spPr>
      </p:sp>
      <p:sp>
        <p:nvSpPr>
          <p:cNvPr id="8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6" name="PlaceHolder 3"/>
          <p:cNvSpPr>
            <a:spLocks noGrp="1"/>
          </p:cNvSpPr>
          <p:nvPr>
            <p:ph type="sldNum" idx="41"/>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685800" y="1143000"/>
            <a:ext cx="5485680" cy="3085560"/>
          </a:xfrm>
          <a:prstGeom prst="rect">
            <a:avLst/>
          </a:prstGeom>
          <a:ln w="0">
            <a:noFill/>
          </a:ln>
        </p:spPr>
      </p:sp>
      <p:sp>
        <p:nvSpPr>
          <p:cNvPr id="8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9" name="PlaceHolder 3"/>
          <p:cNvSpPr>
            <a:spLocks noGrp="1"/>
          </p:cNvSpPr>
          <p:nvPr>
            <p:ph type="sldNum" idx="42"/>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685800" y="1143000"/>
            <a:ext cx="5485680" cy="3085560"/>
          </a:xfrm>
          <a:prstGeom prst="rect">
            <a:avLst/>
          </a:prstGeom>
          <a:ln w="0">
            <a:noFill/>
          </a:ln>
        </p:spPr>
      </p:sp>
      <p:sp>
        <p:nvSpPr>
          <p:cNvPr id="9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92" name="PlaceHolder 3"/>
          <p:cNvSpPr>
            <a:spLocks noGrp="1"/>
          </p:cNvSpPr>
          <p:nvPr>
            <p:ph type="sldNum" idx="43"/>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685800" y="1143000"/>
            <a:ext cx="5485680" cy="3085560"/>
          </a:xfrm>
          <a:prstGeom prst="rect">
            <a:avLst/>
          </a:prstGeom>
          <a:ln w="0">
            <a:noFill/>
          </a:ln>
        </p:spPr>
      </p:sp>
      <p:sp>
        <p:nvSpPr>
          <p:cNvPr id="9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95" name="PlaceHolder 3"/>
          <p:cNvSpPr>
            <a:spLocks noGrp="1"/>
          </p:cNvSpPr>
          <p:nvPr>
            <p:ph type="sldNum" idx="44"/>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685800" y="1143000"/>
            <a:ext cx="5485680" cy="3085560"/>
          </a:xfrm>
          <a:prstGeom prst="rect">
            <a:avLst/>
          </a:prstGeom>
          <a:ln w="0">
            <a:noFill/>
          </a:ln>
        </p:spPr>
      </p:sp>
      <p:sp>
        <p:nvSpPr>
          <p:cNvPr id="9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98" name="PlaceHolder 3"/>
          <p:cNvSpPr>
            <a:spLocks noGrp="1"/>
          </p:cNvSpPr>
          <p:nvPr>
            <p:ph type="sldNum" idx="45"/>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685800" y="1143000"/>
            <a:ext cx="5485680" cy="3085560"/>
          </a:xfrm>
          <a:prstGeom prst="rect">
            <a:avLst/>
          </a:prstGeom>
          <a:ln w="0">
            <a:noFill/>
          </a:ln>
        </p:spPr>
      </p:sp>
      <p:sp>
        <p:nvSpPr>
          <p:cNvPr id="10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01" name="PlaceHolder 3"/>
          <p:cNvSpPr>
            <a:spLocks noGrp="1"/>
          </p:cNvSpPr>
          <p:nvPr>
            <p:ph type="sldNum" idx="46"/>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685800" y="1143000"/>
            <a:ext cx="5485680" cy="3085560"/>
          </a:xfrm>
          <a:prstGeom prst="rect">
            <a:avLst/>
          </a:prstGeom>
          <a:ln w="0">
            <a:noFill/>
          </a:ln>
        </p:spPr>
      </p:sp>
      <p:sp>
        <p:nvSpPr>
          <p:cNvPr id="10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04" name="PlaceHolder 3"/>
          <p:cNvSpPr>
            <a:spLocks noGrp="1"/>
          </p:cNvSpPr>
          <p:nvPr>
            <p:ph type="sldNum" idx="47"/>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685800" y="1143000"/>
            <a:ext cx="5485680" cy="3085560"/>
          </a:xfrm>
          <a:prstGeom prst="rect">
            <a:avLst/>
          </a:prstGeom>
          <a:ln w="0">
            <a:noFill/>
          </a:ln>
        </p:spPr>
      </p:sp>
      <p:sp>
        <p:nvSpPr>
          <p:cNvPr id="10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07" name="PlaceHolder 3"/>
          <p:cNvSpPr>
            <a:spLocks noGrp="1"/>
          </p:cNvSpPr>
          <p:nvPr>
            <p:ph type="sldNum" idx="48"/>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685800" y="1143000"/>
            <a:ext cx="5485680" cy="3085560"/>
          </a:xfrm>
          <a:prstGeom prst="rect">
            <a:avLst/>
          </a:prstGeom>
          <a:ln w="0">
            <a:noFill/>
          </a:ln>
        </p:spPr>
      </p:sp>
      <p:sp>
        <p:nvSpPr>
          <p:cNvPr id="10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0" name="PlaceHolder 3"/>
          <p:cNvSpPr>
            <a:spLocks noGrp="1"/>
          </p:cNvSpPr>
          <p:nvPr>
            <p:ph type="sldNum" idx="49"/>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5680" cy="3085560"/>
          </a:xfrm>
          <a:prstGeom prst="rect">
            <a:avLst/>
          </a:prstGeom>
          <a:ln w="0">
            <a:noFill/>
          </a:ln>
        </p:spPr>
      </p:sp>
      <p:sp>
        <p:nvSpPr>
          <p:cNvPr id="11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3" name="PlaceHolder 3"/>
          <p:cNvSpPr>
            <a:spLocks noGrp="1"/>
          </p:cNvSpPr>
          <p:nvPr>
            <p:ph type="sldNum" idx="50"/>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5680" cy="3085560"/>
          </a:xfrm>
          <a:prstGeom prst="rect">
            <a:avLst/>
          </a:prstGeom>
          <a:ln w="0">
            <a:noFill/>
          </a:ln>
        </p:spPr>
      </p:sp>
      <p:sp>
        <p:nvSpPr>
          <p:cNvPr id="11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6" name="PlaceHolder 3"/>
          <p:cNvSpPr>
            <a:spLocks noGrp="1"/>
          </p:cNvSpPr>
          <p:nvPr>
            <p:ph type="sldNum" idx="51"/>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5680" cy="3085560"/>
          </a:xfrm>
          <a:prstGeom prst="rect">
            <a:avLst/>
          </a:prstGeom>
          <a:ln w="0">
            <a:noFill/>
          </a:ln>
        </p:spPr>
      </p:sp>
      <p:sp>
        <p:nvSpPr>
          <p:cNvPr id="11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9" name="PlaceHolder 3"/>
          <p:cNvSpPr>
            <a:spLocks noGrp="1"/>
          </p:cNvSpPr>
          <p:nvPr>
            <p:ph type="sldNum" idx="52"/>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PH"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553BA84-6AF0-48FE-9435-77C91DD7048D}" type="slidenum">
              <a:t>&lt;#&gt;</a:t>
            </a:fld>
          </a:p>
        </p:txBody>
      </p:sp>
      <p:sp>
        <p:nvSpPr>
          <p:cNvPr id="6" name="PlaceHolder 5"/>
          <p:cNvSpPr>
            <a:spLocks noGrp="1"/>
          </p:cNvSpPr>
          <p:nvPr>
            <p:ph type="dt" idx="3"/>
          </p:nvPr>
        </p:nvSpPr>
        <p:spPr/>
        <p:txBody>
          <a:bodyPr/>
          <a:p>
            <a:r>
              <a:rPr lang="en-PH"/>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03151CF1-D4BF-4248-AEFB-054FF98C08DD}" type="slidenum">
              <a:t>&lt;#&gt;</a:t>
            </a:fld>
          </a:p>
        </p:txBody>
      </p:sp>
      <p:sp>
        <p:nvSpPr>
          <p:cNvPr id="4" name="PlaceHolder 3"/>
          <p:cNvSpPr>
            <a:spLocks noGrp="1"/>
          </p:cNvSpPr>
          <p:nvPr>
            <p:ph type="dt" idx="6"/>
          </p:nvPr>
        </p:nvSpPr>
        <p:spPr/>
        <p:txBody>
          <a:bodyPr/>
          <a:p>
            <a:r>
              <a:rPr lang="en-PH"/>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279D4E0-4821-437F-A0FF-A3F390B0E4B0}" type="slidenum">
              <a:t>&lt;#&gt;</a:t>
            </a:fld>
          </a:p>
        </p:txBody>
      </p:sp>
      <p:sp>
        <p:nvSpPr>
          <p:cNvPr id="4" name="PlaceHolder 3"/>
          <p:cNvSpPr>
            <a:spLocks noGrp="1"/>
          </p:cNvSpPr>
          <p:nvPr>
            <p:ph type="dt" idx="9"/>
          </p:nvPr>
        </p:nvSpPr>
        <p:spPr/>
        <p:txBody>
          <a:bodyPr/>
          <a:p>
            <a:r>
              <a:rPr lang="en-PH"/>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19"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5E15526-5186-47EE-BB07-3DB712B0558B}" type="slidenum">
              <a:t>&lt;#&gt;</a:t>
            </a:fld>
          </a:p>
        </p:txBody>
      </p:sp>
      <p:sp>
        <p:nvSpPr>
          <p:cNvPr id="6" name="PlaceHolder 5"/>
          <p:cNvSpPr>
            <a:spLocks noGrp="1"/>
          </p:cNvSpPr>
          <p:nvPr>
            <p:ph type="dt" idx="12"/>
          </p:nvPr>
        </p:nvSpPr>
        <p:spPr/>
        <p:txBody>
          <a:bodyPr/>
          <a:p>
            <a:r>
              <a:rPr lang="en-PH"/>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9250AD8A-CB1C-4C33-AD94-63BEF13999AD}" type="slidenum">
              <a:t>&lt;#&gt;</a:t>
            </a:fld>
          </a:p>
        </p:txBody>
      </p:sp>
      <p:sp>
        <p:nvSpPr>
          <p:cNvPr id="4" name="PlaceHolder 3"/>
          <p:cNvSpPr>
            <a:spLocks noGrp="1"/>
          </p:cNvSpPr>
          <p:nvPr>
            <p:ph type="dt" idx="15"/>
          </p:nvPr>
        </p:nvSpPr>
        <p:spPr/>
        <p:txBody>
          <a:bodyPr/>
          <a:p>
            <a:r>
              <a:rPr lang="en-PH"/>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30"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31"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D0B1BA53-B309-4036-8878-A680C816364C}" type="slidenum">
              <a:t>&lt;#&gt;</a:t>
            </a:fld>
          </a:p>
        </p:txBody>
      </p:sp>
      <p:sp>
        <p:nvSpPr>
          <p:cNvPr id="7" name="PlaceHolder 6"/>
          <p:cNvSpPr>
            <a:spLocks noGrp="1"/>
          </p:cNvSpPr>
          <p:nvPr>
            <p:ph type="dt" idx="18"/>
          </p:nvPr>
        </p:nvSpPr>
        <p:spPr/>
        <p:txBody>
          <a:bodyPr/>
          <a:p>
            <a:r>
              <a:rPr lang="en-PH"/>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98638C0E-3692-47BB-9858-4F41E1C34BA3}" type="slidenum">
              <a:t>&lt;#&gt;</a:t>
            </a:fld>
          </a:p>
        </p:txBody>
      </p:sp>
      <p:sp>
        <p:nvSpPr>
          <p:cNvPr id="4" name="PlaceHolder 3"/>
          <p:cNvSpPr>
            <a:spLocks noGrp="1"/>
          </p:cNvSpPr>
          <p:nvPr>
            <p:ph type="dt" idx="21"/>
          </p:nvPr>
        </p:nvSpPr>
        <p:spPr/>
        <p:txBody>
          <a:bodyPr/>
          <a:p>
            <a:r>
              <a:rPr lang="en-PH"/>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02911D19-FAD7-4456-B7C8-17A42D2FBF98}" type="slidenum">
              <a:t>&lt;#&gt;</a:t>
            </a:fld>
          </a:p>
        </p:txBody>
      </p:sp>
      <p:sp>
        <p:nvSpPr>
          <p:cNvPr id="5" name="PlaceHolder 4"/>
          <p:cNvSpPr>
            <a:spLocks noGrp="1"/>
          </p:cNvSpPr>
          <p:nvPr>
            <p:ph type="dt" idx="24"/>
          </p:nvPr>
        </p:nvSpPr>
        <p:spPr/>
        <p:txBody>
          <a:bodyPr/>
          <a:p>
            <a:r>
              <a:rPr lang="en-PH"/>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D68FDCFE-AF69-4C5F-8874-A2A8C76F6C70}" type="slidenum">
              <a:t>&lt;#&gt;</a:t>
            </a:fld>
          </a:p>
        </p:txBody>
      </p:sp>
      <p:sp>
        <p:nvSpPr>
          <p:cNvPr id="4" name="PlaceHolder 3"/>
          <p:cNvSpPr>
            <a:spLocks noGrp="1"/>
          </p:cNvSpPr>
          <p:nvPr>
            <p:ph type="dt" idx="27"/>
          </p:nvPr>
        </p:nvSpPr>
        <p:spPr/>
        <p:txBody>
          <a:bodyPr/>
          <a:p>
            <a:r>
              <a:rPr lang="en-PH"/>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04BE2187-00E4-4DF3-8A65-898E005071BF}" type="slidenum">
              <a:t>&lt;#&gt;</a:t>
            </a:fld>
          </a:p>
        </p:txBody>
      </p:sp>
      <p:sp>
        <p:nvSpPr>
          <p:cNvPr id="4" name="PlaceHolder 3"/>
          <p:cNvSpPr>
            <a:spLocks noGrp="1"/>
          </p:cNvSpPr>
          <p:nvPr>
            <p:ph type="dt" idx="30"/>
          </p:nvPr>
        </p:nvSpPr>
        <p:spPr/>
        <p:txBody>
          <a:bodyPr/>
          <a:p>
            <a:r>
              <a:rPr lang="en-PH"/>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839307AF-4BE0-4C90-A023-4ED99D03466A}" type="slidenum">
              <a:t>&lt;#&gt;</a:t>
            </a:fld>
          </a:p>
        </p:txBody>
      </p:sp>
      <p:sp>
        <p:nvSpPr>
          <p:cNvPr id="4" name="PlaceHolder 3"/>
          <p:cNvSpPr>
            <a:spLocks noGrp="1"/>
          </p:cNvSpPr>
          <p:nvPr>
            <p:ph type="dt" idx="33"/>
          </p:nvPr>
        </p:nvSpPr>
        <p:spPr/>
        <p:txBody>
          <a:bodyPr/>
          <a:p>
            <a:r>
              <a:rPr lang="en-PH"/>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892D96FB-A899-4E50-8B9E-4480126DC698}"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3200" spc="-1" strike="noStrike">
                <a:solidFill>
                  <a:srgbClr val="000000"/>
                </a:solidFill>
                <a:latin typeface="Arial"/>
              </a:rPr>
              <a:t>Click to edit the outline text format</a:t>
            </a:r>
            <a:endParaRPr b="0" lang="en-PH"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2800" spc="-1" strike="noStrike">
                <a:solidFill>
                  <a:srgbClr val="000000"/>
                </a:solidFill>
                <a:latin typeface="Arial"/>
              </a:rPr>
              <a:t>Second Outline Level</a:t>
            </a:r>
            <a:endParaRPr b="0" lang="en-PH"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2400" spc="-1" strike="noStrike">
                <a:solidFill>
                  <a:srgbClr val="000000"/>
                </a:solidFill>
                <a:latin typeface="Arial"/>
              </a:rPr>
              <a:t>Third Outline Level</a:t>
            </a:r>
            <a:endParaRPr b="0" lang="en-PH"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2000" spc="-1" strike="noStrike">
                <a:solidFill>
                  <a:srgbClr val="000000"/>
                </a:solidFill>
                <a:latin typeface="Arial"/>
              </a:rPr>
              <a:t>Fourth Outline Level</a:t>
            </a:r>
            <a:endParaRPr b="0" lang="en-PH"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2000" spc="-1" strike="noStrike">
                <a:solidFill>
                  <a:srgbClr val="000000"/>
                </a:solidFill>
                <a:latin typeface="Arial"/>
              </a:rPr>
              <a:t>Fifth Outline Level</a:t>
            </a:r>
            <a:endParaRPr b="0" lang="en-PH"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2000" spc="-1" strike="noStrike">
                <a:solidFill>
                  <a:srgbClr val="000000"/>
                </a:solidFill>
                <a:latin typeface="Arial"/>
              </a:rPr>
              <a:t>Sixth Outline Level</a:t>
            </a:r>
            <a:endParaRPr b="0" lang="en-PH"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2000" spc="-1" strike="noStrike">
                <a:solidFill>
                  <a:srgbClr val="000000"/>
                </a:solidFill>
                <a:latin typeface="Arial"/>
              </a:rPr>
              <a:t>Seventh Outline Level</a:t>
            </a:r>
            <a:endParaRPr b="0" lang="en-PH"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B94CA30D-1CD4-4463-BE3B-1599B124D386}"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AF18C483-CFF3-4FA7-AAB9-758011BC95CF}"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E687F2C4-A66E-4C74-9F8F-ED43374D8838}"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0C3F7E23-7425-48C1-A34F-9307B2B659F6}"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24"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25"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8C4CA02E-8A35-4BE5-A661-9460C6E979E6}"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525E4D05-6DD8-4A8B-B1DB-A5DD02059B11}"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CA2F9544-2071-4F6F-B2C9-A491C3A24C01}"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8D03941E-2D94-4B3A-A990-63F5FFAA26BA}"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4"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6362B26C-C5B8-42C0-9F73-D55BC6C67DCF}"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45"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7"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D87728C2-77EC-4829-B52F-04562D971F9E}"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48"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fontScale="96666" lnSpcReduction="10000"/>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 A hospital plans to develop an Online Appointment System. The project manager interviewed only the hospital director before defining the system requirements. After development, nurses and patients complained that many important features were missing.</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requirement analysis objective was most neglected?</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Identifying customer needs</a:t>
            </a:r>
            <a:br>
              <a:rPr sz="2800"/>
            </a:br>
            <a:r>
              <a:rPr b="0" lang="en-PH" sz="2800" spc="-1" strike="noStrike">
                <a:solidFill>
                  <a:srgbClr val="000000"/>
                </a:solidFill>
                <a:latin typeface="Times New Roman"/>
                <a:ea typeface="Times New Roman"/>
              </a:rPr>
              <a:t>B. Allocating functions to system elements</a:t>
            </a:r>
            <a:br>
              <a:rPr sz="2800"/>
            </a:br>
            <a:r>
              <a:rPr b="0" lang="en-PH" sz="2800" spc="-1" strike="noStrike">
                <a:solidFill>
                  <a:srgbClr val="000000"/>
                </a:solidFill>
                <a:latin typeface="Times New Roman"/>
                <a:ea typeface="Times New Roman"/>
              </a:rPr>
              <a:t>C. Creating system definitions</a:t>
            </a:r>
            <a:br>
              <a:rPr sz="2800"/>
            </a:br>
            <a:r>
              <a:rPr b="0" lang="en-PH" sz="2800" spc="-1" strike="noStrike">
                <a:solidFill>
                  <a:srgbClr val="000000"/>
                </a:solidFill>
                <a:latin typeface="Times New Roman"/>
                <a:ea typeface="Times New Roman"/>
              </a:rPr>
              <a:t>D. Establishing schedule and constraints </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2. During requirement analysis, an analyst creates a Context Diagram that includes internal modules such as Login, Database, and Payment Processing.</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is the primary problem?</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Customers should not interact with the system.</a:t>
            </a:r>
            <a:br>
              <a:rPr sz="2800"/>
            </a:br>
            <a:r>
              <a:rPr b="0" lang="en-PH" sz="2800" spc="-1" strike="noStrike">
                <a:solidFill>
                  <a:srgbClr val="000000"/>
                </a:solidFill>
                <a:latin typeface="Times New Roman"/>
                <a:ea typeface="Times New Roman"/>
              </a:rPr>
              <a:t>B. Databases should always be external entities.</a:t>
            </a:r>
            <a:br>
              <a:rPr sz="2800"/>
            </a:br>
            <a:r>
              <a:rPr b="0" lang="en-PH" sz="2800" spc="-1" strike="noStrike">
                <a:solidFill>
                  <a:srgbClr val="000000"/>
                </a:solidFill>
                <a:latin typeface="Times New Roman"/>
                <a:ea typeface="Times New Roman"/>
              </a:rPr>
              <a:t>C. Internal processes should not appear in a Context Diagram.</a:t>
            </a:r>
            <a:br>
              <a:rPr sz="2800"/>
            </a:br>
            <a:r>
              <a:rPr b="0" lang="en-PH" sz="2800" spc="-1" strike="noStrike">
                <a:solidFill>
                  <a:srgbClr val="000000"/>
                </a:solidFill>
                <a:latin typeface="Times New Roman"/>
                <a:ea typeface="Times New Roman"/>
              </a:rPr>
              <a:t>D. Payment processing should be omitted.</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3. A startup plans to develop a mobile application with innovative features that are expected to change frequently based on user feedback.</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requirement analysis approach is most appropriate?</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Use Evolutionary Rapid Prototyping to continuously refine requirements.</a:t>
            </a:r>
            <a:br>
              <a:rPr sz="2800"/>
            </a:br>
            <a:r>
              <a:rPr b="0" lang="en-PH" sz="2800" spc="-1" strike="noStrike">
                <a:solidFill>
                  <a:srgbClr val="000000"/>
                </a:solidFill>
                <a:latin typeface="Times New Roman"/>
                <a:ea typeface="Times New Roman"/>
              </a:rPr>
              <a:t>B. Finalize all requirements before consulting users.</a:t>
            </a:r>
            <a:br>
              <a:rPr sz="2800"/>
            </a:br>
            <a:r>
              <a:rPr b="0" lang="en-PH" sz="2800" spc="-1" strike="noStrike">
                <a:solidFill>
                  <a:srgbClr val="000000"/>
                </a:solidFill>
                <a:latin typeface="Times New Roman"/>
                <a:ea typeface="Times New Roman"/>
              </a:rPr>
              <a:t>C. Use Throwaway Prototyping because it becomes the final product.</a:t>
            </a:r>
            <a:br>
              <a:rPr sz="2800"/>
            </a:br>
            <a:r>
              <a:rPr b="0" lang="en-PH" sz="2800" spc="-1" strike="noStrike">
                <a:solidFill>
                  <a:srgbClr val="000000"/>
                </a:solidFill>
                <a:latin typeface="Times New Roman"/>
                <a:ea typeface="Times New Roman"/>
              </a:rPr>
              <a:t>D. Skip prototyping to save time.</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4. A school develops an enrollment system without creating a prototype. After deployment, students find the interface confusing and difficult to use.</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requirement analysis step could have prevented this problem?</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Developing a Prototype</a:t>
            </a:r>
            <a:br>
              <a:rPr sz="2800"/>
            </a:br>
            <a:r>
              <a:rPr b="0" lang="en-PH" sz="2800" spc="-1" strike="noStrike">
                <a:solidFill>
                  <a:srgbClr val="000000"/>
                </a:solidFill>
                <a:latin typeface="Times New Roman"/>
                <a:ea typeface="Times New Roman"/>
              </a:rPr>
              <a:t>B. Creating a Data Dictionary</a:t>
            </a:r>
            <a:br>
              <a:rPr sz="2800"/>
            </a:br>
            <a:r>
              <a:rPr b="0" lang="en-PH" sz="2800" spc="-1" strike="noStrike">
                <a:solidFill>
                  <a:srgbClr val="000000"/>
                </a:solidFill>
                <a:latin typeface="Times New Roman"/>
                <a:ea typeface="Times New Roman"/>
              </a:rPr>
              <a:t>C. Drawing the Context Diagram</a:t>
            </a:r>
            <a:br>
              <a:rPr sz="2800"/>
            </a:br>
            <a:r>
              <a:rPr b="0" lang="en-PH" sz="2800" spc="-1" strike="noStrike">
                <a:solidFill>
                  <a:srgbClr val="000000"/>
                </a:solidFill>
                <a:latin typeface="Times New Roman"/>
                <a:ea typeface="Times New Roman"/>
              </a:rPr>
              <a:t>D. Finalizing the Requirements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5. During requirement modeling, several duplicate processes and inconsistent data definitions were discovered.</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is the main benefit of creating requirement models?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They eliminate software testing.</a:t>
            </a:r>
            <a:br>
              <a:rPr sz="2800"/>
            </a:br>
            <a:r>
              <a:rPr b="0" lang="en-PH" sz="2800" spc="-1" strike="noStrike">
                <a:solidFill>
                  <a:srgbClr val="000000"/>
                </a:solidFill>
                <a:latin typeface="Times New Roman"/>
                <a:ea typeface="Times New Roman"/>
              </a:rPr>
              <a:t>B. They automatically generate source code.</a:t>
            </a:r>
            <a:br>
              <a:rPr sz="2800"/>
            </a:br>
            <a:r>
              <a:rPr b="0" lang="en-PH" sz="2800" spc="-1" strike="noStrike">
                <a:solidFill>
                  <a:srgbClr val="000000"/>
                </a:solidFill>
                <a:latin typeface="Times New Roman"/>
                <a:ea typeface="Times New Roman"/>
              </a:rPr>
              <a:t>C. They detect errors before implementation.</a:t>
            </a:r>
            <a:br>
              <a:rPr sz="2800"/>
            </a:br>
            <a:r>
              <a:rPr b="0" lang="en-PH" sz="2800" spc="-1" strike="noStrike">
                <a:solidFill>
                  <a:srgbClr val="000000"/>
                </a:solidFill>
                <a:latin typeface="Times New Roman"/>
                <a:ea typeface="Times New Roman"/>
              </a:rPr>
              <a:t>D. They reduce project documentation.</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6. A municipality wants to implement a facial recognition attendance system, but its computers cannot support the software and the available budget is insufficient.</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should the analysts do first?</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Finalize the software requirements.</a:t>
            </a:r>
            <a:br>
              <a:rPr sz="2800"/>
            </a:br>
            <a:r>
              <a:rPr b="0" lang="en-PH" sz="2800" spc="-1" strike="noStrike">
                <a:solidFill>
                  <a:srgbClr val="000000"/>
                </a:solidFill>
                <a:latin typeface="Times New Roman"/>
                <a:ea typeface="Times New Roman"/>
              </a:rPr>
              <a:t>B. Develop the database.</a:t>
            </a:r>
            <a:br>
              <a:rPr sz="2800"/>
            </a:br>
            <a:r>
              <a:rPr b="0" lang="en-PH" sz="2800" spc="-1" strike="noStrike">
                <a:solidFill>
                  <a:srgbClr val="000000"/>
                </a:solidFill>
                <a:latin typeface="Times New Roman"/>
                <a:ea typeface="Times New Roman"/>
              </a:rPr>
              <a:t>C. Conduct technical and economic feasibility analysis.</a:t>
            </a:r>
            <a:br>
              <a:rPr sz="2800"/>
            </a:br>
            <a:r>
              <a:rPr b="0" lang="en-PH" sz="2800" spc="-1" strike="noStrike">
                <a:solidFill>
                  <a:srgbClr val="000000"/>
                </a:solidFill>
                <a:latin typeface="Times New Roman"/>
                <a:ea typeface="Times New Roman"/>
              </a:rPr>
              <a:t>D. Begin software development immediately.</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7. An analyst wants to show how Customers, Orders, and Products are related within an online shopping system.</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model should be created?</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Data Model</a:t>
            </a:r>
            <a:br>
              <a:rPr sz="2800"/>
            </a:br>
            <a:r>
              <a:rPr b="0" lang="en-PH" sz="2800" spc="-1" strike="noStrike">
                <a:solidFill>
                  <a:srgbClr val="000000"/>
                </a:solidFill>
                <a:latin typeface="Times New Roman"/>
                <a:ea typeface="Times New Roman"/>
              </a:rPr>
              <a:t>B. Functional Model</a:t>
            </a:r>
            <a:br>
              <a:rPr sz="2800"/>
            </a:br>
            <a:r>
              <a:rPr b="0" lang="en-PH" sz="2800" spc="-1" strike="noStrike">
                <a:solidFill>
                  <a:srgbClr val="000000"/>
                </a:solidFill>
                <a:latin typeface="Times New Roman"/>
                <a:ea typeface="Times New Roman"/>
              </a:rPr>
              <a:t>C. Behavioral Model</a:t>
            </a:r>
            <a:br>
              <a:rPr sz="2800"/>
            </a:br>
            <a:r>
              <a:rPr b="0" lang="en-PH" sz="2800" spc="-1" strike="noStrike">
                <a:solidFill>
                  <a:srgbClr val="000000"/>
                </a:solidFill>
                <a:latin typeface="Times New Roman"/>
                <a:ea typeface="Times New Roman"/>
              </a:rPr>
              <a:t>D. Context Diagram</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8. A company plans to include every feature requested by stakeholders even though the project exceeds the available budget and timeline.</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analysis objective is being ignored?</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System Definition</a:t>
            </a:r>
            <a:br>
              <a:rPr sz="2800"/>
            </a:br>
            <a:r>
              <a:rPr b="0" lang="en-PH" sz="2800" spc="-1" strike="noStrike">
                <a:solidFill>
                  <a:srgbClr val="000000"/>
                </a:solidFill>
                <a:latin typeface="Times New Roman"/>
                <a:ea typeface="Times New Roman"/>
              </a:rPr>
              <a:t>B. Establishing schedule and constraints</a:t>
            </a:r>
            <a:br>
              <a:rPr sz="2800"/>
            </a:br>
            <a:r>
              <a:rPr b="0" lang="en-PH" sz="2800" spc="-1" strike="noStrike">
                <a:solidFill>
                  <a:srgbClr val="000000"/>
                </a:solidFill>
                <a:latin typeface="Times New Roman"/>
                <a:ea typeface="Times New Roman"/>
              </a:rPr>
              <a:t>C. Customer Needs</a:t>
            </a:r>
            <a:br>
              <a:rPr sz="2800"/>
            </a:br>
            <a:r>
              <a:rPr b="0" lang="en-PH" sz="2800" spc="-1" strike="noStrike">
                <a:solidFill>
                  <a:srgbClr val="000000"/>
                </a:solidFill>
                <a:latin typeface="Times New Roman"/>
                <a:ea typeface="Times New Roman"/>
              </a:rPr>
              <a:t>D. Requirement Modeling</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9. An ATM system responds differently when users enter the correct PIN, an incorrect PIN, or cancel the transaction.</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model best represents these different system responses?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US" sz="2800" spc="-1" strike="noStrike">
                <a:solidFill>
                  <a:srgbClr val="000000"/>
                </a:solidFill>
                <a:latin typeface="Times New Roman"/>
                <a:ea typeface="Times New Roman"/>
              </a:rPr>
              <a:t>A. Customer Needs</a:t>
            </a:r>
            <a:br>
              <a:rPr sz="2800"/>
            </a:br>
            <a:r>
              <a:rPr b="0" lang="en-US" sz="2800" spc="-1" strike="noStrike">
                <a:solidFill>
                  <a:srgbClr val="000000"/>
                </a:solidFill>
                <a:latin typeface="Times New Roman"/>
                <a:ea typeface="Times New Roman"/>
              </a:rPr>
              <a:t>B. Requirement Modeling</a:t>
            </a:r>
            <a:br>
              <a:rPr sz="2800"/>
            </a:br>
            <a:r>
              <a:rPr b="0" lang="en-US" sz="2800" spc="-1" strike="noStrike">
                <a:solidFill>
                  <a:srgbClr val="000000"/>
                </a:solidFill>
                <a:latin typeface="Times New Roman"/>
                <a:ea typeface="Times New Roman"/>
              </a:rPr>
              <a:t>C. System Definition</a:t>
            </a:r>
            <a:br>
              <a:rPr sz="2800"/>
            </a:br>
            <a:r>
              <a:rPr b="0" lang="en-US" sz="2800" spc="-1" strike="noStrike">
                <a:solidFill>
                  <a:srgbClr val="000000"/>
                </a:solidFill>
                <a:latin typeface="Times New Roman"/>
                <a:ea typeface="Times New Roman"/>
              </a:rPr>
              <a:t>D. Establishing schedule and constraints </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10. An analyst creates Data Flow Diagrams, Entity-Relationship Diagrams, and State Transition Diagrams before documenting the final requirements.</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is the primary purpose of these models?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Identify missing and inconsistent requirements.</a:t>
            </a:r>
            <a:br>
              <a:rPr sz="2800"/>
            </a:br>
            <a:r>
              <a:rPr b="0" lang="en-PH" sz="2800" spc="-1" strike="noStrike">
                <a:solidFill>
                  <a:srgbClr val="000000"/>
                </a:solidFill>
                <a:latin typeface="Times New Roman"/>
                <a:ea typeface="Times New Roman"/>
              </a:rPr>
              <a:t>B. Generate software automatically.</a:t>
            </a:r>
            <a:br>
              <a:rPr sz="2800"/>
            </a:br>
            <a:r>
              <a:rPr b="0" lang="en-PH" sz="2800" spc="-1" strike="noStrike">
                <a:solidFill>
                  <a:srgbClr val="000000"/>
                </a:solidFill>
                <a:latin typeface="Times New Roman"/>
                <a:ea typeface="Times New Roman"/>
              </a:rPr>
              <a:t>C. Replace stakeholder interviews.</a:t>
            </a:r>
            <a:br>
              <a:rPr sz="2800"/>
            </a:br>
            <a:r>
              <a:rPr b="0" lang="en-PH" sz="2800" spc="-1" strike="noStrike">
                <a:solidFill>
                  <a:srgbClr val="000000"/>
                </a:solidFill>
                <a:latin typeface="Times New Roman"/>
                <a:ea typeface="Times New Roman"/>
              </a:rPr>
              <a:t>D. Estimate project costs.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11. A requirement states:</a:t>
            </a:r>
            <a:endParaRPr b="0" lang="en-PH" sz="3600" spc="-1" strike="noStrike">
              <a:solidFill>
                <a:srgbClr val="000000"/>
              </a:solidFill>
              <a:latin typeface="Arial"/>
            </a:endParaRPr>
          </a:p>
          <a:p>
            <a:pPr defTabSz="914400">
              <a:lnSpc>
                <a:spcPct val="90000"/>
              </a:lnSpc>
              <a:spcBef>
                <a:spcPts val="1001"/>
              </a:spcBef>
              <a:tabLst>
                <a:tab algn="l" pos="0"/>
              </a:tabLst>
            </a:pPr>
            <a:r>
              <a:rPr b="0" i="1" lang="en-PH" sz="2800" spc="-1" strike="noStrike">
                <a:solidFill>
                  <a:srgbClr val="000000"/>
                </a:solidFill>
                <a:latin typeface="Times New Roman"/>
                <a:ea typeface="Times New Roman"/>
              </a:rPr>
              <a:t>"The website should be user-friendly."</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Why should this requirement be revised before finalization?</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It is unrelated to software requirements.</a:t>
            </a:r>
            <a:br>
              <a:rPr sz="2800"/>
            </a:br>
            <a:r>
              <a:rPr b="0" lang="en-PH" sz="2800" spc="-1" strike="noStrike">
                <a:solidFill>
                  <a:srgbClr val="000000"/>
                </a:solidFill>
                <a:latin typeface="Times New Roman"/>
                <a:ea typeface="Times New Roman"/>
              </a:rPr>
              <a:t>B. It is already measurable.</a:t>
            </a:r>
            <a:br>
              <a:rPr sz="2800"/>
            </a:br>
            <a:r>
              <a:rPr b="0" lang="en-PH" sz="2800" spc="-1" strike="noStrike">
                <a:solidFill>
                  <a:srgbClr val="000000"/>
                </a:solidFill>
                <a:latin typeface="Times New Roman"/>
                <a:ea typeface="Times New Roman"/>
              </a:rPr>
              <a:t>C. It contains technical details.</a:t>
            </a:r>
            <a:br>
              <a:rPr sz="2800"/>
            </a:br>
            <a:r>
              <a:rPr b="0" lang="en-PH" sz="2800" spc="-1" strike="noStrike">
                <a:solidFill>
                  <a:srgbClr val="000000"/>
                </a:solidFill>
                <a:latin typeface="Times New Roman"/>
                <a:ea typeface="Times New Roman"/>
              </a:rPr>
              <a:t>D. It is ambiguous and difficult to verify.</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12. A client continuously changes system requirements after reviewing every prototype. The development team decides to improve the prototype until it becomes the final product.</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prototyping approach best fits this situation?</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Evolutionary Rapid Prototyping</a:t>
            </a:r>
            <a:br>
              <a:rPr sz="2800"/>
            </a:br>
            <a:r>
              <a:rPr b="0" lang="en-PH" sz="2800" spc="-1" strike="noStrike">
                <a:solidFill>
                  <a:srgbClr val="000000"/>
                </a:solidFill>
                <a:latin typeface="Times New Roman"/>
                <a:ea typeface="Times New Roman"/>
              </a:rPr>
              <a:t>B. Data Modeling</a:t>
            </a:r>
            <a:br>
              <a:rPr sz="2800"/>
            </a:br>
            <a:r>
              <a:rPr b="0" lang="en-PH" sz="2800" spc="-1" strike="noStrike">
                <a:solidFill>
                  <a:srgbClr val="000000"/>
                </a:solidFill>
                <a:latin typeface="Times New Roman"/>
                <a:ea typeface="Times New Roman"/>
              </a:rPr>
              <a:t>C. Functional Modeling</a:t>
            </a:r>
            <a:br>
              <a:rPr sz="2800"/>
            </a:br>
            <a:r>
              <a:rPr b="0" lang="en-PH" sz="2800" spc="-1" strike="noStrike">
                <a:solidFill>
                  <a:srgbClr val="000000"/>
                </a:solidFill>
                <a:latin typeface="Times New Roman"/>
                <a:ea typeface="Times New Roman"/>
              </a:rPr>
              <a:t>D. Throwaway Prototyping</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13. An analyst creates a diagram illustrating how customer orders are processed, validated, and shipped.</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type of model is most appropriate?</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Functional Model</a:t>
            </a:r>
            <a:br>
              <a:rPr sz="2800"/>
            </a:br>
            <a:r>
              <a:rPr b="0" lang="en-PH" sz="2800" spc="-1" strike="noStrike">
                <a:solidFill>
                  <a:srgbClr val="000000"/>
                </a:solidFill>
                <a:latin typeface="Times New Roman"/>
                <a:ea typeface="Times New Roman"/>
              </a:rPr>
              <a:t>B. Behavioral Model</a:t>
            </a:r>
            <a:br>
              <a:rPr sz="2800"/>
            </a:br>
            <a:r>
              <a:rPr b="0" lang="en-PH" sz="2800" spc="-1" strike="noStrike">
                <a:solidFill>
                  <a:srgbClr val="000000"/>
                </a:solidFill>
                <a:latin typeface="Times New Roman"/>
                <a:ea typeface="Times New Roman"/>
              </a:rPr>
              <a:t>C. Context Diagram</a:t>
            </a:r>
            <a:br>
              <a:rPr sz="2800"/>
            </a:br>
            <a:r>
              <a:rPr b="0" lang="en-PH" sz="2800" spc="-1" strike="noStrike">
                <a:solidFill>
                  <a:srgbClr val="000000"/>
                </a:solidFill>
                <a:latin typeface="Times New Roman"/>
                <a:ea typeface="Times New Roman"/>
              </a:rPr>
              <a:t>D. Data Model</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fontScale="96666"/>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14. A university wants to develop an Online Library System.</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sequence of activities best reflects a proper requirement analysis process?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 sz="2800" spc="-1" strike="noStrike">
                <a:solidFill>
                  <a:srgbClr val="000000"/>
                </a:solidFill>
                <a:latin typeface="Times New Roman"/>
                <a:ea typeface="Times New Roman"/>
              </a:rPr>
              <a:t>A. Build Database → Finalize Requirements → Prototype → Context 	Diagram.</a:t>
            </a:r>
            <a:endParaRPr b="0" lang="en-PH" sz="2800" spc="-1" strike="noStrike">
              <a:solidFill>
                <a:srgbClr val="000000"/>
              </a:solidFill>
              <a:latin typeface="Arial"/>
            </a:endParaRPr>
          </a:p>
          <a:p>
            <a:pPr defTabSz="914400">
              <a:lnSpc>
                <a:spcPct val="90000"/>
              </a:lnSpc>
              <a:spcBef>
                <a:spcPts val="1001"/>
              </a:spcBef>
              <a:tabLst>
                <a:tab algn="l" pos="0"/>
              </a:tabLst>
            </a:pPr>
            <a:r>
              <a:rPr b="0" lang="en" sz="2800" spc="-1" strike="noStrike">
                <a:solidFill>
                  <a:srgbClr val="000000"/>
                </a:solidFill>
                <a:latin typeface="Times New Roman"/>
                <a:ea typeface="Times New Roman"/>
              </a:rPr>
              <a:t>B. Coding → Prototype → Testing → Documentation.</a:t>
            </a:r>
            <a:endParaRPr b="0" lang="en-PH" sz="2800" spc="-1" strike="noStrike">
              <a:solidFill>
                <a:srgbClr val="000000"/>
              </a:solidFill>
              <a:latin typeface="Arial"/>
            </a:endParaRPr>
          </a:p>
          <a:p>
            <a:pPr defTabSz="914400">
              <a:lnSpc>
                <a:spcPct val="90000"/>
              </a:lnSpc>
              <a:spcBef>
                <a:spcPts val="1001"/>
              </a:spcBef>
              <a:tabLst>
                <a:tab algn="l" pos="0"/>
              </a:tabLst>
            </a:pPr>
            <a:r>
              <a:rPr b="0" lang="en" sz="2800" spc="-1" strike="noStrike">
                <a:solidFill>
                  <a:srgbClr val="000000"/>
                </a:solidFill>
                <a:latin typeface="Times New Roman"/>
                <a:ea typeface="Times New Roman"/>
              </a:rPr>
              <a:t>C. Draw Context Diagram → Develop Prototype → Model 	Requirements → Finalize Requirements.</a:t>
            </a: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D. Finalize Requirements → Build Prototype → Draw Context 	Diagram → Model Requirements.</a:t>
            </a:r>
            <a:endParaRPr b="0" lang="en-PH"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15. Which of the following situations best demonstrates that the requirements are ready to be finalized?</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The development team has completed coding.</a:t>
            </a:r>
            <a:br>
              <a:rPr sz="2800"/>
            </a:br>
            <a:r>
              <a:rPr b="0" lang="en-PH" sz="2800" spc="-1" strike="noStrike">
                <a:solidFill>
                  <a:srgbClr val="000000"/>
                </a:solidFill>
                <a:latin typeface="Times New Roman"/>
                <a:ea typeface="Times New Roman"/>
              </a:rPr>
              <a:t>B. A prototype has been built, but users have not reviewed it.</a:t>
            </a:r>
            <a:br>
              <a:rPr sz="2800"/>
            </a:br>
            <a:r>
              <a:rPr b="0" lang="en-PH" sz="2800" spc="-1" strike="noStrike">
                <a:solidFill>
                  <a:srgbClr val="000000"/>
                </a:solidFill>
                <a:latin typeface="Times New Roman"/>
                <a:ea typeface="Times New Roman"/>
              </a:rPr>
              <a:t>C. The inconsistencies have been resolved, models have been reviewed, and stakeholders agree on the documented requirements.</a:t>
            </a:r>
            <a:br>
              <a:rPr sz="2800"/>
            </a:br>
            <a:r>
              <a:rPr b="0" lang="en-PH" sz="2800" spc="-1" strike="noStrike">
                <a:solidFill>
                  <a:srgbClr val="000000"/>
                </a:solidFill>
                <a:latin typeface="Times New Roman"/>
                <a:ea typeface="Times New Roman"/>
              </a:rPr>
              <a:t>D. Only one stakeholder has approved the requirements.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0" name=""/>
          <p:cNvGraphicFramePr/>
          <p:nvPr/>
        </p:nvGraphicFramePr>
        <p:xfrm>
          <a:off x="1676520" y="121680"/>
          <a:ext cx="3183120" cy="6538320"/>
        </p:xfrm>
        <a:graphic>
          <a:graphicData uri="http://schemas.openxmlformats.org/drawingml/2006/table">
            <a:tbl>
              <a:tblPr/>
              <a:tblGrid>
                <a:gridCol w="1223280"/>
                <a:gridCol w="1960200"/>
              </a:tblGrid>
              <a:tr h="726480">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Item</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Answer</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2</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3</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4</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5</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6</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7</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8</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B</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graphicFrame>
        <p:nvGraphicFramePr>
          <p:cNvPr id="71" name=""/>
          <p:cNvGraphicFramePr/>
          <p:nvPr/>
        </p:nvGraphicFramePr>
        <p:xfrm>
          <a:off x="6408360" y="144360"/>
          <a:ext cx="3131280" cy="4535640"/>
        </p:xfrm>
        <a:graphic>
          <a:graphicData uri="http://schemas.openxmlformats.org/drawingml/2006/table">
            <a:tbl>
              <a:tblPr/>
              <a:tblGrid>
                <a:gridCol w="1203480"/>
                <a:gridCol w="1928160"/>
              </a:tblGrid>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9</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10</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11</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D</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12</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13</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14</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541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15</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en-PH</dc:language>
  <cp:lastModifiedBy/>
  <dcterms:modified xsi:type="dcterms:W3CDTF">2026-07-20T13:01:13Z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16</vt:i4>
  </property>
  <property fmtid="{D5CDD505-2E9C-101B-9397-08002B2CF9AE}" pid="4" name="PresentationFormat">
    <vt:lpwstr>On-screen Show (4:3)</vt:lpwstr>
  </property>
  <property fmtid="{D5CDD505-2E9C-101B-9397-08002B2CF9AE}" pid="5" name="Slides">
    <vt:i4>16</vt:i4>
  </property>
</Properties>
</file>