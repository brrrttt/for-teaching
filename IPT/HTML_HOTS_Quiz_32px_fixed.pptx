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e</a:t>
            </a:r>
            <a:endParaRPr b="0" lang="en-P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CC911D9-57A4-4C6B-BEB6-318E8BB44946}" type="slidenum"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4D49A3-5011-456B-BB36-0886E26B99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A4E356-06D4-4479-A023-4C635D96B4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21D680-67E8-4951-BC68-465C75E0D0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8DA2B6-C1F5-48B8-9906-8CE2B435A5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14E096-F402-4F84-A213-0D4C68747B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5D663A-D6FD-47B0-96CC-306906ECB2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DB1116-95A5-45FF-B3DF-7D25DA4831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AC7299-9649-4605-A2C3-A802EC3685B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032AEA-37A5-4EAA-A7C5-75FD58DEA2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27DDAC-3E0E-4898-8E63-023AB3CA6A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31289F-70C6-473F-A423-DA1BCD1BAF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818488-F306-40C4-977B-8CE3F709AB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5D3B7D-1A34-4BCB-83FF-67F79B1002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BB4DA7-E190-4BD7-BCD9-75E82480FE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A94924-9BEA-429A-B41D-CA9FBE09FF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7BEE34-970E-4E53-8842-BE9240335A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F93679-E50D-473C-BECC-E6298F5D0B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56B118-4C8C-43BB-8D42-7692E45BE4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D2630B-A7FB-43B7-AB74-1902D0A92C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4473CA-8FE6-4695-8655-72113E5364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A34497-70AB-498A-B599-ADF40B798DF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P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P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1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web developer wants users relying on screen readers to still understand an image's content if it fails to load. Which attribute best fulfills this requirement, and why?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src — because it defines where the image file is located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title — because it provides a tooltip when hovering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alt — because it provides alternate text for accessibility and when the image cannot be displayed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style — because it can be used to hide broken images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2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1325880" y="713160"/>
            <a:ext cx="103316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5000"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student writes: &lt;!DOCTYPE html&gt;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&lt;HTML&gt;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&lt;Head&gt;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&lt;Title&gt;My Page&lt;/Title&gt;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&lt;/Head&gt;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&lt;BODY&gt;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&lt;H1&gt;Welcome&lt;/H1&gt;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&lt;/BODY&gt;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&lt;/HTML&gt;. 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Will this code render correctly in a browser? Why?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540000" y="4063680"/>
            <a:ext cx="5409000" cy="127980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6"/>
          <p:cNvSpPr/>
          <p:nvPr/>
        </p:nvSpPr>
        <p:spPr>
          <a:xfrm>
            <a:off x="605160" y="412884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605160" y="40917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1496880" y="4063680"/>
            <a:ext cx="4452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Yes, because HTML tags are not case-sensitive, so mixing cases does not affect rendering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" name=""/>
          <p:cNvGrpSpPr/>
          <p:nvPr/>
        </p:nvGrpSpPr>
        <p:grpSpPr>
          <a:xfrm>
            <a:off x="6233040" y="4063680"/>
            <a:ext cx="5409000" cy="1279800"/>
            <a:chOff x="6233040" y="4063680"/>
            <a:chExt cx="5409000" cy="1279800"/>
          </a:xfrm>
        </p:grpSpPr>
        <p:sp>
          <p:nvSpPr>
            <p:cNvPr id="39" name="Shape 9"/>
            <p:cNvSpPr/>
            <p:nvPr/>
          </p:nvSpPr>
          <p:spPr>
            <a:xfrm>
              <a:off x="6233040" y="4063680"/>
              <a:ext cx="5409000" cy="1279800"/>
            </a:xfrm>
            <a:prstGeom prst="roundRect">
              <a:avLst>
                <a:gd name="adj" fmla="val 4337"/>
              </a:avLst>
            </a:prstGeom>
            <a:solidFill>
              <a:srgbClr val="e2f6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PH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Text 12"/>
            <p:cNvSpPr/>
            <p:nvPr/>
          </p:nvSpPr>
          <p:spPr>
            <a:xfrm>
              <a:off x="7189920" y="4063680"/>
              <a:ext cx="4452120" cy="127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rmAutofit/>
            </a:bodyPr>
            <a:p>
              <a:pPr defTabSz="914400">
                <a:lnSpc>
                  <a:spcPct val="108000"/>
                </a:lnSpc>
                <a:tabLst>
                  <a:tab algn="l" pos="0"/>
                </a:tabLst>
              </a:pPr>
              <a:r>
                <a:rPr b="0" lang="en-US" sz="2400" spc="-1" strike="noStrike">
                  <a:solidFill>
                    <a:srgbClr val="1f2937"/>
                  </a:solidFill>
                  <a:latin typeface="Calibri"/>
                  <a:ea typeface="Calibri"/>
                </a:rPr>
                <a:t>No, because the DOCTYPE must match the case of the html tag</a:t>
              </a:r>
              <a:endParaRPr b="0" lang="en-PH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1" name="Shape 13"/>
          <p:cNvSpPr/>
          <p:nvPr/>
        </p:nvSpPr>
        <p:spPr>
          <a:xfrm>
            <a:off x="540000" y="5443560"/>
            <a:ext cx="5409000" cy="127980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" name=""/>
          <p:cNvGrpSpPr/>
          <p:nvPr/>
        </p:nvGrpSpPr>
        <p:grpSpPr>
          <a:xfrm>
            <a:off x="605160" y="5508720"/>
            <a:ext cx="474480" cy="474480"/>
            <a:chOff x="605160" y="5508720"/>
            <a:chExt cx="474480" cy="474480"/>
          </a:xfrm>
        </p:grpSpPr>
        <p:sp>
          <p:nvSpPr>
            <p:cNvPr id="43" name="Shape 14"/>
            <p:cNvSpPr/>
            <p:nvPr/>
          </p:nvSpPr>
          <p:spPr>
            <a:xfrm>
              <a:off x="605160" y="5508720"/>
              <a:ext cx="474480" cy="474480"/>
            </a:xfrm>
            <a:prstGeom prst="ellipse">
              <a:avLst/>
            </a:prstGeom>
            <a:solidFill>
              <a:srgbClr val="f973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PH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" name="Text 15"/>
            <p:cNvSpPr/>
            <p:nvPr/>
          </p:nvSpPr>
          <p:spPr>
            <a:xfrm>
              <a:off x="605160" y="5508720"/>
              <a:ext cx="474480" cy="47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ffffff"/>
                  </a:solidFill>
                  <a:latin typeface="Calibri"/>
                  <a:ea typeface="Calibri"/>
                </a:rPr>
                <a:t>C</a:t>
              </a:r>
              <a:endParaRPr b="0" lang="en-PH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5" name="Text 16"/>
          <p:cNvSpPr/>
          <p:nvPr/>
        </p:nvSpPr>
        <p:spPr>
          <a:xfrm>
            <a:off x="1496880" y="5443560"/>
            <a:ext cx="4452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No, because tags must always be written in lowercase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7"/>
          <p:cNvSpPr/>
          <p:nvPr/>
        </p:nvSpPr>
        <p:spPr>
          <a:xfrm>
            <a:off x="6233040" y="5443560"/>
            <a:ext cx="5409000" cy="127980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6298200" y="550872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6298200" y="550872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7189920" y="5443560"/>
            <a:ext cx="4452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Yes, but only if the file is saved with a .HTML extension instead of .html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6298200" y="412884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6298200" y="409284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3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Analyze this code: &lt;img src="photo.jpg"&gt;. What problem would a quality reviewer most likely flag, and why?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image will not display because src alone cannot load images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tag is invalid because &lt;img&gt; requires a separate closing tag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path is wrong because src must always be an absolute URL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It is missing an alt attribute, which could hurt accessibility and SEO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4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developer writes src="https://example.com/logo.png" instead of a relative path like src="logo.png". What is a key trade-off of this choice?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Absolute URLs always load faster than relative URLs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Absolute URLs depend on the external site staying online and unchanged, while relative URLs keep the image under the developer's own control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Relative URLs cannot be used for images, only for links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Absolute URLs are required in all HTML5 documents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5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Which situation best demonstrates the correct use of an empty HTML element?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&lt;br&gt; used to force a line break inside a paragraph, without any closing tag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&lt;p&gt;Text&lt;/p&gt; used without an opening tag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&lt;h1&gt;Heading&lt;/h1&gt;&lt;h1&gt; used twice for a single heading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&lt;a href="page.html"&gt;&lt;/a&gt; used without any visible link text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6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designer wants a tooltip to appear when a user hovers over a paragraph, without changing how the paragraph looks. Which attribute should be used?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style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alt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title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href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7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Compare two approaches: (1) &lt;p style="color:red;"&gt;Warning&lt;/p&gt; and (2) &lt;p class="warning"&gt;Warning&lt;/p&gt; with the color defined in an external CSS file. From a maintainability standpoint, which is generally better practice for a large website, and why?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Approach 1, because inline styles load faster than external CSS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Approach 2, because separating styling from content makes the site easier to update and maintain across many pages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Approach 1, because it doesn't require creating a separate file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Both are equally maintainable since they rely on the same kind of attribute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8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An &lt;img&gt; tag is missing its width and height attributes. What is the most likely consequence when the page loads?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browser will refuse to display the image at all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image will automatically resize to fit the entire screen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alt text will permanently replace the image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layout may shift, since the browser doesn't reserve space for the image until it fully loads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9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9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new developer omits the &lt;!DOCTYPE html&gt; declaration at the top of an HTML file. What is the most likely effect on the webpage?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webpage will fail to load entirely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&lt;html&gt; tag will automatically insert the missing declaration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browser may render the page in "quirks mode," potentially displaying it inconsistently across browsers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entire &lt;head&gt; section will be ignored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10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Which example correctly demonstrates the relationship between a start tag, its content, and an end tag?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&lt;h1&gt;My First Heading&lt;/h1&gt;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&lt;h1&gt;&lt;h1&gt;My First Heading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&lt;/h1&gt;My First Heading&lt;h1&gt;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&lt;h1/&gt;My First Heading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11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11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student claims: "The head element is where all the visible content of a webpage goes." Evaluate this claim.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True, because the head element always appears at the top of the visible page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True, because the head element contains the main heading tag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False, because visible content actually belongs inside the title tag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False, because the head element holds meta information about the page, while visible content belongs inside the body element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12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12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link is written as &lt;a href="contact.html"&gt;Contact Us&lt;/a&gt;. What does the href attribute specifically control?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text style of the link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destination URL the link navigates to when clicked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tooltip text shown on hover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Whether the link opens in a new browser tab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13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13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company's "About" page is located at www.company.com/about.html and uses one of two image paths: (1) src="/images/team.jpg" or (2) src="images/team.jpg". If the page is later moved to www.company.com/company/about.html, which path is more likely to still correctly load the image, and why?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Path 1, because a URL starting with a slash is relative to the domain root, not to the current page's folder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Path 2, because relative paths always adjust automatically no matter where the page is moved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Both will fail equally, since only fully absolute URLs are reliable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Path 1 will fail, because slashes are not allowed at the start of a src value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14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14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developer wants a paragraph to show a hover tooltip labeling it as a warning, while also displaying it in red text. Which combination of attributes should be used together?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alt and href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src and width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title and style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href and alt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15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15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Why is the alt attribute often described as essentially required for the &lt;img&gt; tag, from a web accessibility standpoint?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It is required by the browser in order to load the image file correctly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It determines the physical size of the image on the page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It allows the image to be styled using CSS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It ensures users relying on screen readers, or those with slow connections or broken image links, can still understand the image's purpose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16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16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page includes both &lt;P&gt;Hello&lt;/P&gt; and &lt;p&gt;World&lt;/p&gt;. What can you conclude about how a browser will treat these two elements?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browser will throw an error, since the tag cases don't match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Both will be treated identically, since HTML tags are not case sensitive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Only the lowercase &lt;p&gt; will render; the uppercase &lt;P&gt; will be ignored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uppercase &lt;P&gt; will be treated as a separate, custom element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17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17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If a developer forgets to close the &lt;head&gt; tag before starting &lt;body&gt;, what type of problem is most likely to occur?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webpage will simply fail to be assigned a title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The &lt;!DOCTYPE&gt; declaration will become invalid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Content meant for the body may be misinterpreted as part of the head, causing rendering issues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All images on the page will automatically fail to load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18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18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Which sequence correctly reflects proper HTML document structure, from first to last?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&lt;!DOCTYPE html&gt; then &lt;html&gt; then &lt;head&gt; then &lt;body&gt;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&lt;html&gt; then &lt;!DOCTYPE html&gt; then &lt;body&gt; then &lt;head&gt;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&lt;head&gt; then &lt;!DOCTYPE html&gt; then &lt;html&gt; then &lt;body&gt;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&lt;body&gt; then &lt;head&gt; then &lt;html&gt; then &lt;!DOCTYPE html&gt;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19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19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developer wants an image to act as a clickable link to another page. Which approach correctly achieves this?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Adding alt="link" to the &lt;img&gt; tag, since alt makes images clickable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Wrapping the &lt;img&gt; tag inside an &lt;a href="..."&gt; tag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Adding an href attribute directly onto the &lt;img&gt; tag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Using the title attribute on the &lt;img&gt; tag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 0"/>
          <p:cNvSpPr/>
          <p:nvPr/>
        </p:nvSpPr>
        <p:spPr>
          <a:xfrm>
            <a:off x="548640" y="320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QUESTION 20 OF 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"/>
          <p:cNvSpPr/>
          <p:nvPr/>
        </p:nvSpPr>
        <p:spPr>
          <a:xfrm>
            <a:off x="7772400" y="32004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92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2"/>
          <p:cNvSpPr/>
          <p:nvPr/>
        </p:nvSpPr>
        <p:spPr>
          <a:xfrm>
            <a:off x="548640" y="777240"/>
            <a:ext cx="565920" cy="565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3"/>
          <p:cNvSpPr/>
          <p:nvPr/>
        </p:nvSpPr>
        <p:spPr>
          <a:xfrm>
            <a:off x="548640" y="77724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20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4"/>
          <p:cNvSpPr/>
          <p:nvPr/>
        </p:nvSpPr>
        <p:spPr>
          <a:xfrm>
            <a:off x="1325880" y="713160"/>
            <a:ext cx="1033164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A quality reviewer inspects this code: &lt;img src="banner.jpg" width="500" height="200" alt="Company banner" style="border:1px solid black;"&gt;. What can be concluded about it from a best-practices standpoint?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5"/>
          <p:cNvSpPr/>
          <p:nvPr/>
        </p:nvSpPr>
        <p:spPr>
          <a:xfrm>
            <a:off x="5486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6"/>
          <p:cNvSpPr/>
          <p:nvPr/>
        </p:nvSpPr>
        <p:spPr>
          <a:xfrm>
            <a:off x="749880" y="2532960"/>
            <a:ext cx="474480" cy="47448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7"/>
          <p:cNvSpPr/>
          <p:nvPr/>
        </p:nvSpPr>
        <p:spPr>
          <a:xfrm>
            <a:off x="7498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8"/>
          <p:cNvSpPr/>
          <p:nvPr/>
        </p:nvSpPr>
        <p:spPr>
          <a:xfrm>
            <a:off x="13899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It is poorly written because it uses too many attributes at once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9"/>
          <p:cNvSpPr/>
          <p:nvPr/>
        </p:nvSpPr>
        <p:spPr>
          <a:xfrm>
            <a:off x="6233040" y="233172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10"/>
          <p:cNvSpPr/>
          <p:nvPr/>
        </p:nvSpPr>
        <p:spPr>
          <a:xfrm>
            <a:off x="6434280" y="2532960"/>
            <a:ext cx="474480" cy="4744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11"/>
          <p:cNvSpPr/>
          <p:nvPr/>
        </p:nvSpPr>
        <p:spPr>
          <a:xfrm>
            <a:off x="6434280" y="253296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12"/>
          <p:cNvSpPr/>
          <p:nvPr/>
        </p:nvSpPr>
        <p:spPr>
          <a:xfrm>
            <a:off x="7074360" y="249624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It will fail to render because src and style cannot be used on the same element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13"/>
          <p:cNvSpPr/>
          <p:nvPr/>
        </p:nvSpPr>
        <p:spPr>
          <a:xfrm>
            <a:off x="5486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14"/>
          <p:cNvSpPr/>
          <p:nvPr/>
        </p:nvSpPr>
        <p:spPr>
          <a:xfrm>
            <a:off x="749880" y="4704480"/>
            <a:ext cx="474480" cy="47448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15"/>
          <p:cNvSpPr/>
          <p:nvPr/>
        </p:nvSpPr>
        <p:spPr>
          <a:xfrm>
            <a:off x="7498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16"/>
          <p:cNvSpPr/>
          <p:nvPr/>
        </p:nvSpPr>
        <p:spPr>
          <a:xfrm>
            <a:off x="13899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It violates accessibility rules because alt should never be paired with style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17"/>
          <p:cNvSpPr/>
          <p:nvPr/>
        </p:nvSpPr>
        <p:spPr>
          <a:xfrm>
            <a:off x="6233040" y="4503600"/>
            <a:ext cx="5409000" cy="189648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18"/>
          <p:cNvSpPr/>
          <p:nvPr/>
        </p:nvSpPr>
        <p:spPr>
          <a:xfrm>
            <a:off x="6434280" y="4704480"/>
            <a:ext cx="474480" cy="4744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19"/>
          <p:cNvSpPr/>
          <p:nvPr/>
        </p:nvSpPr>
        <p:spPr>
          <a:xfrm>
            <a:off x="6434280" y="4704480"/>
            <a:ext cx="474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20"/>
          <p:cNvSpPr/>
          <p:nvPr/>
        </p:nvSpPr>
        <p:spPr>
          <a:xfrm>
            <a:off x="7074360" y="4668120"/>
            <a:ext cx="433908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f2937"/>
                </a:solidFill>
                <a:latin typeface="Calibri"/>
                <a:ea typeface="Calibri"/>
              </a:rPr>
              <a:t>It follows good practice by combining src, sizing attributes, alt text for accessibility, and style for visual presentation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ext 0"/>
          <p:cNvSpPr/>
          <p:nvPr/>
        </p:nvSpPr>
        <p:spPr>
          <a:xfrm>
            <a:off x="548640" y="457200"/>
            <a:ext cx="110631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ANSWER KEY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548640" y="1051560"/>
            <a:ext cx="1106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afc2e8"/>
                </a:solidFill>
                <a:latin typeface="Calibri"/>
                <a:ea typeface="Calibri"/>
              </a:rPr>
              <a:t>The correct answer for each question is evenly split — 5 A, 5 B, 5 C, 5 D.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2"/>
          <p:cNvSpPr/>
          <p:nvPr/>
        </p:nvSpPr>
        <p:spPr>
          <a:xfrm>
            <a:off x="548640" y="155448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3"/>
          <p:cNvSpPr/>
          <p:nvPr/>
        </p:nvSpPr>
        <p:spPr>
          <a:xfrm>
            <a:off x="713160" y="164592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Q1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4"/>
          <p:cNvSpPr/>
          <p:nvPr/>
        </p:nvSpPr>
        <p:spPr>
          <a:xfrm>
            <a:off x="2679120" y="1774080"/>
            <a:ext cx="383040" cy="3830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5"/>
          <p:cNvSpPr/>
          <p:nvPr/>
        </p:nvSpPr>
        <p:spPr>
          <a:xfrm>
            <a:off x="2679120" y="177408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6"/>
          <p:cNvSpPr/>
          <p:nvPr/>
        </p:nvSpPr>
        <p:spPr>
          <a:xfrm>
            <a:off x="548640" y="243216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7"/>
          <p:cNvSpPr/>
          <p:nvPr/>
        </p:nvSpPr>
        <p:spPr>
          <a:xfrm>
            <a:off x="713160" y="252360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Q2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8"/>
          <p:cNvSpPr/>
          <p:nvPr/>
        </p:nvSpPr>
        <p:spPr>
          <a:xfrm>
            <a:off x="2679120" y="2651760"/>
            <a:ext cx="383040" cy="3830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9"/>
          <p:cNvSpPr/>
          <p:nvPr/>
        </p:nvSpPr>
        <p:spPr>
          <a:xfrm>
            <a:off x="2679120" y="26517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Shape 10"/>
          <p:cNvSpPr/>
          <p:nvPr/>
        </p:nvSpPr>
        <p:spPr>
          <a:xfrm>
            <a:off x="548640" y="331020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11"/>
          <p:cNvSpPr/>
          <p:nvPr/>
        </p:nvSpPr>
        <p:spPr>
          <a:xfrm>
            <a:off x="713160" y="340164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Q3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12"/>
          <p:cNvSpPr/>
          <p:nvPr/>
        </p:nvSpPr>
        <p:spPr>
          <a:xfrm>
            <a:off x="2679120" y="3529440"/>
            <a:ext cx="383040" cy="3830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13"/>
          <p:cNvSpPr/>
          <p:nvPr/>
        </p:nvSpPr>
        <p:spPr>
          <a:xfrm>
            <a:off x="2679120" y="352944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Shape 14"/>
          <p:cNvSpPr/>
          <p:nvPr/>
        </p:nvSpPr>
        <p:spPr>
          <a:xfrm>
            <a:off x="548640" y="418788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15"/>
          <p:cNvSpPr/>
          <p:nvPr/>
        </p:nvSpPr>
        <p:spPr>
          <a:xfrm>
            <a:off x="713160" y="427932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Q4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16"/>
          <p:cNvSpPr/>
          <p:nvPr/>
        </p:nvSpPr>
        <p:spPr>
          <a:xfrm>
            <a:off x="2679120" y="4407480"/>
            <a:ext cx="383040" cy="3830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17"/>
          <p:cNvSpPr/>
          <p:nvPr/>
        </p:nvSpPr>
        <p:spPr>
          <a:xfrm>
            <a:off x="2679120" y="440748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18"/>
          <p:cNvSpPr/>
          <p:nvPr/>
        </p:nvSpPr>
        <p:spPr>
          <a:xfrm>
            <a:off x="548640" y="506592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19"/>
          <p:cNvSpPr/>
          <p:nvPr/>
        </p:nvSpPr>
        <p:spPr>
          <a:xfrm>
            <a:off x="713160" y="515736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Q5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20"/>
          <p:cNvSpPr/>
          <p:nvPr/>
        </p:nvSpPr>
        <p:spPr>
          <a:xfrm>
            <a:off x="2679120" y="5285160"/>
            <a:ext cx="383040" cy="3830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21"/>
          <p:cNvSpPr/>
          <p:nvPr/>
        </p:nvSpPr>
        <p:spPr>
          <a:xfrm>
            <a:off x="2679120" y="52851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Shape 22"/>
          <p:cNvSpPr/>
          <p:nvPr/>
        </p:nvSpPr>
        <p:spPr>
          <a:xfrm>
            <a:off x="3410640" y="155448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23"/>
          <p:cNvSpPr/>
          <p:nvPr/>
        </p:nvSpPr>
        <p:spPr>
          <a:xfrm>
            <a:off x="3575160" y="164592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Q6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24"/>
          <p:cNvSpPr/>
          <p:nvPr/>
        </p:nvSpPr>
        <p:spPr>
          <a:xfrm>
            <a:off x="5541120" y="1774080"/>
            <a:ext cx="383040" cy="3830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25"/>
          <p:cNvSpPr/>
          <p:nvPr/>
        </p:nvSpPr>
        <p:spPr>
          <a:xfrm>
            <a:off x="5541120" y="177408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26"/>
          <p:cNvSpPr/>
          <p:nvPr/>
        </p:nvSpPr>
        <p:spPr>
          <a:xfrm>
            <a:off x="3410640" y="243216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27"/>
          <p:cNvSpPr/>
          <p:nvPr/>
        </p:nvSpPr>
        <p:spPr>
          <a:xfrm>
            <a:off x="3575160" y="252360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Q7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Shape 28"/>
          <p:cNvSpPr/>
          <p:nvPr/>
        </p:nvSpPr>
        <p:spPr>
          <a:xfrm>
            <a:off x="5541120" y="2651760"/>
            <a:ext cx="383040" cy="3830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29"/>
          <p:cNvSpPr/>
          <p:nvPr/>
        </p:nvSpPr>
        <p:spPr>
          <a:xfrm>
            <a:off x="5541120" y="26517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Shape 30"/>
          <p:cNvSpPr/>
          <p:nvPr/>
        </p:nvSpPr>
        <p:spPr>
          <a:xfrm>
            <a:off x="3410640" y="331020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31"/>
          <p:cNvSpPr/>
          <p:nvPr/>
        </p:nvSpPr>
        <p:spPr>
          <a:xfrm>
            <a:off x="3575160" y="340164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Q8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32"/>
          <p:cNvSpPr/>
          <p:nvPr/>
        </p:nvSpPr>
        <p:spPr>
          <a:xfrm>
            <a:off x="5541120" y="3529440"/>
            <a:ext cx="383040" cy="3830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33"/>
          <p:cNvSpPr/>
          <p:nvPr/>
        </p:nvSpPr>
        <p:spPr>
          <a:xfrm>
            <a:off x="5541120" y="352944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Shape 34"/>
          <p:cNvSpPr/>
          <p:nvPr/>
        </p:nvSpPr>
        <p:spPr>
          <a:xfrm>
            <a:off x="3410640" y="418788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35"/>
          <p:cNvSpPr/>
          <p:nvPr/>
        </p:nvSpPr>
        <p:spPr>
          <a:xfrm>
            <a:off x="3575160" y="427932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Q9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36"/>
          <p:cNvSpPr/>
          <p:nvPr/>
        </p:nvSpPr>
        <p:spPr>
          <a:xfrm>
            <a:off x="5541120" y="4407480"/>
            <a:ext cx="383040" cy="3830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37"/>
          <p:cNvSpPr/>
          <p:nvPr/>
        </p:nvSpPr>
        <p:spPr>
          <a:xfrm>
            <a:off x="5541120" y="440748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38"/>
          <p:cNvSpPr/>
          <p:nvPr/>
        </p:nvSpPr>
        <p:spPr>
          <a:xfrm>
            <a:off x="3410640" y="506592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39"/>
          <p:cNvSpPr/>
          <p:nvPr/>
        </p:nvSpPr>
        <p:spPr>
          <a:xfrm>
            <a:off x="3575160" y="515736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Q10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40"/>
          <p:cNvSpPr/>
          <p:nvPr/>
        </p:nvSpPr>
        <p:spPr>
          <a:xfrm>
            <a:off x="5541120" y="5285160"/>
            <a:ext cx="383040" cy="3830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41"/>
          <p:cNvSpPr/>
          <p:nvPr/>
        </p:nvSpPr>
        <p:spPr>
          <a:xfrm>
            <a:off x="5541120" y="52851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42"/>
          <p:cNvSpPr/>
          <p:nvPr/>
        </p:nvSpPr>
        <p:spPr>
          <a:xfrm>
            <a:off x="6272640" y="155448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43"/>
          <p:cNvSpPr/>
          <p:nvPr/>
        </p:nvSpPr>
        <p:spPr>
          <a:xfrm>
            <a:off x="6437520" y="164592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Q11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44"/>
          <p:cNvSpPr/>
          <p:nvPr/>
        </p:nvSpPr>
        <p:spPr>
          <a:xfrm>
            <a:off x="8403480" y="1774080"/>
            <a:ext cx="383040" cy="3830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45"/>
          <p:cNvSpPr/>
          <p:nvPr/>
        </p:nvSpPr>
        <p:spPr>
          <a:xfrm>
            <a:off x="8403480" y="177408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46"/>
          <p:cNvSpPr/>
          <p:nvPr/>
        </p:nvSpPr>
        <p:spPr>
          <a:xfrm>
            <a:off x="6272640" y="243216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47"/>
          <p:cNvSpPr/>
          <p:nvPr/>
        </p:nvSpPr>
        <p:spPr>
          <a:xfrm>
            <a:off x="6437520" y="252360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Q12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48"/>
          <p:cNvSpPr/>
          <p:nvPr/>
        </p:nvSpPr>
        <p:spPr>
          <a:xfrm>
            <a:off x="8403480" y="2651760"/>
            <a:ext cx="383040" cy="3830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49"/>
          <p:cNvSpPr/>
          <p:nvPr/>
        </p:nvSpPr>
        <p:spPr>
          <a:xfrm>
            <a:off x="8403480" y="26517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Shape 50"/>
          <p:cNvSpPr/>
          <p:nvPr/>
        </p:nvSpPr>
        <p:spPr>
          <a:xfrm>
            <a:off x="6272640" y="331020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51"/>
          <p:cNvSpPr/>
          <p:nvPr/>
        </p:nvSpPr>
        <p:spPr>
          <a:xfrm>
            <a:off x="6437520" y="340164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Q13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52"/>
          <p:cNvSpPr/>
          <p:nvPr/>
        </p:nvSpPr>
        <p:spPr>
          <a:xfrm>
            <a:off x="8403480" y="3529440"/>
            <a:ext cx="383040" cy="3830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53"/>
          <p:cNvSpPr/>
          <p:nvPr/>
        </p:nvSpPr>
        <p:spPr>
          <a:xfrm>
            <a:off x="8403480" y="352944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Shape 54"/>
          <p:cNvSpPr/>
          <p:nvPr/>
        </p:nvSpPr>
        <p:spPr>
          <a:xfrm>
            <a:off x="6272640" y="418788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55"/>
          <p:cNvSpPr/>
          <p:nvPr/>
        </p:nvSpPr>
        <p:spPr>
          <a:xfrm>
            <a:off x="6437520" y="427932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Q14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56"/>
          <p:cNvSpPr/>
          <p:nvPr/>
        </p:nvSpPr>
        <p:spPr>
          <a:xfrm>
            <a:off x="8403480" y="4407480"/>
            <a:ext cx="383040" cy="3830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57"/>
          <p:cNvSpPr/>
          <p:nvPr/>
        </p:nvSpPr>
        <p:spPr>
          <a:xfrm>
            <a:off x="8403480" y="440748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Shape 58"/>
          <p:cNvSpPr/>
          <p:nvPr/>
        </p:nvSpPr>
        <p:spPr>
          <a:xfrm>
            <a:off x="6272640" y="506592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59"/>
          <p:cNvSpPr/>
          <p:nvPr/>
        </p:nvSpPr>
        <p:spPr>
          <a:xfrm>
            <a:off x="6437520" y="515736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Q15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60"/>
          <p:cNvSpPr/>
          <p:nvPr/>
        </p:nvSpPr>
        <p:spPr>
          <a:xfrm>
            <a:off x="8403480" y="5285160"/>
            <a:ext cx="383040" cy="3830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61"/>
          <p:cNvSpPr/>
          <p:nvPr/>
        </p:nvSpPr>
        <p:spPr>
          <a:xfrm>
            <a:off x="8403480" y="52851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Shape 62"/>
          <p:cNvSpPr/>
          <p:nvPr/>
        </p:nvSpPr>
        <p:spPr>
          <a:xfrm>
            <a:off x="9135000" y="155448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63"/>
          <p:cNvSpPr/>
          <p:nvPr/>
        </p:nvSpPr>
        <p:spPr>
          <a:xfrm>
            <a:off x="9299520" y="164592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Q16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64"/>
          <p:cNvSpPr/>
          <p:nvPr/>
        </p:nvSpPr>
        <p:spPr>
          <a:xfrm>
            <a:off x="11265480" y="1774080"/>
            <a:ext cx="383040" cy="3830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65"/>
          <p:cNvSpPr/>
          <p:nvPr/>
        </p:nvSpPr>
        <p:spPr>
          <a:xfrm>
            <a:off x="11265480" y="177408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66"/>
          <p:cNvSpPr/>
          <p:nvPr/>
        </p:nvSpPr>
        <p:spPr>
          <a:xfrm>
            <a:off x="9135000" y="243216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67"/>
          <p:cNvSpPr/>
          <p:nvPr/>
        </p:nvSpPr>
        <p:spPr>
          <a:xfrm>
            <a:off x="9299520" y="252360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Q17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68"/>
          <p:cNvSpPr/>
          <p:nvPr/>
        </p:nvSpPr>
        <p:spPr>
          <a:xfrm>
            <a:off x="11265480" y="2651760"/>
            <a:ext cx="383040" cy="3830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69"/>
          <p:cNvSpPr/>
          <p:nvPr/>
        </p:nvSpPr>
        <p:spPr>
          <a:xfrm>
            <a:off x="11265480" y="26517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Shape 70"/>
          <p:cNvSpPr/>
          <p:nvPr/>
        </p:nvSpPr>
        <p:spPr>
          <a:xfrm>
            <a:off x="9135000" y="331020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71"/>
          <p:cNvSpPr/>
          <p:nvPr/>
        </p:nvSpPr>
        <p:spPr>
          <a:xfrm>
            <a:off x="9299520" y="340164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Q18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Shape 72"/>
          <p:cNvSpPr/>
          <p:nvPr/>
        </p:nvSpPr>
        <p:spPr>
          <a:xfrm>
            <a:off x="11265480" y="3529440"/>
            <a:ext cx="383040" cy="3830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73"/>
          <p:cNvSpPr/>
          <p:nvPr/>
        </p:nvSpPr>
        <p:spPr>
          <a:xfrm>
            <a:off x="11265480" y="352944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Shape 74"/>
          <p:cNvSpPr/>
          <p:nvPr/>
        </p:nvSpPr>
        <p:spPr>
          <a:xfrm>
            <a:off x="9135000" y="418788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75"/>
          <p:cNvSpPr/>
          <p:nvPr/>
        </p:nvSpPr>
        <p:spPr>
          <a:xfrm>
            <a:off x="9299520" y="427932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Q19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Shape 76"/>
          <p:cNvSpPr/>
          <p:nvPr/>
        </p:nvSpPr>
        <p:spPr>
          <a:xfrm>
            <a:off x="11265480" y="4407480"/>
            <a:ext cx="383040" cy="3830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77"/>
          <p:cNvSpPr/>
          <p:nvPr/>
        </p:nvSpPr>
        <p:spPr>
          <a:xfrm>
            <a:off x="11265480" y="440748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Shape 78"/>
          <p:cNvSpPr/>
          <p:nvPr/>
        </p:nvSpPr>
        <p:spPr>
          <a:xfrm>
            <a:off x="9135000" y="5065920"/>
            <a:ext cx="2696400" cy="74880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79"/>
          <p:cNvSpPr/>
          <p:nvPr/>
        </p:nvSpPr>
        <p:spPr>
          <a:xfrm>
            <a:off x="9299520" y="5157360"/>
            <a:ext cx="2367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9fb0d8"/>
                </a:solidFill>
                <a:latin typeface="Calibri"/>
                <a:ea typeface="Calibri"/>
              </a:rPr>
              <a:t>Q20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80"/>
          <p:cNvSpPr/>
          <p:nvPr/>
        </p:nvSpPr>
        <p:spPr>
          <a:xfrm>
            <a:off x="11265480" y="5285160"/>
            <a:ext cx="383040" cy="3830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81"/>
          <p:cNvSpPr/>
          <p:nvPr/>
        </p:nvSpPr>
        <p:spPr>
          <a:xfrm>
            <a:off x="11265480" y="528516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82"/>
          <p:cNvSpPr/>
          <p:nvPr/>
        </p:nvSpPr>
        <p:spPr>
          <a:xfrm>
            <a:off x="548640" y="6035040"/>
            <a:ext cx="1106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afc2e8"/>
                </a:solidFill>
                <a:latin typeface="Calibri"/>
                <a:ea typeface="Calibri"/>
              </a:rPr>
              <a:t>A = 5    B = 5    C = 5    D = 5</a:t>
            </a:r>
            <a:endParaRPr b="0" lang="en-PH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2026-07-16T23:41:23Z</dcterms:created>
  <dc:creator>PptxGenJS</dc:creator>
  <dc:description/>
  <dc:language>en-PH</dc:language>
  <cp:lastModifiedBy/>
  <dcterms:modified xsi:type="dcterms:W3CDTF">2026-08-05T16:05:15Z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(16:9)</vt:lpwstr>
  </property>
  <property fmtid="{D5CDD505-2E9C-101B-9397-08002B2CF9AE}" pid="4" name="Slides">
    <vt:i4>22</vt:i4>
  </property>
</Properties>
</file>