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P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PH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PH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6978B0-2447-4B0A-84CD-927ACCAF50BB}" type="slidenum">
              <a:rPr lang="en-PH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PH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D6995D5-C045-4B9F-AD00-3D4B9C3237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D7098D-C899-4FC9-828E-79DDE0053A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F24CE03-BDA9-4584-B15E-69021264B5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DDA05F-AB90-4553-BE9D-E9F1DD6C28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5195C5-87F0-4F04-9D56-09494635AA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0D9313-D69C-4664-BFC3-BB348F403E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4B6406-4C22-4BB6-A634-6E7EB03D98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A32F06-9F8B-4484-BC3E-6EFBFA9271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74F24D-1E80-49D1-9E81-8C78C56F5D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D4848A-8E61-485E-A32D-E881B487C8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A7E2749-3568-4E0D-8131-A3F947DEB3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914317-02D1-4158-B2D5-5B2E117905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4484181-42FD-4BA7-9D08-EF53659AA2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76EFC56-4B46-49B9-BAC6-13F275DBE4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1C2CAD2-F8BC-495D-869C-FF445FE532E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FBA091-2B95-4624-9F50-8474789183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2D08A99-C2A8-4DB7-A502-12B6EE5759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3BB1E55-14DB-4D63-8F42-6110B2D4DF2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9D291C-6CB8-4F7B-956A-2630278A9B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PH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PH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PH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PH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PH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PH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PH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PH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PH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PH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PH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PH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PH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PH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PH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PH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COMMON SYNTAXES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Syntax Essentials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1417320"/>
            <a:ext cx="57600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Statements need no semicolons (optional, rarely used)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Indentation (usually 4 spaces) defines code blocks, not curly braces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 colon ( : ) starts a block after if, for, def, etc.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Comments: # for one line; ''' or """ for multi-line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Case-sensitive: Name and name are different identifiers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583680" y="1463040"/>
            <a:ext cx="5028480" cy="2651040"/>
          </a:xfrm>
          <a:prstGeom prst="roundRect">
            <a:avLst>
              <a:gd name="adj" fmla="val 3448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812280" y="1645920"/>
            <a:ext cx="45712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This is a comment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name = "Albert"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print(name)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if True: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    print("indented block")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6583680" y="4389120"/>
            <a:ext cx="5028480" cy="109656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6583680" y="4389120"/>
            <a:ext cx="81720" cy="10965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858000" y="4389120"/>
            <a:ext cx="4571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Mixing tabs and spaces or inconsistent indentation inside a block is a syntax error.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COMMON SYNTAXES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Syntax: Right vs Wrong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2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6" name="Table 0"/>
          <p:cNvGraphicFramePr/>
          <p:nvPr/>
        </p:nvGraphicFramePr>
        <p:xfrm>
          <a:off x="548640" y="1463040"/>
          <a:ext cx="1106388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4206240"/>
                <a:gridCol w="3566160"/>
              </a:tblGrid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Correct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Incorrect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if x &gt; 5: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if x &gt; 5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Missing colon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# comment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// comment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// is not Python's comment symbol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print(name)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print(Name)  (when variable is name)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Case-sensitive identifiers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    print(x)  (indented)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print(x)  (not indented under if)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Block must be indented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"""multi-line"""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/* multi-line */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/* */ is not Python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5"/>
          <p:cNvSpPr/>
          <p:nvPr/>
        </p:nvSpPr>
        <p:spPr>
          <a:xfrm>
            <a:off x="548640" y="5212080"/>
            <a:ext cx="11063520" cy="6850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6"/>
          <p:cNvSpPr/>
          <p:nvPr/>
        </p:nvSpPr>
        <p:spPr>
          <a:xfrm>
            <a:off x="548640" y="5212080"/>
            <a:ext cx="81720" cy="6850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822960" y="521208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Exam tip: Python uses indentation and colons where C, Java and JavaScript use { }.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VARIABLES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Roles and Uses of Variables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3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548640" y="1417320"/>
            <a:ext cx="57600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 variable is a named reference that stores a value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Its value can be used and changed while the program runs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Assigned with the equals sign ( = )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No need to declare a type: Python infers it automatically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Dynamic typing: the same variable can later hold a different type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6"/>
          <p:cNvSpPr/>
          <p:nvPr/>
        </p:nvSpPr>
        <p:spPr>
          <a:xfrm>
            <a:off x="6583680" y="1463040"/>
            <a:ext cx="5028480" cy="2651040"/>
          </a:xfrm>
          <a:prstGeom prst="roundRect">
            <a:avLst>
              <a:gd name="adj" fmla="val 3448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6812280" y="1645920"/>
            <a:ext cx="45712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x = 10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y = 3.14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name = "Albert"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is_active = True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x = "ten"   # allowed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6583680" y="4389120"/>
            <a:ext cx="5028480" cy="9136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9"/>
          <p:cNvSpPr/>
          <p:nvPr/>
        </p:nvSpPr>
        <p:spPr>
          <a:xfrm>
            <a:off x="6583680" y="4389120"/>
            <a:ext cx="81720" cy="9136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6858000" y="4389120"/>
            <a:ext cx="4571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= assigns a value; == compares two values. Do not confuse them.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VARIABLES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Naming Rules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4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548640" y="1417320"/>
            <a:ext cx="475416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Must start with a letter or underscore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No spaces allowed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Names are case-sensitive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Cannot use reserved keywords (if, for, class, etc.)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Convention (PEP 8): snake_case for variables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7" name="Table 0"/>
          <p:cNvGraphicFramePr/>
          <p:nvPr/>
        </p:nvGraphicFramePr>
        <p:xfrm>
          <a:off x="5577840" y="1463040"/>
          <a:ext cx="603468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310896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Name</a:t>
                      </a:r>
                      <a:endParaRPr lang="en-PH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Valid?</a:t>
                      </a:r>
                      <a:endParaRPr lang="en-PH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Reason</a:t>
                      </a:r>
                      <a:endParaRPr lang="en-PH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_total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Starts with underscore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score_1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Valid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Digits allowed after first character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2nd_score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Invalid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Starts with a digit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my score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Invalid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Contains a space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class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Invalid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Reserved keyword</a:t>
                      </a:r>
                      <a:endParaRPr lang="en-PH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VARIABLES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Assignment Forms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5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5"/>
          <p:cNvSpPr/>
          <p:nvPr/>
        </p:nvSpPr>
        <p:spPr>
          <a:xfrm>
            <a:off x="548640" y="1463040"/>
            <a:ext cx="11063520" cy="2102400"/>
          </a:xfrm>
          <a:prstGeom prst="roundRect">
            <a:avLst>
              <a:gd name="adj" fmla="val 4348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777240" y="1645920"/>
            <a:ext cx="1060632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x, y, z = 1, 2, 3   # multiple assignment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x is 1, y is 2, z is 3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a = b = c = 0       # same value, many variables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a, b and c are all 0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548640" y="3840480"/>
            <a:ext cx="110635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Multiple assignment: the number of names must match the number of values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Chained assignment: every variable refers to the same value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Reassigning a variable replaces its old value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8"/>
          <p:cNvSpPr/>
          <p:nvPr/>
        </p:nvSpPr>
        <p:spPr>
          <a:xfrm>
            <a:off x="548640" y="5486400"/>
            <a:ext cx="11063520" cy="6850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548640" y="5486400"/>
            <a:ext cx="81720" cy="6850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822960" y="548640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Typical question: after x, y, z = 1, 2, 3, what is y?  Answer: 2.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DATA TYPES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Built-in Data Types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6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0"/>
          <p:cNvGraphicFramePr/>
          <p:nvPr/>
        </p:nvGraphicFramePr>
        <p:xfrm>
          <a:off x="548640" y="1463040"/>
          <a:ext cx="11063880" cy="4752000"/>
        </p:xfrm>
        <a:graphic>
          <a:graphicData uri="http://schemas.openxmlformats.org/drawingml/2006/table">
            <a:tbl>
              <a:tblPr/>
              <a:tblGrid>
                <a:gridCol w="2194560"/>
                <a:gridCol w="3657600"/>
                <a:gridCol w="5212080"/>
              </a:tblGrid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Description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int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Whole numbers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float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3.14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Decimal numbers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str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"hello"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Text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bool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 / False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Boolean (two values only)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list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[1, 2, 3]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Ordered, mutable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tuple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(1, 2, 3)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Ordered, immutable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dict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{"key": "value"}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Key-value pairs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{1, 2, 3}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Unordered, unique values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NoneType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None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Represents "nothing"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  |  DATA TYPES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Comparing Collection Types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7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0" name="Table 0"/>
          <p:cNvGraphicFramePr/>
          <p:nvPr/>
        </p:nvGraphicFramePr>
        <p:xfrm>
          <a:off x="548640" y="1463040"/>
          <a:ext cx="11063880" cy="2971800"/>
        </p:xfrm>
        <a:graphic>
          <a:graphicData uri="http://schemas.openxmlformats.org/drawingml/2006/table">
            <a:tbl>
              <a:tblPr/>
              <a:tblGrid>
                <a:gridCol w="1645920"/>
                <a:gridCol w="2103120"/>
                <a:gridCol w="2560320"/>
                <a:gridCol w="2926080"/>
                <a:gridCol w="1828800"/>
              </a:tblGrid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Ordered?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Changeable?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Duplicates?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Brackets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list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 (mutable)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Allowed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[ ]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tuple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(immutable)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Allowed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 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 (add/remove)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allowed (unique)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 }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dict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Insertion order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Unique keys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 k: v }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1" name="Text 5"/>
          <p:cNvSpPr/>
          <p:nvPr/>
        </p:nvSpPr>
        <p:spPr>
          <a:xfrm>
            <a:off x="548640" y="4572000"/>
            <a:ext cx="11063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Strings are immutable: operations return a new string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Check a type with type(value); convert with int(), float(), str()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"25" (in quotes) is a str, not an int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BOOLEAN CONDITIONALS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Comparison Operators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8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548640" y="1463040"/>
          <a:ext cx="1106388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4206240"/>
                <a:gridCol w="2834640"/>
                <a:gridCol w="219456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Operator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Meaning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&lt;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less than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4 &lt; 9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greater than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4 &gt; 9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&lt;=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less than or equal to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6 &lt;= 6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&gt;=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greater than or equal to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 &gt;= 8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==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equal to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 == 5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!=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equal to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5 != 5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8" name="Text 5"/>
          <p:cNvSpPr/>
          <p:nvPr/>
        </p:nvSpPr>
        <p:spPr>
          <a:xfrm>
            <a:off x="548640" y="5486400"/>
            <a:ext cx="110635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 comparison always produces a Boolean value: True or False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= assigns a value; == compares two values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LOGICAL OPERATORS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and, or, not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9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548640" y="1463040"/>
            <a:ext cx="3474000" cy="1919520"/>
          </a:xfrm>
          <a:prstGeom prst="rect">
            <a:avLst/>
          </a:prstGeom>
          <a:solidFill>
            <a:srgbClr val="F3F6FA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548640" y="1600200"/>
            <a:ext cx="3474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and</a:t>
            </a:r>
            <a:endParaRPr lang="en-PH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731520" y="2377440"/>
            <a:ext cx="3108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True only if BOTH operands are True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297680" y="1463040"/>
            <a:ext cx="3474000" cy="1919520"/>
          </a:xfrm>
          <a:prstGeom prst="rect">
            <a:avLst/>
          </a:prstGeom>
          <a:solidFill>
            <a:srgbClr val="F3F6FA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4297680" y="1600200"/>
            <a:ext cx="3474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or</a:t>
            </a:r>
            <a:endParaRPr lang="en-PH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4480560" y="2377440"/>
            <a:ext cx="3108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False only if BOTH operands are False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1"/>
          <p:cNvSpPr/>
          <p:nvPr/>
        </p:nvSpPr>
        <p:spPr>
          <a:xfrm>
            <a:off x="8046720" y="1463040"/>
            <a:ext cx="3474000" cy="1919520"/>
          </a:xfrm>
          <a:prstGeom prst="rect">
            <a:avLst/>
          </a:prstGeom>
          <a:solidFill>
            <a:srgbClr val="F3F6FA"/>
          </a:solidFill>
          <a:ln w="9525">
            <a:solidFill>
              <a:srgbClr val="D1D5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8046720" y="1600200"/>
            <a:ext cx="34740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not</a:t>
            </a:r>
            <a:endParaRPr lang="en-PH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8229600" y="2377440"/>
            <a:ext cx="3108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Reverses the value (unary: one operand)</a:t>
            </a:r>
            <a:endParaRPr lang="en-PH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548640" y="3657600"/>
            <a:ext cx="1106352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Comparison operators produce True or False; logical operators combine those results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Python uses words (and, or, not), not &amp;&amp; or ||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Exam pattern: [not] ( comparison ) and/or comparison (not is present in only some items)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548640" y="5074920"/>
            <a:ext cx="11063520" cy="1096560"/>
          </a:xfrm>
          <a:prstGeom prst="roundRect">
            <a:avLst>
              <a:gd name="adj" fmla="val 8333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777240" y="5257800"/>
            <a:ext cx="1060632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not (10 &lt;= 5) or 35 &gt;= 34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not (False) or True  -&gt;  True or True  -&gt;  True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LOGICAL OPERATORS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Truth Tables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10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1" name="Table 0"/>
          <p:cNvGraphicFramePr/>
          <p:nvPr/>
        </p:nvGraphicFramePr>
        <p:xfrm>
          <a:off x="548640" y="1463040"/>
          <a:ext cx="658332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920240"/>
                <a:gridCol w="192024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and B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or B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2" name="Table 1"/>
          <p:cNvGraphicFramePr/>
          <p:nvPr/>
        </p:nvGraphicFramePr>
        <p:xfrm>
          <a:off x="7680960" y="1463040"/>
          <a:ext cx="3931560" cy="164592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A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3" name="Shape 5"/>
          <p:cNvSpPr/>
          <p:nvPr/>
        </p:nvSpPr>
        <p:spPr>
          <a:xfrm>
            <a:off x="548640" y="4480560"/>
            <a:ext cx="11063520" cy="6850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6"/>
          <p:cNvSpPr/>
          <p:nvPr/>
        </p:nvSpPr>
        <p:spPr>
          <a:xfrm>
            <a:off x="548640" y="4480560"/>
            <a:ext cx="81720" cy="6850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822960" y="448056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Memory aid: AND is strict (needs every operand True). OR is lenient (one True is enough).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BOOLEAN CONDITIONALS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Edge Cases: Equal Values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11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1" name="Table 0"/>
          <p:cNvGraphicFramePr/>
          <p:nvPr/>
        </p:nvGraphicFramePr>
        <p:xfrm>
          <a:off x="548640" y="1463040"/>
          <a:ext cx="11063880" cy="384048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612648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Expression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</a:t>
                      </a:r>
                      <a:endParaRPr lang="en-PH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&gt;=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&gt;= includes equality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&lt;=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&lt;= includes equality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&gt;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&gt; excludes equality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&lt;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&lt; excludes equality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==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the values are equal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!= 7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!= is True only when values differ</a:t>
                      </a:r>
                      <a:endParaRPr lang="en-PH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12" name="Shape 5"/>
          <p:cNvSpPr/>
          <p:nvPr/>
        </p:nvSpPr>
        <p:spPr>
          <a:xfrm>
            <a:off x="548640" y="5486400"/>
            <a:ext cx="11063520" cy="6850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548640" y="5486400"/>
            <a:ext cx="81720" cy="6850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822960" y="548640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Exam tip: when both numbers are equal, &gt;= , &lt;= and == are True; &gt; , &lt; and != are False.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BOOLEAN CONDITIONALS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Solving: [not] (a op b) and / or c op d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12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"/>
          <p:cNvSpPr/>
          <p:nvPr/>
        </p:nvSpPr>
        <p:spPr>
          <a:xfrm>
            <a:off x="548640" y="1417320"/>
            <a:ext cx="11063520" cy="776520"/>
          </a:xfrm>
          <a:prstGeom prst="roundRect">
            <a:avLst>
              <a:gd name="adj" fmla="val 11765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777240" y="1600200"/>
            <a:ext cx="1060632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not (12 &gt;= 12) or 8 &lt; 5</a:t>
            </a:r>
            <a:endParaRPr lang="en-PH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548640" y="2468880"/>
            <a:ext cx="547920" cy="54792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48640" y="246888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1371600" y="242316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Solve the parentheses first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6675120" y="2423160"/>
            <a:ext cx="4937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(12 &gt;= 12) is True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1"/>
          <p:cNvSpPr/>
          <p:nvPr/>
        </p:nvSpPr>
        <p:spPr>
          <a:xfrm>
            <a:off x="548640" y="3246120"/>
            <a:ext cx="547920" cy="54792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48640" y="324612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1371600" y="320040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Apply not, if there is one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6675120" y="3200400"/>
            <a:ext cx="4937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not True is False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5"/>
          <p:cNvSpPr/>
          <p:nvPr/>
        </p:nvSpPr>
        <p:spPr>
          <a:xfrm>
            <a:off x="548640" y="4023360"/>
            <a:ext cx="547920" cy="54792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548640" y="402336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7"/>
          <p:cNvSpPr/>
          <p:nvPr/>
        </p:nvSpPr>
        <p:spPr>
          <a:xfrm>
            <a:off x="1371600" y="397764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Evaluate the second comparison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8"/>
          <p:cNvSpPr/>
          <p:nvPr/>
        </p:nvSpPr>
        <p:spPr>
          <a:xfrm>
            <a:off x="6675120" y="3977640"/>
            <a:ext cx="4937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8 &lt; 5 is False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19"/>
          <p:cNvSpPr/>
          <p:nvPr/>
        </p:nvSpPr>
        <p:spPr>
          <a:xfrm>
            <a:off x="548640" y="4800600"/>
            <a:ext cx="547920" cy="547920"/>
          </a:xfrm>
          <a:prstGeom prst="ellipse">
            <a:avLst/>
          </a:prstGeom>
          <a:solidFill>
            <a:srgbClr val="30699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0"/>
          <p:cNvSpPr/>
          <p:nvPr/>
        </p:nvSpPr>
        <p:spPr>
          <a:xfrm>
            <a:off x="548640" y="4800600"/>
            <a:ext cx="547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1"/>
          <p:cNvSpPr/>
          <p:nvPr/>
        </p:nvSpPr>
        <p:spPr>
          <a:xfrm>
            <a:off x="1371600" y="4754880"/>
            <a:ext cx="51199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Combine with and / or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6675120" y="4754880"/>
            <a:ext cx="49370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306998"/>
                </a:solidFill>
                <a:effectLst/>
                <a:uFillTx/>
                <a:latin typeface="Consolas"/>
                <a:ea typeface="Consolas"/>
              </a:rPr>
              <a:t>False or False is False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3"/>
          <p:cNvSpPr/>
          <p:nvPr/>
        </p:nvSpPr>
        <p:spPr>
          <a:xfrm>
            <a:off x="548640" y="5623560"/>
            <a:ext cx="11063520" cy="63936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4"/>
          <p:cNvSpPr/>
          <p:nvPr/>
        </p:nvSpPr>
        <p:spPr>
          <a:xfrm>
            <a:off x="548640" y="5623560"/>
            <a:ext cx="81720" cy="6393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5"/>
          <p:cNvSpPr/>
          <p:nvPr/>
        </p:nvSpPr>
        <p:spPr>
          <a:xfrm>
            <a:off x="822960" y="5623560"/>
            <a:ext cx="1060632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Result: False.  Write the True/False value under each part before combining them.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LOGICAL OPERATORS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Short-Circuit Evaluation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13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548640" y="1417320"/>
            <a:ext cx="576000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 and B: if A is False, B is NOT evaluated (result is already False)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 or B: if A is True, B is NOT evaluated (result is already True)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Python stops as soon as the result is known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So the right side can be ignored when the left side decides the answer</a:t>
            </a:r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6"/>
          <p:cNvSpPr/>
          <p:nvPr/>
        </p:nvSpPr>
        <p:spPr>
          <a:xfrm>
            <a:off x="6583680" y="1463040"/>
            <a:ext cx="5028480" cy="3016800"/>
          </a:xfrm>
          <a:prstGeom prst="roundRect">
            <a:avLst>
              <a:gd name="adj" fmla="val 3030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7"/>
          <p:cNvSpPr/>
          <p:nvPr/>
        </p:nvSpPr>
        <p:spPr>
          <a:xfrm>
            <a:off x="6812280" y="1645920"/>
            <a:ext cx="457128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not (10 &lt;= 5) or 35 &gt;= 34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left of or: not False = True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short-circuit -&gt; True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not (7 &gt;= 7) and 3 &lt; 9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left of and: not True = False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short-circuit -&gt; False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8"/>
          <p:cNvSpPr/>
          <p:nvPr/>
        </p:nvSpPr>
        <p:spPr>
          <a:xfrm>
            <a:off x="548640" y="4937760"/>
            <a:ext cx="11063520" cy="86796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9"/>
          <p:cNvSpPr/>
          <p:nvPr/>
        </p:nvSpPr>
        <p:spPr>
          <a:xfrm>
            <a:off x="548640" y="4937760"/>
            <a:ext cx="81720" cy="86796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0"/>
          <p:cNvSpPr/>
          <p:nvPr/>
        </p:nvSpPr>
        <p:spPr>
          <a:xfrm>
            <a:off x="822960" y="4937760"/>
            <a:ext cx="1060632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Check the left side first: True on the left of or, or False on the left of and, settles the answer.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PART II  |  LOGICAL OPERATORS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Order of Evaluation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14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7" name="Table 0"/>
          <p:cNvGraphicFramePr/>
          <p:nvPr/>
        </p:nvGraphicFramePr>
        <p:xfrm>
          <a:off x="548640" y="1463040"/>
          <a:ext cx="585180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</a:tblGrid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Order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is evaluated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Parentheses ( 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Comparison operators (&lt;, &gt;, &lt;=, &gt;=, ==, !=)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and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Shape 5"/>
          <p:cNvSpPr/>
          <p:nvPr/>
        </p:nvSpPr>
        <p:spPr>
          <a:xfrm>
            <a:off x="6675120" y="1463040"/>
            <a:ext cx="4937040" cy="3291120"/>
          </a:xfrm>
          <a:prstGeom prst="roundRect">
            <a:avLst>
              <a:gd name="adj" fmla="val 2778"/>
            </a:avLst>
          </a:prstGeom>
          <a:solidFill>
            <a:srgbClr val="1E1E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6903720" y="1645920"/>
            <a:ext cx="447984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True or False and False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and first: False and False = False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then: True or False = True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EAED"/>
                </a:solidFill>
                <a:effectLst/>
                <a:uFillTx/>
                <a:latin typeface="Consolas"/>
                <a:ea typeface="Consolas"/>
              </a:rPr>
              <a:t>(True or False) and False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A9955"/>
                </a:solidFill>
                <a:effectLst/>
                <a:uFillTx/>
                <a:latin typeface="Consolas"/>
                <a:ea typeface="Consolas"/>
              </a:rPr>
              <a:t># parentheses first: True and False = False</a:t>
            </a:r>
            <a:endParaRPr lang="en-PH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"/>
          <p:cNvSpPr/>
          <p:nvPr/>
        </p:nvSpPr>
        <p:spPr>
          <a:xfrm>
            <a:off x="548640" y="5120640"/>
            <a:ext cx="11063520" cy="685080"/>
          </a:xfrm>
          <a:prstGeom prst="rect">
            <a:avLst/>
          </a:prstGeom>
          <a:solidFill>
            <a:srgbClr val="FFF8DC"/>
          </a:solidFill>
          <a:ln w="12700">
            <a:solidFill>
              <a:srgbClr val="FFD4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8"/>
          <p:cNvSpPr/>
          <p:nvPr/>
        </p:nvSpPr>
        <p:spPr>
          <a:xfrm>
            <a:off x="548640" y="5120640"/>
            <a:ext cx="81720" cy="68508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1040" tIns="45000" rIns="41040" bIns="4500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822960" y="5120640"/>
            <a:ext cx="1060632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Parentheses override the default order. When unsure, add parentheses.</a:t>
            </a:r>
            <a:endParaRPr lang="en-PH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PRACTICE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Evaluate the Expression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15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Table 0"/>
          <p:cNvGraphicFramePr/>
          <p:nvPr/>
        </p:nvGraphicFramePr>
        <p:xfrm>
          <a:off x="548640" y="1463040"/>
          <a:ext cx="11063880" cy="4772520"/>
        </p:xfrm>
        <a:graphic>
          <a:graphicData uri="http://schemas.openxmlformats.org/drawingml/2006/table">
            <a:tbl>
              <a:tblPr/>
              <a:tblGrid>
                <a:gridCol w="3840480"/>
                <a:gridCol w="5669280"/>
                <a:gridCol w="1554480"/>
              </a:tblGrid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Expression</a:t>
                      </a:r>
                      <a:endParaRPr lang="en-PH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Steps</a:t>
                      </a:r>
                      <a:endParaRPr lang="en-PH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Result</a:t>
                      </a:r>
                      <a:endParaRPr lang="en-PH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not (9 &gt; 4) or 3 == 3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(True) = False; right side True; False or 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(6 &lt;= 6) and 10 &gt; 2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(True); right side True; True and 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not (2 &gt; 8) and 7 != 7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(False) = True; right side False; True and False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(15 != 15) or 1 &gt; 4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(False); right side False; False or False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False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not (20 &gt;= 21) and 4 &lt;= 4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(False) = True; right side True; True and 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(5 == 5) or 9 &lt; 9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(True); short-circuit, right side skipped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not (14 &lt; 3) and 22 &gt;= 22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(False) = True; right side True; True and 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28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(8 &gt; 1) or 6 &gt; 7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(True); short-circuit, right side skipped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True</a:t>
                      </a:r>
                      <a:endParaRPr lang="en-PH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69" name="Text 5"/>
          <p:cNvSpPr/>
          <p:nvPr/>
        </p:nvSpPr>
        <p:spPr>
          <a:xfrm>
            <a:off x="548640" y="6217920"/>
            <a:ext cx="10972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Cover the Steps and Result columns and try each one first.</a:t>
            </a:r>
            <a:endParaRPr lang="en-PH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PRACTICE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the Data Type?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16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5" name="Table 0"/>
          <p:cNvGraphicFramePr/>
          <p:nvPr/>
        </p:nvGraphicFramePr>
        <p:xfrm>
          <a:off x="548640" y="1463040"/>
          <a:ext cx="11063880" cy="45720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Expression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type</a:t>
                      </a:r>
                      <a:endParaRPr lang="en-PH" sz="17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3.0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float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(5)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  (no comma, so not a tuple)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(5,)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tuple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{}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dict  (empty braces make a dict, not a set)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{1, 2}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None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NoneType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'7'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str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// 2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int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7 / 2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7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float</a:t>
                      </a:r>
                      <a:endParaRPr lang="en-PH" sz="17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PRACTICE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Quick Self-Check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17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1" name="Table 0"/>
          <p:cNvGraphicFramePr/>
          <p:nvPr/>
        </p:nvGraphicFramePr>
        <p:xfrm>
          <a:off x="548640" y="1463040"/>
          <a:ext cx="11063880" cy="4752000"/>
        </p:xfrm>
        <a:graphic>
          <a:graphicData uri="http://schemas.openxmlformats.org/drawingml/2006/table">
            <a:tbl>
              <a:tblPr/>
              <a:tblGrid>
                <a:gridCol w="6949440"/>
                <a:gridCol w="4114800"/>
              </a:tblGrid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Question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Answer</a:t>
                      </a:r>
                      <a:endParaRPr lang="en-PH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306998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Which symbol starts a single-line comment in Python?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#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defines a code block in Python?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Indentation (usually 4 spaces)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Which collection is ordered and immutable?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tuple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Which collection stores unique values only?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Which logical operator is unary?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does 5 &gt;= 5 evaluate to?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 (&gt;= includes equality)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What does 8 != 8 evaluate to?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False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Which is evaluated first: not or and?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not (and is next, then or)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3F6FA"/>
                    </a:solidFill>
                  </a:tcPr>
                </a:tc>
              </a:tr>
              <a:tr h="475200"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Does Python evaluate B in False and B?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9440" tIns="36360" rIns="109440" bIns="363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1F2937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No (short-circuit)</a:t>
                      </a:r>
                      <a:endParaRPr lang="en-PH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36360" marB="36360">
                    <a:lnL w="9360">
                      <a:solidFill>
                        <a:srgbClr val="D1D5DB"/>
                      </a:solidFill>
                      <a:prstDash val="solid"/>
                    </a:lnL>
                    <a:lnR w="9360">
                      <a:solidFill>
                        <a:srgbClr val="D1D5DB"/>
                      </a:solidFill>
                      <a:prstDash val="solid"/>
                    </a:lnR>
                    <a:lnT w="9360">
                      <a:solidFill>
                        <a:srgbClr val="D1D5DB"/>
                      </a:solidFill>
                      <a:prstDash val="solid"/>
                    </a:lnT>
                    <a:lnB w="9360">
                      <a:solidFill>
                        <a:srgbClr val="D1D5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243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"/>
          <p:cNvSpPr/>
          <p:nvPr/>
        </p:nvSpPr>
        <p:spPr>
          <a:xfrm>
            <a:off x="0" y="1051560"/>
            <a:ext cx="1218816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548640" y="10980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FFD43B"/>
                </a:solidFill>
                <a:effectLst/>
                <a:uFillTx/>
                <a:latin typeface="Calibri"/>
                <a:ea typeface="Calibri"/>
              </a:rPr>
              <a:t>EXAM TIPS</a:t>
            </a:r>
            <a:endParaRPr lang="en-PH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"/>
          <p:cNvSpPr/>
          <p:nvPr/>
        </p:nvSpPr>
        <p:spPr>
          <a:xfrm>
            <a:off x="548640" y="3841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to Score High</a:t>
            </a:r>
            <a:endParaRPr lang="en-PH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4"/>
          <p:cNvSpPr/>
          <p:nvPr/>
        </p:nvSpPr>
        <p:spPr>
          <a:xfrm>
            <a:off x="548640" y="6492240"/>
            <a:ext cx="1106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IPT Final Exam Reviewer  |  18</a:t>
            </a:r>
            <a:endParaRPr lang="en-PH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548640" y="1417320"/>
            <a:ext cx="11063520" cy="475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Part I: read every choice before answering; eliminate options that break Python rules (braces, //, &amp;&amp;)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Part II: solve the parentheses first, then not (if present), then combine with and / or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Equal numbers: &gt;= and &lt;= are True, &gt; and &lt; are False, == is True, != is False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Check the left side first: it may decide the answer (short-circuit)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Write True or False under each part of the expression before combining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Calibri"/>
                <a:ea typeface="Calibri"/>
              </a:rPr>
              <a:t>Answer all items; write TRUE or FALSE in full on the blank</a:t>
            </a:r>
            <a:endParaRPr lang="en-PH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0"/>
          <p:cNvSpPr/>
          <p:nvPr/>
        </p:nvSpPr>
        <p:spPr>
          <a:xfrm>
            <a:off x="731520" y="2377440"/>
            <a:ext cx="1069776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Good luck on your Final Exam!</a:t>
            </a:r>
            <a:endParaRPr lang="en-PH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"/>
          <p:cNvSpPr/>
          <p:nvPr/>
        </p:nvSpPr>
        <p:spPr>
          <a:xfrm>
            <a:off x="5184720" y="3474720"/>
            <a:ext cx="1828080" cy="54000"/>
          </a:xfrm>
          <a:prstGeom prst="rect">
            <a:avLst/>
          </a:prstGeom>
          <a:solidFill>
            <a:srgbClr val="FFD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9720" rIns="90000" bIns="9720" anchor="t">
            <a:noAutofit/>
          </a:bodyPr>
          <a:p>
            <a:endParaRPr lang="en-PH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"/>
          <p:cNvSpPr/>
          <p:nvPr/>
        </p:nvSpPr>
        <p:spPr>
          <a:xfrm>
            <a:off x="731520" y="3749040"/>
            <a:ext cx="106977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C7D2E0"/>
                </a:solidFill>
                <a:effectLst/>
                <a:uFillTx/>
                <a:latin typeface="Calibri"/>
                <a:ea typeface="Calibri"/>
              </a:rPr>
              <a:t>“Integrity is doing the right thing, even when no one is watching.” — C.S. Lewis</a:t>
            </a:r>
            <a:endParaRPr lang="en-PH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2026-10-19T09:28:53Z</dcterms:created>
  <dc:creator>PptxGenJS</dc:creator>
  <dc:description/>
  <dc:language>en-PH</dc:language>
  <cp:lastModifiedBy>PptxGenJS</cp:lastModifiedBy>
  <dcterms:modified xsi:type="dcterms:W3CDTF">2026-10-19T09:28:53Z</dcterms:modified>
  <cp:revision>1</cp:revision>
  <dc:subject>PptxGenJS Presentation</dc:subject>
  <dc:title>IPT Final Exam Reviewer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(16:9)</vt:lpwstr>
  </property>
  <property fmtid="{D5CDD505-2E9C-101B-9397-08002B2CF9AE}" pid="4" name="Slides">
    <vt:i4>19</vt:i4>
  </property>
</Properties>
</file>