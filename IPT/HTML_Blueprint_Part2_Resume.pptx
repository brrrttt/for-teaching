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_rels/notesSlide9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PH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PH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PH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PH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PH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PH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PH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PH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PH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PH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PH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PH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PH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C3BD7B6C-F40D-4251-90C6-DEA939594001}" type="slidenum">
              <a:rPr b="0" lang="en-PH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PH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26CC1A3-9883-49E7-B3FE-8B8858CD787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PH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7B90A5C-4EB0-4B3C-AACB-B3BD9C13DFE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PH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85BF223-8609-4A23-879B-4FC847B5565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PH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F521606-ED86-4545-A9CF-3E480094BD4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PH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F0894F6-7B38-4313-934D-CB4A5C89361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PH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B7A2B2B-55DB-4479-AD4A-B0BCEAFF085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PH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D046841-5B19-450B-9ECA-029E5776FC6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PH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EBEAB28-B0CA-4FCF-89DC-6967067BB3E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PH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4BA040A-F33C-40BB-B946-A95C1466B4B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PH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PH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PH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PH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PH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PH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PH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PH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PH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PH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PH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PH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PH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PH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PH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PH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PH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3a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8778240" y="-1463040"/>
            <a:ext cx="5028840" cy="5028840"/>
          </a:xfrm>
          <a:prstGeom prst="ellipse">
            <a:avLst/>
          </a:prstGeom>
          <a:solidFill>
            <a:srgbClr val="1c4e80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-1645920" y="4206240"/>
            <a:ext cx="3840120" cy="3840120"/>
          </a:xfrm>
          <a:prstGeom prst="ellipse">
            <a:avLst/>
          </a:prstGeom>
          <a:solidFill>
            <a:srgbClr val="0d9488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Text 2"/>
          <p:cNvSpPr/>
          <p:nvPr/>
        </p:nvSpPr>
        <p:spPr>
          <a:xfrm>
            <a:off x="822960" y="1371600"/>
            <a:ext cx="10058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299" strike="noStrike">
                <a:solidFill>
                  <a:srgbClr val="9fb8d9"/>
                </a:solidFill>
                <a:latin typeface="Calibri"/>
                <a:ea typeface="Calibri"/>
              </a:rPr>
              <a:t>THE HTML BLUEPRINT</a:t>
            </a:r>
            <a:endParaRPr b="0" lang="en-PH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822960" y="1828800"/>
            <a:ext cx="100580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200" spc="-1" strike="noStrike">
                <a:solidFill>
                  <a:srgbClr val="ffffff"/>
                </a:solidFill>
                <a:latin typeface="Cambria"/>
                <a:ea typeface="Cambria"/>
              </a:rPr>
              <a:t>PART 2</a:t>
            </a:r>
            <a:endParaRPr b="0" lang="en-PH" sz="5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Text 4"/>
          <p:cNvSpPr/>
          <p:nvPr/>
        </p:nvSpPr>
        <p:spPr>
          <a:xfrm>
            <a:off x="822960" y="2788920"/>
            <a:ext cx="9600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cbd5e1"/>
                </a:solidFill>
                <a:latin typeface="Calibri"/>
                <a:ea typeface="Calibri"/>
              </a:rPr>
              <a:t>From Tags to a Real Page: Lists, Structure, CSS &amp; Tables</a:t>
            </a:r>
            <a:endParaRPr b="0" lang="en-PH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Text 5"/>
          <p:cNvSpPr/>
          <p:nvPr/>
        </p:nvSpPr>
        <p:spPr>
          <a:xfrm>
            <a:off x="822960" y="3246120"/>
            <a:ext cx="9600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500" spc="-1" strike="noStrike">
                <a:solidFill>
                  <a:srgbClr val="7c93b8"/>
                </a:solidFill>
                <a:latin typeface="Calibri"/>
                <a:ea typeface="Calibri"/>
              </a:rPr>
              <a:t>Building the skills you need for a simple resume website</a:t>
            </a:r>
            <a:endParaRPr b="0" lang="en-PH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Shape 6"/>
          <p:cNvSpPr/>
          <p:nvPr/>
        </p:nvSpPr>
        <p:spPr>
          <a:xfrm>
            <a:off x="822960" y="4206240"/>
            <a:ext cx="1919880" cy="502560"/>
          </a:xfrm>
          <a:prstGeom prst="roundRect">
            <a:avLst>
              <a:gd name="adj" fmla="val 49091"/>
            </a:avLst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Text 7"/>
          <p:cNvSpPr/>
          <p:nvPr/>
        </p:nvSpPr>
        <p:spPr>
          <a:xfrm>
            <a:off x="822960" y="4206240"/>
            <a:ext cx="19198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Lists</a:t>
            </a:r>
            <a:endParaRPr b="0" lang="en-PH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Shape 8"/>
          <p:cNvSpPr/>
          <p:nvPr/>
        </p:nvSpPr>
        <p:spPr>
          <a:xfrm>
            <a:off x="2971800" y="4206240"/>
            <a:ext cx="1919880" cy="502560"/>
          </a:xfrm>
          <a:prstGeom prst="roundRect">
            <a:avLst>
              <a:gd name="adj" fmla="val 49091"/>
            </a:avLst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Text 9"/>
          <p:cNvSpPr/>
          <p:nvPr/>
        </p:nvSpPr>
        <p:spPr>
          <a:xfrm>
            <a:off x="2971800" y="4206240"/>
            <a:ext cx="19198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Structure</a:t>
            </a:r>
            <a:endParaRPr b="0" lang="en-PH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Shape 10"/>
          <p:cNvSpPr/>
          <p:nvPr/>
        </p:nvSpPr>
        <p:spPr>
          <a:xfrm>
            <a:off x="5120640" y="4206240"/>
            <a:ext cx="1919880" cy="502560"/>
          </a:xfrm>
          <a:prstGeom prst="roundRect">
            <a:avLst>
              <a:gd name="adj" fmla="val 49091"/>
            </a:avLst>
          </a:prstGeom>
          <a:solidFill>
            <a:srgbClr val="f9731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Text 11"/>
          <p:cNvSpPr/>
          <p:nvPr/>
        </p:nvSpPr>
        <p:spPr>
          <a:xfrm>
            <a:off x="5120640" y="4206240"/>
            <a:ext cx="19198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CSS</a:t>
            </a:r>
            <a:endParaRPr b="0" lang="en-PH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Shape 12"/>
          <p:cNvSpPr/>
          <p:nvPr/>
        </p:nvSpPr>
        <p:spPr>
          <a:xfrm>
            <a:off x="7269480" y="4206240"/>
            <a:ext cx="1919880" cy="502560"/>
          </a:xfrm>
          <a:prstGeom prst="roundRect">
            <a:avLst>
              <a:gd name="adj" fmla="val 49091"/>
            </a:avLst>
          </a:prstGeom>
          <a:solidFill>
            <a:srgbClr val="2563e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Text 13"/>
          <p:cNvSpPr/>
          <p:nvPr/>
        </p:nvSpPr>
        <p:spPr>
          <a:xfrm>
            <a:off x="7269480" y="4206240"/>
            <a:ext cx="19198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Tables</a:t>
            </a:r>
            <a:endParaRPr b="0" lang="en-PH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0"/>
          <p:cNvSpPr/>
          <p:nvPr/>
        </p:nvSpPr>
        <p:spPr>
          <a:xfrm>
            <a:off x="457200" y="86868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133a61"/>
                </a:solidFill>
                <a:latin typeface="Cambria"/>
                <a:ea typeface="Cambria"/>
              </a:rPr>
              <a:t>What We're Adding to Your Toolkit</a:t>
            </a:r>
            <a:endParaRPr b="0" lang="en-PH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Shape 1"/>
          <p:cNvSpPr/>
          <p:nvPr/>
        </p:nvSpPr>
        <p:spPr>
          <a:xfrm>
            <a:off x="457200" y="1572840"/>
            <a:ext cx="548280" cy="54360"/>
          </a:xfrm>
          <a:prstGeom prst="rect">
            <a:avLst/>
          </a:prstGeom>
          <a:solidFill>
            <a:srgbClr val="1c4e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Text 2"/>
          <p:cNvSpPr/>
          <p:nvPr/>
        </p:nvSpPr>
        <p:spPr>
          <a:xfrm>
            <a:off x="457200" y="1737360"/>
            <a:ext cx="107895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64748b"/>
                </a:solidFill>
                <a:latin typeface="Calibri"/>
                <a:ea typeface="Calibri"/>
              </a:rPr>
              <a:t>You already know tags, elements, and attributes. Now let's learn how to organize content and control its look — the pieces a resume page actually needs.</a:t>
            </a:r>
            <a:endParaRPr b="0" lang="en-PH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Shape 3"/>
          <p:cNvSpPr/>
          <p:nvPr/>
        </p:nvSpPr>
        <p:spPr>
          <a:xfrm>
            <a:off x="457200" y="2514600"/>
            <a:ext cx="11246760" cy="91404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Text 4"/>
          <p:cNvSpPr/>
          <p:nvPr/>
        </p:nvSpPr>
        <p:spPr>
          <a:xfrm>
            <a:off x="685800" y="2514600"/>
            <a:ext cx="8226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0d9488"/>
                </a:solidFill>
                <a:latin typeface="Cambria"/>
                <a:ea typeface="Cambria"/>
              </a:rPr>
              <a:t>01</a:t>
            </a:r>
            <a:endParaRPr b="0" lang="en-PH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Text 5"/>
          <p:cNvSpPr/>
          <p:nvPr/>
        </p:nvSpPr>
        <p:spPr>
          <a:xfrm>
            <a:off x="1600200" y="260604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133a61"/>
                </a:solidFill>
                <a:latin typeface="Calibri"/>
                <a:ea typeface="Calibri"/>
              </a:rPr>
              <a:t>Lists</a:t>
            </a: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Text 6"/>
          <p:cNvSpPr/>
          <p:nvPr/>
        </p:nvSpPr>
        <p:spPr>
          <a:xfrm>
            <a:off x="1600200" y="2971800"/>
            <a:ext cx="97837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64748b"/>
                </a:solidFill>
                <a:latin typeface="Calibri"/>
                <a:ea typeface="Calibri"/>
              </a:rPr>
              <a:t>&lt;ul&gt;, &lt;ol&gt;, &lt;li&gt; — for skills, education &amp; experience</a:t>
            </a:r>
            <a:endParaRPr b="0" lang="en-PH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Shape 7"/>
          <p:cNvSpPr/>
          <p:nvPr/>
        </p:nvSpPr>
        <p:spPr>
          <a:xfrm>
            <a:off x="457200" y="3566160"/>
            <a:ext cx="11246760" cy="91404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Text 8"/>
          <p:cNvSpPr/>
          <p:nvPr/>
        </p:nvSpPr>
        <p:spPr>
          <a:xfrm>
            <a:off x="685800" y="3566160"/>
            <a:ext cx="8226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7c3aed"/>
                </a:solidFill>
                <a:latin typeface="Cambria"/>
                <a:ea typeface="Cambria"/>
              </a:rPr>
              <a:t>02</a:t>
            </a:r>
            <a:endParaRPr b="0" lang="en-PH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Text 9"/>
          <p:cNvSpPr/>
          <p:nvPr/>
        </p:nvSpPr>
        <p:spPr>
          <a:xfrm>
            <a:off x="1600200" y="365760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133a61"/>
                </a:solidFill>
                <a:latin typeface="Calibri"/>
                <a:ea typeface="Calibri"/>
              </a:rPr>
              <a:t>Structural Containers</a:t>
            </a: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Text 10"/>
          <p:cNvSpPr/>
          <p:nvPr/>
        </p:nvSpPr>
        <p:spPr>
          <a:xfrm>
            <a:off x="1600200" y="4023360"/>
            <a:ext cx="97837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64748b"/>
                </a:solidFill>
                <a:latin typeface="Calibri"/>
                <a:ea typeface="Calibri"/>
              </a:rPr>
              <a:t>&lt;div&gt;, &lt;section&gt;, and heading levels h1–h6</a:t>
            </a:r>
            <a:endParaRPr b="0" lang="en-PH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Shape 11"/>
          <p:cNvSpPr/>
          <p:nvPr/>
        </p:nvSpPr>
        <p:spPr>
          <a:xfrm>
            <a:off x="457200" y="4617720"/>
            <a:ext cx="11246760" cy="91404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Text 12"/>
          <p:cNvSpPr/>
          <p:nvPr/>
        </p:nvSpPr>
        <p:spPr>
          <a:xfrm>
            <a:off x="685800" y="4617720"/>
            <a:ext cx="8226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97316"/>
                </a:solidFill>
                <a:latin typeface="Cambria"/>
                <a:ea typeface="Cambria"/>
              </a:rPr>
              <a:t>03</a:t>
            </a:r>
            <a:endParaRPr b="0" lang="en-PH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Text 13"/>
          <p:cNvSpPr/>
          <p:nvPr/>
        </p:nvSpPr>
        <p:spPr>
          <a:xfrm>
            <a:off x="1600200" y="470916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133a61"/>
                </a:solidFill>
                <a:latin typeface="Calibri"/>
                <a:ea typeface="Calibri"/>
              </a:rPr>
              <a:t>External CSS</a:t>
            </a: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Text 14"/>
          <p:cNvSpPr/>
          <p:nvPr/>
        </p:nvSpPr>
        <p:spPr>
          <a:xfrm>
            <a:off x="1600200" y="5074920"/>
            <a:ext cx="97837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64748b"/>
                </a:solidFill>
                <a:latin typeface="Calibri"/>
                <a:ea typeface="Calibri"/>
              </a:rPr>
              <a:t>Move styling out of tags into its own stylesheet</a:t>
            </a:r>
            <a:endParaRPr b="0" lang="en-PH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Shape 15"/>
          <p:cNvSpPr/>
          <p:nvPr/>
        </p:nvSpPr>
        <p:spPr>
          <a:xfrm>
            <a:off x="457200" y="5669280"/>
            <a:ext cx="11246760" cy="91404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Text 16"/>
          <p:cNvSpPr/>
          <p:nvPr/>
        </p:nvSpPr>
        <p:spPr>
          <a:xfrm>
            <a:off x="685800" y="5669280"/>
            <a:ext cx="8226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2563eb"/>
                </a:solidFill>
                <a:latin typeface="Cambria"/>
                <a:ea typeface="Cambria"/>
              </a:rPr>
              <a:t>04</a:t>
            </a:r>
            <a:endParaRPr b="0" lang="en-PH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Text 17"/>
          <p:cNvSpPr/>
          <p:nvPr/>
        </p:nvSpPr>
        <p:spPr>
          <a:xfrm>
            <a:off x="1600200" y="576072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133a61"/>
                </a:solidFill>
                <a:latin typeface="Calibri"/>
                <a:ea typeface="Calibri"/>
              </a:rPr>
              <a:t>Tables</a:t>
            </a: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Text 18"/>
          <p:cNvSpPr/>
          <p:nvPr/>
        </p:nvSpPr>
        <p:spPr>
          <a:xfrm>
            <a:off x="1600200" y="6126480"/>
            <a:ext cx="97837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64748b"/>
                </a:solidFill>
                <a:latin typeface="Calibri"/>
                <a:ea typeface="Calibri"/>
              </a:rPr>
              <a:t>&lt;table&gt;, &lt;tr&gt;, &lt;td&gt; for structured, grid-based layout</a:t>
            </a:r>
            <a:endParaRPr b="0" lang="en-PH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Text 19"/>
          <p:cNvSpPr/>
          <p:nvPr/>
        </p:nvSpPr>
        <p:spPr>
          <a:xfrm>
            <a:off x="11612880" y="6446520"/>
            <a:ext cx="456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  <a:ea typeface="Calibri"/>
              </a:rPr>
              <a:t>2</a:t>
            </a:r>
            <a:endParaRPr b="0" lang="en-PH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0"/>
          <p:cNvSpPr/>
          <p:nvPr/>
        </p:nvSpPr>
        <p:spPr>
          <a:xfrm>
            <a:off x="457200" y="411480"/>
            <a:ext cx="1737000" cy="3654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Text 1"/>
          <p:cNvSpPr/>
          <p:nvPr/>
        </p:nvSpPr>
        <p:spPr>
          <a:xfrm>
            <a:off x="457200" y="411480"/>
            <a:ext cx="1737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7" strike="noStrike">
                <a:solidFill>
                  <a:srgbClr val="ffffff"/>
                </a:solidFill>
                <a:latin typeface="Calibri"/>
                <a:ea typeface="Calibri"/>
              </a:rPr>
              <a:t>LISTS</a:t>
            </a:r>
            <a:endParaRPr b="0" lang="en-PH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Text 2"/>
          <p:cNvSpPr/>
          <p:nvPr/>
        </p:nvSpPr>
        <p:spPr>
          <a:xfrm>
            <a:off x="457200" y="86868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133a61"/>
                </a:solidFill>
                <a:latin typeface="Cambria"/>
                <a:ea typeface="Cambria"/>
              </a:rPr>
              <a:t>Why Resumes Need Lists</a:t>
            </a:r>
            <a:endParaRPr b="0" lang="en-PH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Shape 3"/>
          <p:cNvSpPr/>
          <p:nvPr/>
        </p:nvSpPr>
        <p:spPr>
          <a:xfrm>
            <a:off x="457200" y="1572840"/>
            <a:ext cx="548280" cy="5436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Text 4"/>
          <p:cNvSpPr/>
          <p:nvPr/>
        </p:nvSpPr>
        <p:spPr>
          <a:xfrm>
            <a:off x="457200" y="1783080"/>
            <a:ext cx="54860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1e293b"/>
                </a:solidFill>
                <a:latin typeface="Calibri"/>
                <a:ea typeface="Calibri"/>
              </a:rPr>
              <a:t>Skills, tools, and short achievements are naturally a </a:t>
            </a:r>
            <a:r>
              <a:rPr b="1" lang="en-US" sz="1500" spc="-1" strike="noStrike">
                <a:solidFill>
                  <a:srgbClr val="0d9488"/>
                </a:solidFill>
                <a:latin typeface="Calibri"/>
                <a:ea typeface="Calibri"/>
              </a:rPr>
              <a:t>list</a:t>
            </a:r>
            <a:r>
              <a:rPr b="0" lang="en-US" sz="1500" spc="-1" strike="noStrike">
                <a:solidFill>
                  <a:srgbClr val="1e293b"/>
                </a:solidFill>
                <a:latin typeface="Calibri"/>
                <a:ea typeface="Calibri"/>
              </a:rPr>
              <a:t> — not a single paragraph. HTML gives us two list types:</a:t>
            </a:r>
            <a:endParaRPr b="0" lang="en-PH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Shape 5"/>
          <p:cNvSpPr/>
          <p:nvPr/>
        </p:nvSpPr>
        <p:spPr>
          <a:xfrm>
            <a:off x="457200" y="2697480"/>
            <a:ext cx="5486040" cy="868320"/>
          </a:xfrm>
          <a:prstGeom prst="roundRect">
            <a:avLst>
              <a:gd name="adj" fmla="val 8421"/>
            </a:avLst>
          </a:prstGeom>
          <a:solidFill>
            <a:srgbClr val="f4f7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Text 6"/>
          <p:cNvSpPr/>
          <p:nvPr/>
        </p:nvSpPr>
        <p:spPr>
          <a:xfrm>
            <a:off x="640080" y="2788920"/>
            <a:ext cx="1462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d9488"/>
                </a:solidFill>
                <a:latin typeface="Courier New"/>
                <a:ea typeface="Courier New"/>
              </a:rPr>
              <a:t>&lt;ul&gt;</a:t>
            </a:r>
            <a:endParaRPr b="0" lang="en-PH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Text 7"/>
          <p:cNvSpPr/>
          <p:nvPr/>
        </p:nvSpPr>
        <p:spPr>
          <a:xfrm>
            <a:off x="640080" y="3108960"/>
            <a:ext cx="51202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64748b"/>
                </a:solidFill>
                <a:latin typeface="Calibri"/>
                <a:ea typeface="Calibri"/>
              </a:rPr>
              <a:t>Unordered list — bullet points. Best for skills, tools, hobbies (no ranking implied).</a:t>
            </a:r>
            <a:endParaRPr b="0" lang="en-PH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Shape 8"/>
          <p:cNvSpPr/>
          <p:nvPr/>
        </p:nvSpPr>
        <p:spPr>
          <a:xfrm>
            <a:off x="457200" y="3703320"/>
            <a:ext cx="5486040" cy="868320"/>
          </a:xfrm>
          <a:prstGeom prst="roundRect">
            <a:avLst>
              <a:gd name="adj" fmla="val 8421"/>
            </a:avLst>
          </a:prstGeom>
          <a:solidFill>
            <a:srgbClr val="f4f7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Text 9"/>
          <p:cNvSpPr/>
          <p:nvPr/>
        </p:nvSpPr>
        <p:spPr>
          <a:xfrm>
            <a:off x="640080" y="3794760"/>
            <a:ext cx="1462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d9488"/>
                </a:solidFill>
                <a:latin typeface="Courier New"/>
                <a:ea typeface="Courier New"/>
              </a:rPr>
              <a:t>&lt;ol&gt;</a:t>
            </a:r>
            <a:endParaRPr b="0" lang="en-PH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Text 10"/>
          <p:cNvSpPr/>
          <p:nvPr/>
        </p:nvSpPr>
        <p:spPr>
          <a:xfrm>
            <a:off x="640080" y="4114800"/>
            <a:ext cx="51202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64748b"/>
                </a:solidFill>
                <a:latin typeface="Calibri"/>
                <a:ea typeface="Calibri"/>
              </a:rPr>
              <a:t>Ordered list — numbered. Best for steps, or anything with a sequence.</a:t>
            </a:r>
            <a:endParaRPr b="0" lang="en-PH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Shape 11"/>
          <p:cNvSpPr/>
          <p:nvPr/>
        </p:nvSpPr>
        <p:spPr>
          <a:xfrm>
            <a:off x="457200" y="4709160"/>
            <a:ext cx="5486040" cy="868320"/>
          </a:xfrm>
          <a:prstGeom prst="roundRect">
            <a:avLst>
              <a:gd name="adj" fmla="val 8421"/>
            </a:avLst>
          </a:prstGeom>
          <a:solidFill>
            <a:srgbClr val="f4f7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Text 12"/>
          <p:cNvSpPr/>
          <p:nvPr/>
        </p:nvSpPr>
        <p:spPr>
          <a:xfrm>
            <a:off x="640080" y="4800600"/>
            <a:ext cx="1462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d9488"/>
                </a:solidFill>
                <a:latin typeface="Courier New"/>
                <a:ea typeface="Courier New"/>
              </a:rPr>
              <a:t>&lt;li&gt;</a:t>
            </a:r>
            <a:endParaRPr b="0" lang="en-PH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Text 13"/>
          <p:cNvSpPr/>
          <p:nvPr/>
        </p:nvSpPr>
        <p:spPr>
          <a:xfrm>
            <a:off x="640080" y="5120640"/>
            <a:ext cx="51202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64748b"/>
                </a:solidFill>
                <a:latin typeface="Calibri"/>
                <a:ea typeface="Calibri"/>
              </a:rPr>
              <a:t>List item — goes inside a &lt;ul&gt; or &lt;ol&gt;. One &lt;li&gt; per bullet/number.</a:t>
            </a:r>
            <a:endParaRPr b="0" lang="en-PH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Shape 14"/>
          <p:cNvSpPr/>
          <p:nvPr/>
        </p:nvSpPr>
        <p:spPr>
          <a:xfrm>
            <a:off x="6263640" y="1783080"/>
            <a:ext cx="5440320" cy="3062880"/>
          </a:xfrm>
          <a:prstGeom prst="roundRect">
            <a:avLst>
              <a:gd name="adj" fmla="val 2388"/>
            </a:avLst>
          </a:prstGeom>
          <a:solidFill>
            <a:srgbClr val="0f1b2d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Shape 15"/>
          <p:cNvSpPr/>
          <p:nvPr/>
        </p:nvSpPr>
        <p:spPr>
          <a:xfrm>
            <a:off x="6428160" y="1929240"/>
            <a:ext cx="109440" cy="109440"/>
          </a:xfrm>
          <a:prstGeom prst="ellipse">
            <a:avLst/>
          </a:prstGeom>
          <a:solidFill>
            <a:srgbClr val="ef44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Shape 16"/>
          <p:cNvSpPr/>
          <p:nvPr/>
        </p:nvSpPr>
        <p:spPr>
          <a:xfrm>
            <a:off x="6629400" y="1929240"/>
            <a:ext cx="109440" cy="109440"/>
          </a:xfrm>
          <a:prstGeom prst="ellipse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Shape 17"/>
          <p:cNvSpPr/>
          <p:nvPr/>
        </p:nvSpPr>
        <p:spPr>
          <a:xfrm>
            <a:off x="6830640" y="1929240"/>
            <a:ext cx="109440" cy="109440"/>
          </a:xfrm>
          <a:prstGeom prst="ellipse">
            <a:avLst/>
          </a:prstGeom>
          <a:solidFill>
            <a:srgbClr val="22c5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" name="Text 18"/>
          <p:cNvSpPr/>
          <p:nvPr/>
        </p:nvSpPr>
        <p:spPr>
          <a:xfrm>
            <a:off x="6537960" y="2167200"/>
            <a:ext cx="4891680" cy="251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e2e8f0"/>
                </a:solidFill>
                <a:latin typeface="Courier New"/>
                <a:ea typeface="Courier New"/>
              </a:rPr>
              <a:t>&lt;h3&gt;Skills&lt;/h3&gt;</a:t>
            </a:r>
            <a:endParaRPr b="0" lang="en-PH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5eead4"/>
                </a:solidFill>
                <a:latin typeface="Courier New"/>
                <a:ea typeface="Courier New"/>
              </a:rPr>
              <a:t>&lt;ul&gt;</a:t>
            </a:r>
            <a:endParaRPr b="0" lang="en-PH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e2e8f0"/>
                </a:solidFill>
                <a:latin typeface="Courier New"/>
                <a:ea typeface="Courier New"/>
              </a:rPr>
              <a:t>  </a:t>
            </a:r>
            <a:r>
              <a:rPr b="0" lang="en-US" sz="1300" spc="-1" strike="noStrike">
                <a:solidFill>
                  <a:srgbClr val="5eead4"/>
                </a:solidFill>
                <a:latin typeface="Courier New"/>
                <a:ea typeface="Courier New"/>
              </a:rPr>
              <a:t>&lt;li&gt;</a:t>
            </a:r>
            <a:r>
              <a:rPr b="0" lang="en-US" sz="1300" spc="-1" strike="noStrike">
                <a:solidFill>
                  <a:srgbClr val="e2e8f0"/>
                </a:solidFill>
                <a:latin typeface="Courier New"/>
                <a:ea typeface="Courier New"/>
              </a:rPr>
              <a:t>HTML &amp; CSS</a:t>
            </a:r>
            <a:r>
              <a:rPr b="0" lang="en-US" sz="1300" spc="-1" strike="noStrike">
                <a:solidFill>
                  <a:srgbClr val="5eead4"/>
                </a:solidFill>
                <a:latin typeface="Courier New"/>
                <a:ea typeface="Courier New"/>
              </a:rPr>
              <a:t>&lt;/li&gt;</a:t>
            </a:r>
            <a:endParaRPr b="0" lang="en-PH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e2e8f0"/>
                </a:solidFill>
                <a:latin typeface="Courier New"/>
                <a:ea typeface="Courier New"/>
              </a:rPr>
              <a:t>  </a:t>
            </a:r>
            <a:r>
              <a:rPr b="0" lang="en-US" sz="1300" spc="-1" strike="noStrike">
                <a:solidFill>
                  <a:srgbClr val="5eead4"/>
                </a:solidFill>
                <a:latin typeface="Courier New"/>
                <a:ea typeface="Courier New"/>
              </a:rPr>
              <a:t>&lt;li&gt;</a:t>
            </a:r>
            <a:r>
              <a:rPr b="0" lang="en-US" sz="1300" spc="-1" strike="noStrike">
                <a:solidFill>
                  <a:srgbClr val="e2e8f0"/>
                </a:solidFill>
                <a:latin typeface="Courier New"/>
                <a:ea typeface="Courier New"/>
              </a:rPr>
              <a:t>Canva Design</a:t>
            </a:r>
            <a:r>
              <a:rPr b="0" lang="en-US" sz="1300" spc="-1" strike="noStrike">
                <a:solidFill>
                  <a:srgbClr val="5eead4"/>
                </a:solidFill>
                <a:latin typeface="Courier New"/>
                <a:ea typeface="Courier New"/>
              </a:rPr>
              <a:t>&lt;/li&gt;</a:t>
            </a:r>
            <a:endParaRPr b="0" lang="en-PH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e2e8f0"/>
                </a:solidFill>
                <a:latin typeface="Courier New"/>
                <a:ea typeface="Courier New"/>
              </a:rPr>
              <a:t>  </a:t>
            </a:r>
            <a:r>
              <a:rPr b="0" lang="en-US" sz="1300" spc="-1" strike="noStrike">
                <a:solidFill>
                  <a:srgbClr val="5eead4"/>
                </a:solidFill>
                <a:latin typeface="Courier New"/>
                <a:ea typeface="Courier New"/>
              </a:rPr>
              <a:t>&lt;li&gt;</a:t>
            </a:r>
            <a:r>
              <a:rPr b="0" lang="en-US" sz="1300" spc="-1" strike="noStrike">
                <a:solidFill>
                  <a:srgbClr val="e2e8f0"/>
                </a:solidFill>
                <a:latin typeface="Courier New"/>
                <a:ea typeface="Courier New"/>
              </a:rPr>
              <a:t>MS Excel</a:t>
            </a:r>
            <a:r>
              <a:rPr b="0" lang="en-US" sz="1300" spc="-1" strike="noStrike">
                <a:solidFill>
                  <a:srgbClr val="5eead4"/>
                </a:solidFill>
                <a:latin typeface="Courier New"/>
                <a:ea typeface="Courier New"/>
              </a:rPr>
              <a:t>&lt;/li&gt;</a:t>
            </a:r>
            <a:endParaRPr b="0" lang="en-PH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5eead4"/>
                </a:solidFill>
                <a:latin typeface="Courier New"/>
                <a:ea typeface="Courier New"/>
              </a:rPr>
              <a:t>&lt;/ul&gt;</a:t>
            </a:r>
            <a:endParaRPr b="0" lang="en-PH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Shape 19"/>
          <p:cNvSpPr/>
          <p:nvPr/>
        </p:nvSpPr>
        <p:spPr>
          <a:xfrm>
            <a:off x="6263640" y="5029200"/>
            <a:ext cx="5440320" cy="137124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Text 20"/>
          <p:cNvSpPr/>
          <p:nvPr/>
        </p:nvSpPr>
        <p:spPr>
          <a:xfrm>
            <a:off x="6492240" y="5120640"/>
            <a:ext cx="2742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33a61"/>
                </a:solidFill>
                <a:latin typeface="Calibri"/>
                <a:ea typeface="Calibri"/>
              </a:rPr>
              <a:t>Skills</a:t>
            </a:r>
            <a:endParaRPr b="0" lang="en-PH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Text 21"/>
          <p:cNvSpPr/>
          <p:nvPr/>
        </p:nvSpPr>
        <p:spPr>
          <a:xfrm>
            <a:off x="6583680" y="5486400"/>
            <a:ext cx="49374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Calibri"/>
              </a:rPr>
              <a:t>HTML &amp; CSS</a:t>
            </a:r>
            <a:endParaRPr b="0" lang="en-PH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Calibri"/>
              </a:rPr>
              <a:t>Canva Design</a:t>
            </a:r>
            <a:endParaRPr b="0" lang="en-PH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1e293b"/>
                </a:solidFill>
                <a:latin typeface="Calibri"/>
                <a:ea typeface="Calibri"/>
              </a:rPr>
              <a:t>MS Excel</a:t>
            </a:r>
            <a:endParaRPr b="0" lang="en-PH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Text 22"/>
          <p:cNvSpPr/>
          <p:nvPr/>
        </p:nvSpPr>
        <p:spPr>
          <a:xfrm>
            <a:off x="11612880" y="6446520"/>
            <a:ext cx="456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  <a:ea typeface="Calibri"/>
              </a:rPr>
              <a:t>3</a:t>
            </a:r>
            <a:endParaRPr b="0" lang="en-PH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0"/>
          <p:cNvSpPr/>
          <p:nvPr/>
        </p:nvSpPr>
        <p:spPr>
          <a:xfrm>
            <a:off x="457200" y="411480"/>
            <a:ext cx="1737000" cy="3654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Text 1"/>
          <p:cNvSpPr/>
          <p:nvPr/>
        </p:nvSpPr>
        <p:spPr>
          <a:xfrm>
            <a:off x="457200" y="411480"/>
            <a:ext cx="1737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7" strike="noStrike">
                <a:solidFill>
                  <a:srgbClr val="ffffff"/>
                </a:solidFill>
                <a:latin typeface="Calibri"/>
                <a:ea typeface="Calibri"/>
              </a:rPr>
              <a:t>LISTS</a:t>
            </a:r>
            <a:endParaRPr b="0" lang="en-PH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Text 2"/>
          <p:cNvSpPr/>
          <p:nvPr/>
        </p:nvSpPr>
        <p:spPr>
          <a:xfrm>
            <a:off x="457200" y="86868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133a61"/>
                </a:solidFill>
                <a:latin typeface="Cambria"/>
                <a:ea typeface="Cambria"/>
              </a:rPr>
              <a:t>Nested Lists for Work Experience</a:t>
            </a:r>
            <a:endParaRPr b="0" lang="en-PH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Shape 3"/>
          <p:cNvSpPr/>
          <p:nvPr/>
        </p:nvSpPr>
        <p:spPr>
          <a:xfrm>
            <a:off x="457200" y="1572840"/>
            <a:ext cx="548280" cy="5436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Text 4"/>
          <p:cNvSpPr/>
          <p:nvPr/>
        </p:nvSpPr>
        <p:spPr>
          <a:xfrm>
            <a:off x="457200" y="1783080"/>
            <a:ext cx="5394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1e293b"/>
                </a:solidFill>
                <a:latin typeface="Calibri"/>
                <a:ea typeface="Calibri"/>
              </a:rPr>
              <a:t>Lists can go </a:t>
            </a:r>
            <a:r>
              <a:rPr b="0" i="1" lang="en-US" sz="1500" spc="-1" strike="noStrike">
                <a:solidFill>
                  <a:srgbClr val="1e293b"/>
                </a:solidFill>
                <a:latin typeface="Calibri"/>
                <a:ea typeface="Calibri"/>
              </a:rPr>
              <a:t>inside</a:t>
            </a:r>
            <a:r>
              <a:rPr b="0" lang="en-US" sz="1500" spc="-1" strike="noStrike">
                <a:solidFill>
                  <a:srgbClr val="1e293b"/>
                </a:solidFill>
                <a:latin typeface="Calibri"/>
                <a:ea typeface="Calibri"/>
              </a:rPr>
              <a:t> other lists. This is perfect for a job title with several bullet details underneath it.</a:t>
            </a:r>
            <a:endParaRPr b="0" lang="en-PH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Shape 5"/>
          <p:cNvSpPr/>
          <p:nvPr/>
        </p:nvSpPr>
        <p:spPr>
          <a:xfrm>
            <a:off x="457200" y="2697480"/>
            <a:ext cx="5394600" cy="3520080"/>
          </a:xfrm>
          <a:prstGeom prst="roundRect">
            <a:avLst>
              <a:gd name="adj" fmla="val 2078"/>
            </a:avLst>
          </a:prstGeom>
          <a:solidFill>
            <a:srgbClr val="f4f7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 6"/>
          <p:cNvSpPr/>
          <p:nvPr/>
        </p:nvSpPr>
        <p:spPr>
          <a:xfrm>
            <a:off x="685800" y="2880360"/>
            <a:ext cx="49374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d9488"/>
                </a:solidFill>
                <a:latin typeface="Calibri"/>
                <a:ea typeface="Calibri"/>
              </a:rPr>
              <a:t>Key idea</a:t>
            </a:r>
            <a:endParaRPr b="0" lang="en-PH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 7"/>
          <p:cNvSpPr/>
          <p:nvPr/>
        </p:nvSpPr>
        <p:spPr>
          <a:xfrm>
            <a:off x="685800" y="3291840"/>
            <a:ext cx="493740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1e293b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1e293b"/>
                </a:solidFill>
                <a:latin typeface="Calibri"/>
                <a:ea typeface="Calibri"/>
              </a:rPr>
              <a:t>A new &lt;ul&gt; placed between an opening and closing &lt;li&gt; creates a sub-list — indented bullets under one entry.</a:t>
            </a:r>
            <a:endParaRPr b="0" lang="en-PH" sz="1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1e293b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1e293b"/>
                </a:solidFill>
                <a:latin typeface="Calibri"/>
                <a:ea typeface="Calibri"/>
              </a:rPr>
              <a:t>Use this for: job title → sub-bullets of duties, or degree → sub-bullets of coursework.</a:t>
            </a:r>
            <a:endParaRPr b="0" lang="en-PH" sz="1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1e293b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1e293b"/>
                </a:solidFill>
                <a:latin typeface="Calibri"/>
                <a:ea typeface="Calibri"/>
              </a:rPr>
              <a:t>Don't overdo nesting — 2 levels deep is usually enough for a resume.</a:t>
            </a:r>
            <a:endParaRPr b="0" lang="en-PH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Shape 8"/>
          <p:cNvSpPr/>
          <p:nvPr/>
        </p:nvSpPr>
        <p:spPr>
          <a:xfrm>
            <a:off x="6263640" y="1783080"/>
            <a:ext cx="5440320" cy="4434480"/>
          </a:xfrm>
          <a:prstGeom prst="roundRect">
            <a:avLst>
              <a:gd name="adj" fmla="val 1649"/>
            </a:avLst>
          </a:prstGeom>
          <a:solidFill>
            <a:srgbClr val="0f1b2d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Shape 9"/>
          <p:cNvSpPr/>
          <p:nvPr/>
        </p:nvSpPr>
        <p:spPr>
          <a:xfrm>
            <a:off x="6428160" y="1929240"/>
            <a:ext cx="109440" cy="109440"/>
          </a:xfrm>
          <a:prstGeom prst="ellipse">
            <a:avLst/>
          </a:prstGeom>
          <a:solidFill>
            <a:srgbClr val="ef44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Shape 10"/>
          <p:cNvSpPr/>
          <p:nvPr/>
        </p:nvSpPr>
        <p:spPr>
          <a:xfrm>
            <a:off x="6629400" y="1929240"/>
            <a:ext cx="109440" cy="109440"/>
          </a:xfrm>
          <a:prstGeom prst="ellipse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Shape 11"/>
          <p:cNvSpPr/>
          <p:nvPr/>
        </p:nvSpPr>
        <p:spPr>
          <a:xfrm>
            <a:off x="6830640" y="1929240"/>
            <a:ext cx="109440" cy="109440"/>
          </a:xfrm>
          <a:prstGeom prst="ellipse">
            <a:avLst/>
          </a:prstGeom>
          <a:solidFill>
            <a:srgbClr val="22c5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Text 12"/>
          <p:cNvSpPr/>
          <p:nvPr/>
        </p:nvSpPr>
        <p:spPr>
          <a:xfrm>
            <a:off x="6537960" y="2167200"/>
            <a:ext cx="4891680" cy="388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e2e8f0"/>
                </a:solidFill>
                <a:latin typeface="Courier New"/>
                <a:ea typeface="Courier New"/>
              </a:rPr>
              <a:t>&lt;h3&gt;Experience&lt;/h3&gt;</a:t>
            </a:r>
            <a:endParaRPr b="0" lang="en-PH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5eead4"/>
                </a:solidFill>
                <a:latin typeface="Courier New"/>
                <a:ea typeface="Courier New"/>
              </a:rPr>
              <a:t>&lt;ul&gt;</a:t>
            </a:r>
            <a:endParaRPr b="0" lang="en-PH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e2e8f0"/>
                </a:solidFill>
                <a:latin typeface="Courier New"/>
                <a:ea typeface="Courier New"/>
              </a:rPr>
              <a:t>  </a:t>
            </a:r>
            <a:r>
              <a:rPr b="0" lang="en-US" sz="1250" spc="-1" strike="noStrike">
                <a:solidFill>
                  <a:srgbClr val="5eead4"/>
                </a:solidFill>
                <a:latin typeface="Courier New"/>
                <a:ea typeface="Courier New"/>
              </a:rPr>
              <a:t>&lt;li&gt;</a:t>
            </a:r>
            <a:endParaRPr b="0" lang="en-PH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e2e8f0"/>
                </a:solidFill>
                <a:latin typeface="Courier New"/>
                <a:ea typeface="Courier New"/>
              </a:rPr>
              <a:t>    </a:t>
            </a:r>
            <a:r>
              <a:rPr b="0" lang="en-US" sz="1250" spc="-1" strike="noStrike">
                <a:solidFill>
                  <a:srgbClr val="e2e8f0"/>
                </a:solidFill>
                <a:latin typeface="Courier New"/>
                <a:ea typeface="Courier New"/>
              </a:rPr>
              <a:t>Barista, </a:t>
            </a:r>
            <a:endParaRPr b="0" lang="en-PH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e2e8f0"/>
                </a:solidFill>
                <a:latin typeface="Courier New"/>
                <a:ea typeface="Courier New"/>
              </a:rPr>
              <a:t>    </a:t>
            </a:r>
            <a:r>
              <a:rPr b="0" lang="en-US" sz="1250" spc="-1" strike="noStrike">
                <a:solidFill>
                  <a:srgbClr val="e2e8f0"/>
                </a:solidFill>
                <a:latin typeface="Courier New"/>
                <a:ea typeface="Courier New"/>
              </a:rPr>
              <a:t>Sunrise Cafe (2023–2025)</a:t>
            </a:r>
            <a:endParaRPr b="0" lang="en-PH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e2e8f0"/>
                </a:solidFill>
                <a:latin typeface="Courier New"/>
                <a:ea typeface="Courier New"/>
              </a:rPr>
              <a:t>    </a:t>
            </a:r>
            <a:r>
              <a:rPr b="0" lang="en-US" sz="1250" spc="-1" strike="noStrike">
                <a:solidFill>
                  <a:srgbClr val="5eead4"/>
                </a:solidFill>
                <a:latin typeface="Courier New"/>
                <a:ea typeface="Courier New"/>
              </a:rPr>
              <a:t>&lt;ul&gt;</a:t>
            </a:r>
            <a:endParaRPr b="0" lang="en-PH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e2e8f0"/>
                </a:solidFill>
                <a:latin typeface="Courier New"/>
                <a:ea typeface="Courier New"/>
              </a:rPr>
              <a:t>      </a:t>
            </a:r>
            <a:r>
              <a:rPr b="0" lang="en-US" sz="1250" spc="-1" strike="noStrike">
                <a:solidFill>
                  <a:srgbClr val="5eead4"/>
                </a:solidFill>
                <a:latin typeface="Courier New"/>
                <a:ea typeface="Courier New"/>
              </a:rPr>
              <a:t>&lt;li&gt;</a:t>
            </a:r>
            <a:r>
              <a:rPr b="0" lang="en-US" sz="1250" spc="-1" strike="noStrike">
                <a:solidFill>
                  <a:srgbClr val="e2e8f0"/>
                </a:solidFill>
                <a:latin typeface="Courier New"/>
                <a:ea typeface="Courier New"/>
              </a:rPr>
              <a:t>Trained 4 new staff</a:t>
            </a:r>
            <a:r>
              <a:rPr b="0" lang="en-US" sz="1250" spc="-1" strike="noStrike">
                <a:solidFill>
                  <a:srgbClr val="5eead4"/>
                </a:solidFill>
                <a:latin typeface="Courier New"/>
                <a:ea typeface="Courier New"/>
              </a:rPr>
              <a:t>&lt;/li&gt;</a:t>
            </a:r>
            <a:endParaRPr b="0" lang="en-PH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e2e8f0"/>
                </a:solidFill>
                <a:latin typeface="Courier New"/>
                <a:ea typeface="Courier New"/>
              </a:rPr>
              <a:t>      </a:t>
            </a:r>
            <a:r>
              <a:rPr b="0" lang="en-US" sz="1250" spc="-1" strike="noStrike">
                <a:solidFill>
                  <a:srgbClr val="5eead4"/>
                </a:solidFill>
                <a:latin typeface="Courier New"/>
                <a:ea typeface="Courier New"/>
              </a:rPr>
              <a:t>&lt;li&gt;</a:t>
            </a:r>
            <a:r>
              <a:rPr b="0" lang="en-US" sz="1250" spc="-1" strike="noStrike">
                <a:solidFill>
                  <a:srgbClr val="e2e8f0"/>
                </a:solidFill>
                <a:latin typeface="Courier New"/>
                <a:ea typeface="Courier New"/>
              </a:rPr>
              <a:t>Managed daily inventory</a:t>
            </a:r>
            <a:r>
              <a:rPr b="0" lang="en-US" sz="1250" spc="-1" strike="noStrike">
                <a:solidFill>
                  <a:srgbClr val="5eead4"/>
                </a:solidFill>
                <a:latin typeface="Courier New"/>
                <a:ea typeface="Courier New"/>
              </a:rPr>
              <a:t>&lt;/li&gt;</a:t>
            </a:r>
            <a:endParaRPr b="0" lang="en-PH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e2e8f0"/>
                </a:solidFill>
                <a:latin typeface="Courier New"/>
                <a:ea typeface="Courier New"/>
              </a:rPr>
              <a:t>    </a:t>
            </a:r>
            <a:r>
              <a:rPr b="0" lang="en-US" sz="1250" spc="-1" strike="noStrike">
                <a:solidFill>
                  <a:srgbClr val="5eead4"/>
                </a:solidFill>
                <a:latin typeface="Courier New"/>
                <a:ea typeface="Courier New"/>
              </a:rPr>
              <a:t>&lt;/ul&gt;</a:t>
            </a:r>
            <a:endParaRPr b="0" lang="en-PH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e2e8f0"/>
                </a:solidFill>
                <a:latin typeface="Courier New"/>
                <a:ea typeface="Courier New"/>
              </a:rPr>
              <a:t>  </a:t>
            </a:r>
            <a:r>
              <a:rPr b="0" lang="en-US" sz="1250" spc="-1" strike="noStrike">
                <a:solidFill>
                  <a:srgbClr val="5eead4"/>
                </a:solidFill>
                <a:latin typeface="Courier New"/>
                <a:ea typeface="Courier New"/>
              </a:rPr>
              <a:t>&lt;/li&gt;</a:t>
            </a:r>
            <a:endParaRPr b="0" lang="en-PH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5eead4"/>
                </a:solidFill>
                <a:latin typeface="Courier New"/>
                <a:ea typeface="Courier New"/>
              </a:rPr>
              <a:t>&lt;/ul&gt;</a:t>
            </a:r>
            <a:endParaRPr b="0" lang="en-PH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Text 13"/>
          <p:cNvSpPr/>
          <p:nvPr/>
        </p:nvSpPr>
        <p:spPr>
          <a:xfrm>
            <a:off x="11612880" y="6446520"/>
            <a:ext cx="456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  <a:ea typeface="Calibri"/>
              </a:rPr>
              <a:t>4</a:t>
            </a:r>
            <a:endParaRPr b="0" lang="en-PH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hape 0"/>
          <p:cNvSpPr/>
          <p:nvPr/>
        </p:nvSpPr>
        <p:spPr>
          <a:xfrm>
            <a:off x="457200" y="411480"/>
            <a:ext cx="1737000" cy="3654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Text 1"/>
          <p:cNvSpPr/>
          <p:nvPr/>
        </p:nvSpPr>
        <p:spPr>
          <a:xfrm>
            <a:off x="457200" y="411480"/>
            <a:ext cx="1737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7" strike="noStrike">
                <a:solidFill>
                  <a:srgbClr val="ffffff"/>
                </a:solidFill>
                <a:latin typeface="Calibri"/>
                <a:ea typeface="Calibri"/>
              </a:rPr>
              <a:t>STRUCTURE</a:t>
            </a:r>
            <a:endParaRPr b="0" lang="en-PH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Text 2"/>
          <p:cNvSpPr/>
          <p:nvPr/>
        </p:nvSpPr>
        <p:spPr>
          <a:xfrm>
            <a:off x="457200" y="86868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133a61"/>
                </a:solidFill>
                <a:latin typeface="Cambria"/>
                <a:ea typeface="Cambria"/>
              </a:rPr>
              <a:t>Grouping Content: &lt;div&gt; and &lt;section&gt;</a:t>
            </a:r>
            <a:endParaRPr b="0" lang="en-PH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Shape 3"/>
          <p:cNvSpPr/>
          <p:nvPr/>
        </p:nvSpPr>
        <p:spPr>
          <a:xfrm>
            <a:off x="457200" y="1572840"/>
            <a:ext cx="548280" cy="54360"/>
          </a:xfrm>
          <a:prstGeom prst="rect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Shape 4"/>
          <p:cNvSpPr/>
          <p:nvPr/>
        </p:nvSpPr>
        <p:spPr>
          <a:xfrm>
            <a:off x="457200" y="1783080"/>
            <a:ext cx="5440320" cy="1737000"/>
          </a:xfrm>
          <a:prstGeom prst="roundRect">
            <a:avLst>
              <a:gd name="adj" fmla="val 4211"/>
            </a:avLst>
          </a:prstGeom>
          <a:solidFill>
            <a:srgbClr val="f4f7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Text 5"/>
          <p:cNvSpPr/>
          <p:nvPr/>
        </p:nvSpPr>
        <p:spPr>
          <a:xfrm>
            <a:off x="685800" y="1920240"/>
            <a:ext cx="49374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7c3aed"/>
                </a:solidFill>
                <a:latin typeface="Courier New"/>
                <a:ea typeface="Courier New"/>
              </a:rPr>
              <a:t>&lt;div&gt;</a:t>
            </a:r>
            <a:endParaRPr b="0" lang="en-PH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 6"/>
          <p:cNvSpPr/>
          <p:nvPr/>
        </p:nvSpPr>
        <p:spPr>
          <a:xfrm>
            <a:off x="685800" y="2377440"/>
            <a:ext cx="49374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e293b"/>
                </a:solidFill>
                <a:latin typeface="Calibri"/>
                <a:ea typeface="Calibri"/>
              </a:rPr>
              <a:t>A generic, invisible box with no special meaning. Used to group elements together so they can be styled or positioned as one unit.</a:t>
            </a:r>
            <a:endParaRPr b="0" lang="en-PH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Shape 7"/>
          <p:cNvSpPr/>
          <p:nvPr/>
        </p:nvSpPr>
        <p:spPr>
          <a:xfrm>
            <a:off x="6263640" y="1783080"/>
            <a:ext cx="5440320" cy="1737000"/>
          </a:xfrm>
          <a:prstGeom prst="roundRect">
            <a:avLst>
              <a:gd name="adj" fmla="val 4211"/>
            </a:avLst>
          </a:prstGeom>
          <a:solidFill>
            <a:srgbClr val="f4f7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Text 8"/>
          <p:cNvSpPr/>
          <p:nvPr/>
        </p:nvSpPr>
        <p:spPr>
          <a:xfrm>
            <a:off x="6492240" y="1920240"/>
            <a:ext cx="49374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7c3aed"/>
                </a:solidFill>
                <a:latin typeface="Courier New"/>
                <a:ea typeface="Courier New"/>
              </a:rPr>
              <a:t>&lt;section&gt;</a:t>
            </a:r>
            <a:endParaRPr b="0" lang="en-PH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 9"/>
          <p:cNvSpPr/>
          <p:nvPr/>
        </p:nvSpPr>
        <p:spPr>
          <a:xfrm>
            <a:off x="6492240" y="2377440"/>
            <a:ext cx="49374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e293b"/>
                </a:solidFill>
                <a:latin typeface="Calibri"/>
                <a:ea typeface="Calibri"/>
              </a:rPr>
              <a:t>Like a div, but signals meaning: 'this is a distinct part of the page,' e.g. Experience, Education, or Contact. Better for organization &amp; accessibility.</a:t>
            </a:r>
            <a:endParaRPr b="0" lang="en-PH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Text 10"/>
          <p:cNvSpPr/>
          <p:nvPr/>
        </p:nvSpPr>
        <p:spPr>
          <a:xfrm>
            <a:off x="457200" y="361188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33a61"/>
                </a:solidFill>
                <a:latin typeface="Calibri"/>
                <a:ea typeface="Calibri"/>
              </a:rPr>
              <a:t>A resume built from sections:</a:t>
            </a:r>
            <a:endParaRPr b="0" lang="en-PH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Shape 11"/>
          <p:cNvSpPr/>
          <p:nvPr/>
        </p:nvSpPr>
        <p:spPr>
          <a:xfrm>
            <a:off x="457200" y="3977640"/>
            <a:ext cx="11246760" cy="2514240"/>
          </a:xfrm>
          <a:prstGeom prst="roundRect">
            <a:avLst>
              <a:gd name="adj" fmla="val 2909"/>
            </a:avLst>
          </a:prstGeom>
          <a:solidFill>
            <a:srgbClr val="0f1b2d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Shape 12"/>
          <p:cNvSpPr/>
          <p:nvPr/>
        </p:nvSpPr>
        <p:spPr>
          <a:xfrm>
            <a:off x="621720" y="4123800"/>
            <a:ext cx="109440" cy="109440"/>
          </a:xfrm>
          <a:prstGeom prst="ellipse">
            <a:avLst/>
          </a:prstGeom>
          <a:solidFill>
            <a:srgbClr val="ef44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Shape 13"/>
          <p:cNvSpPr/>
          <p:nvPr/>
        </p:nvSpPr>
        <p:spPr>
          <a:xfrm>
            <a:off x="822960" y="4123800"/>
            <a:ext cx="109440" cy="109440"/>
          </a:xfrm>
          <a:prstGeom prst="ellipse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Shape 14"/>
          <p:cNvSpPr/>
          <p:nvPr/>
        </p:nvSpPr>
        <p:spPr>
          <a:xfrm>
            <a:off x="1024200" y="4123800"/>
            <a:ext cx="109440" cy="109440"/>
          </a:xfrm>
          <a:prstGeom prst="ellipse">
            <a:avLst/>
          </a:prstGeom>
          <a:solidFill>
            <a:srgbClr val="22c5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Text 15"/>
          <p:cNvSpPr/>
          <p:nvPr/>
        </p:nvSpPr>
        <p:spPr>
          <a:xfrm>
            <a:off x="731520" y="4361760"/>
            <a:ext cx="10698120" cy="196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5eead4"/>
                </a:solidFill>
                <a:latin typeface="Courier New"/>
                <a:ea typeface="Courier New"/>
              </a:rPr>
              <a:t>&lt;div</a:t>
            </a:r>
            <a:r>
              <a:rPr b="0" lang="en-US" sz="1350" spc="-1" strike="noStrike">
                <a:solidFill>
                  <a:srgbClr val="fbbf24"/>
                </a:solidFill>
                <a:latin typeface="Courier New"/>
                <a:ea typeface="Courier New"/>
              </a:rPr>
              <a:t> class=</a:t>
            </a:r>
            <a:r>
              <a:rPr b="0" lang="en-US" sz="1350" spc="-1" strike="noStrike">
                <a:solidFill>
                  <a:srgbClr val="86efac"/>
                </a:solidFill>
                <a:latin typeface="Courier New"/>
                <a:ea typeface="Courier New"/>
              </a:rPr>
              <a:t>"resume"</a:t>
            </a:r>
            <a:r>
              <a:rPr b="0" lang="en-US" sz="1350" spc="-1" strike="noStrike">
                <a:solidFill>
                  <a:srgbClr val="5eead4"/>
                </a:solidFill>
                <a:latin typeface="Courier New"/>
                <a:ea typeface="Courier New"/>
              </a:rPr>
              <a:t>&gt;</a:t>
            </a:r>
            <a:endParaRPr b="0" lang="en-PH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e2e8f0"/>
                </a:solidFill>
                <a:latin typeface="Courier New"/>
                <a:ea typeface="Courier New"/>
              </a:rPr>
              <a:t>  </a:t>
            </a:r>
            <a:r>
              <a:rPr b="0" lang="en-US" sz="1350" spc="-1" strike="noStrike">
                <a:solidFill>
                  <a:srgbClr val="5eead4"/>
                </a:solidFill>
                <a:latin typeface="Courier New"/>
                <a:ea typeface="Courier New"/>
              </a:rPr>
              <a:t>&lt;section</a:t>
            </a:r>
            <a:r>
              <a:rPr b="0" lang="en-US" sz="1350" spc="-1" strike="noStrike">
                <a:solidFill>
                  <a:srgbClr val="fbbf24"/>
                </a:solidFill>
                <a:latin typeface="Courier New"/>
                <a:ea typeface="Courier New"/>
              </a:rPr>
              <a:t> class=</a:t>
            </a:r>
            <a:r>
              <a:rPr b="0" lang="en-US" sz="1350" spc="-1" strike="noStrike">
                <a:solidFill>
                  <a:srgbClr val="86efac"/>
                </a:solidFill>
                <a:latin typeface="Courier New"/>
                <a:ea typeface="Courier New"/>
              </a:rPr>
              <a:t>"education"</a:t>
            </a:r>
            <a:r>
              <a:rPr b="0" lang="en-US" sz="1350" spc="-1" strike="noStrike">
                <a:solidFill>
                  <a:srgbClr val="5eead4"/>
                </a:solidFill>
                <a:latin typeface="Courier New"/>
                <a:ea typeface="Courier New"/>
              </a:rPr>
              <a:t>&gt;</a:t>
            </a:r>
            <a:endParaRPr b="0" lang="en-PH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e2e8f0"/>
                </a:solidFill>
                <a:latin typeface="Courier New"/>
                <a:ea typeface="Courier New"/>
              </a:rPr>
              <a:t>    </a:t>
            </a:r>
            <a:r>
              <a:rPr b="0" lang="en-US" sz="1350" spc="-1" strike="noStrike">
                <a:solidFill>
                  <a:srgbClr val="5eead4"/>
                </a:solidFill>
                <a:latin typeface="Courier New"/>
                <a:ea typeface="Courier New"/>
              </a:rPr>
              <a:t>&lt;h2&gt;</a:t>
            </a:r>
            <a:r>
              <a:rPr b="0" lang="en-US" sz="1350" spc="-1" strike="noStrike">
                <a:solidFill>
                  <a:srgbClr val="e2e8f0"/>
                </a:solidFill>
                <a:latin typeface="Courier New"/>
                <a:ea typeface="Courier New"/>
              </a:rPr>
              <a:t>Education</a:t>
            </a:r>
            <a:r>
              <a:rPr b="0" lang="en-US" sz="1350" spc="-1" strike="noStrike">
                <a:solidFill>
                  <a:srgbClr val="5eead4"/>
                </a:solidFill>
                <a:latin typeface="Courier New"/>
                <a:ea typeface="Courier New"/>
              </a:rPr>
              <a:t>&lt;/h2&gt;</a:t>
            </a:r>
            <a:r>
              <a:rPr b="0" lang="en-US" sz="1350" spc="-1" strike="noStrike">
                <a:solidFill>
                  <a:srgbClr val="e2e8f0"/>
                </a:solidFill>
                <a:latin typeface="Courier New"/>
                <a:ea typeface="Courier New"/>
              </a:rPr>
              <a:t>  </a:t>
            </a:r>
            <a:r>
              <a:rPr b="0" lang="en-US" sz="1350" spc="-1" strike="noStrike">
                <a:solidFill>
                  <a:srgbClr val="64748b"/>
                </a:solidFill>
                <a:latin typeface="Courier New"/>
                <a:ea typeface="Courier New"/>
              </a:rPr>
              <a:t>&lt;!-- content here --&gt;</a:t>
            </a:r>
            <a:endParaRPr b="0" lang="en-PH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e2e8f0"/>
                </a:solidFill>
                <a:latin typeface="Courier New"/>
                <a:ea typeface="Courier New"/>
              </a:rPr>
              <a:t>  </a:t>
            </a:r>
            <a:r>
              <a:rPr b="0" lang="en-US" sz="1350" spc="-1" strike="noStrike">
                <a:solidFill>
                  <a:srgbClr val="5eead4"/>
                </a:solidFill>
                <a:latin typeface="Courier New"/>
                <a:ea typeface="Courier New"/>
              </a:rPr>
              <a:t>&lt;/section&gt;</a:t>
            </a:r>
            <a:endParaRPr b="0" lang="en-PH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e2e8f0"/>
                </a:solidFill>
                <a:latin typeface="Courier New"/>
                <a:ea typeface="Courier New"/>
              </a:rPr>
              <a:t>  </a:t>
            </a:r>
            <a:r>
              <a:rPr b="0" lang="en-US" sz="1350" spc="-1" strike="noStrike">
                <a:solidFill>
                  <a:srgbClr val="5eead4"/>
                </a:solidFill>
                <a:latin typeface="Courier New"/>
                <a:ea typeface="Courier New"/>
              </a:rPr>
              <a:t>&lt;section</a:t>
            </a:r>
            <a:r>
              <a:rPr b="0" lang="en-US" sz="1350" spc="-1" strike="noStrike">
                <a:solidFill>
                  <a:srgbClr val="fbbf24"/>
                </a:solidFill>
                <a:latin typeface="Courier New"/>
                <a:ea typeface="Courier New"/>
              </a:rPr>
              <a:t> class=</a:t>
            </a:r>
            <a:r>
              <a:rPr b="0" lang="en-US" sz="1350" spc="-1" strike="noStrike">
                <a:solidFill>
                  <a:srgbClr val="86efac"/>
                </a:solidFill>
                <a:latin typeface="Courier New"/>
                <a:ea typeface="Courier New"/>
              </a:rPr>
              <a:t>"experience"</a:t>
            </a:r>
            <a:r>
              <a:rPr b="0" lang="en-US" sz="1350" spc="-1" strike="noStrike">
                <a:solidFill>
                  <a:srgbClr val="5eead4"/>
                </a:solidFill>
                <a:latin typeface="Courier New"/>
                <a:ea typeface="Courier New"/>
              </a:rPr>
              <a:t>&gt;</a:t>
            </a:r>
            <a:endParaRPr b="0" lang="en-PH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e2e8f0"/>
                </a:solidFill>
                <a:latin typeface="Courier New"/>
                <a:ea typeface="Courier New"/>
              </a:rPr>
              <a:t>    </a:t>
            </a:r>
            <a:r>
              <a:rPr b="0" lang="en-US" sz="1350" spc="-1" strike="noStrike">
                <a:solidFill>
                  <a:srgbClr val="5eead4"/>
                </a:solidFill>
                <a:latin typeface="Courier New"/>
                <a:ea typeface="Courier New"/>
              </a:rPr>
              <a:t>&lt;h2&gt;</a:t>
            </a:r>
            <a:r>
              <a:rPr b="0" lang="en-US" sz="1350" spc="-1" strike="noStrike">
                <a:solidFill>
                  <a:srgbClr val="e2e8f0"/>
                </a:solidFill>
                <a:latin typeface="Courier New"/>
                <a:ea typeface="Courier New"/>
              </a:rPr>
              <a:t>Experience</a:t>
            </a:r>
            <a:r>
              <a:rPr b="0" lang="en-US" sz="1350" spc="-1" strike="noStrike">
                <a:solidFill>
                  <a:srgbClr val="5eead4"/>
                </a:solidFill>
                <a:latin typeface="Courier New"/>
                <a:ea typeface="Courier New"/>
              </a:rPr>
              <a:t>&lt;/h2&gt;</a:t>
            </a:r>
            <a:r>
              <a:rPr b="0" lang="en-US" sz="1350" spc="-1" strike="noStrike">
                <a:solidFill>
                  <a:srgbClr val="e2e8f0"/>
                </a:solidFill>
                <a:latin typeface="Courier New"/>
                <a:ea typeface="Courier New"/>
              </a:rPr>
              <a:t>  </a:t>
            </a:r>
            <a:r>
              <a:rPr b="0" lang="en-US" sz="1350" spc="-1" strike="noStrike">
                <a:solidFill>
                  <a:srgbClr val="64748b"/>
                </a:solidFill>
                <a:latin typeface="Courier New"/>
                <a:ea typeface="Courier New"/>
              </a:rPr>
              <a:t>&lt;!-- content here --&gt;</a:t>
            </a:r>
            <a:endParaRPr b="0" lang="en-PH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e2e8f0"/>
                </a:solidFill>
                <a:latin typeface="Courier New"/>
                <a:ea typeface="Courier New"/>
              </a:rPr>
              <a:t>  </a:t>
            </a:r>
            <a:r>
              <a:rPr b="0" lang="en-US" sz="1350" spc="-1" strike="noStrike">
                <a:solidFill>
                  <a:srgbClr val="5eead4"/>
                </a:solidFill>
                <a:latin typeface="Courier New"/>
                <a:ea typeface="Courier New"/>
              </a:rPr>
              <a:t>&lt;/section&gt;</a:t>
            </a:r>
            <a:endParaRPr b="0" lang="en-PH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5eead4"/>
                </a:solidFill>
                <a:latin typeface="Courier New"/>
                <a:ea typeface="Courier New"/>
              </a:rPr>
              <a:t>&lt;/div&gt;</a:t>
            </a:r>
            <a:endParaRPr b="0" lang="en-PH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Text 16"/>
          <p:cNvSpPr/>
          <p:nvPr/>
        </p:nvSpPr>
        <p:spPr>
          <a:xfrm>
            <a:off x="11612880" y="6446520"/>
            <a:ext cx="456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  <a:ea typeface="Calibri"/>
              </a:rPr>
              <a:t>5</a:t>
            </a:r>
            <a:endParaRPr b="0" lang="en-PH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Shape 0"/>
          <p:cNvSpPr/>
          <p:nvPr/>
        </p:nvSpPr>
        <p:spPr>
          <a:xfrm>
            <a:off x="457200" y="411480"/>
            <a:ext cx="1737000" cy="3654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Text 1"/>
          <p:cNvSpPr/>
          <p:nvPr/>
        </p:nvSpPr>
        <p:spPr>
          <a:xfrm>
            <a:off x="457200" y="411480"/>
            <a:ext cx="1737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7" strike="noStrike">
                <a:solidFill>
                  <a:srgbClr val="ffffff"/>
                </a:solidFill>
                <a:latin typeface="Calibri"/>
                <a:ea typeface="Calibri"/>
              </a:rPr>
              <a:t>TABLES</a:t>
            </a:r>
            <a:endParaRPr b="0" lang="en-PH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 2"/>
          <p:cNvSpPr/>
          <p:nvPr/>
        </p:nvSpPr>
        <p:spPr>
          <a:xfrm>
            <a:off x="457200" y="86868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133a61"/>
                </a:solidFill>
                <a:latin typeface="Cambria"/>
                <a:ea typeface="Cambria"/>
              </a:rPr>
              <a:t>Tables for Grid-Based Layout</a:t>
            </a:r>
            <a:endParaRPr b="0" lang="en-PH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Shape 3"/>
          <p:cNvSpPr/>
          <p:nvPr/>
        </p:nvSpPr>
        <p:spPr>
          <a:xfrm>
            <a:off x="457200" y="1572840"/>
            <a:ext cx="548280" cy="54360"/>
          </a:xfrm>
          <a:prstGeom prst="rect">
            <a:avLst/>
          </a:prstGeom>
          <a:solidFill>
            <a:srgbClr val="2563e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Text 4"/>
          <p:cNvSpPr/>
          <p:nvPr/>
        </p:nvSpPr>
        <p:spPr>
          <a:xfrm>
            <a:off x="457200" y="1783080"/>
            <a:ext cx="10972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1e293b"/>
                </a:solidFill>
                <a:latin typeface="Calibri"/>
                <a:ea typeface="Calibri"/>
              </a:rPr>
              <a:t>Some resumes use a table to line skills or dates up neatly in rows and columns.</a:t>
            </a:r>
            <a:endParaRPr b="0" lang="en-PH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Shape 5"/>
          <p:cNvSpPr/>
          <p:nvPr/>
        </p:nvSpPr>
        <p:spPr>
          <a:xfrm>
            <a:off x="457200" y="2377440"/>
            <a:ext cx="5440320" cy="685440"/>
          </a:xfrm>
          <a:prstGeom prst="roundRect">
            <a:avLst>
              <a:gd name="adj" fmla="val 10667"/>
            </a:avLst>
          </a:prstGeom>
          <a:solidFill>
            <a:srgbClr val="f4f7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 6"/>
          <p:cNvSpPr/>
          <p:nvPr/>
        </p:nvSpPr>
        <p:spPr>
          <a:xfrm>
            <a:off x="640080" y="2377440"/>
            <a:ext cx="15541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2563eb"/>
                </a:solidFill>
                <a:latin typeface="Courier New"/>
                <a:ea typeface="Courier New"/>
              </a:rPr>
              <a:t>&lt;table&gt;</a:t>
            </a:r>
            <a:endParaRPr b="0" lang="en-PH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 7"/>
          <p:cNvSpPr/>
          <p:nvPr/>
        </p:nvSpPr>
        <p:spPr>
          <a:xfrm>
            <a:off x="2103120" y="2377440"/>
            <a:ext cx="3657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64748b"/>
                </a:solidFill>
                <a:latin typeface="Calibri"/>
                <a:ea typeface="Calibri"/>
              </a:rPr>
              <a:t>The container for the whole grid</a:t>
            </a:r>
            <a:endParaRPr b="0" lang="en-PH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Shape 8"/>
          <p:cNvSpPr/>
          <p:nvPr/>
        </p:nvSpPr>
        <p:spPr>
          <a:xfrm>
            <a:off x="457200" y="3200400"/>
            <a:ext cx="5440320" cy="685440"/>
          </a:xfrm>
          <a:prstGeom prst="roundRect">
            <a:avLst>
              <a:gd name="adj" fmla="val 10667"/>
            </a:avLst>
          </a:prstGeom>
          <a:solidFill>
            <a:srgbClr val="f4f7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Text 9"/>
          <p:cNvSpPr/>
          <p:nvPr/>
        </p:nvSpPr>
        <p:spPr>
          <a:xfrm>
            <a:off x="640080" y="3200400"/>
            <a:ext cx="15541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2563eb"/>
                </a:solidFill>
                <a:latin typeface="Courier New"/>
                <a:ea typeface="Courier New"/>
              </a:rPr>
              <a:t>&lt;tr&gt;</a:t>
            </a:r>
            <a:endParaRPr b="0" lang="en-PH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 10"/>
          <p:cNvSpPr/>
          <p:nvPr/>
        </p:nvSpPr>
        <p:spPr>
          <a:xfrm>
            <a:off x="2103120" y="3200400"/>
            <a:ext cx="3657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64748b"/>
                </a:solidFill>
                <a:latin typeface="Calibri"/>
                <a:ea typeface="Calibri"/>
              </a:rPr>
              <a:t>Table row</a:t>
            </a:r>
            <a:endParaRPr b="0" lang="en-PH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Shape 11"/>
          <p:cNvSpPr/>
          <p:nvPr/>
        </p:nvSpPr>
        <p:spPr>
          <a:xfrm>
            <a:off x="457200" y="4023360"/>
            <a:ext cx="5440320" cy="685440"/>
          </a:xfrm>
          <a:prstGeom prst="roundRect">
            <a:avLst>
              <a:gd name="adj" fmla="val 10667"/>
            </a:avLst>
          </a:prstGeom>
          <a:solidFill>
            <a:srgbClr val="f4f7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Text 12"/>
          <p:cNvSpPr/>
          <p:nvPr/>
        </p:nvSpPr>
        <p:spPr>
          <a:xfrm>
            <a:off x="640080" y="4023360"/>
            <a:ext cx="15541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2563eb"/>
                </a:solidFill>
                <a:latin typeface="Courier New"/>
                <a:ea typeface="Courier New"/>
              </a:rPr>
              <a:t>&lt;th&gt;</a:t>
            </a:r>
            <a:endParaRPr b="0" lang="en-PH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Text 13"/>
          <p:cNvSpPr/>
          <p:nvPr/>
        </p:nvSpPr>
        <p:spPr>
          <a:xfrm>
            <a:off x="2103120" y="4023360"/>
            <a:ext cx="3657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64748b"/>
                </a:solidFill>
                <a:latin typeface="Calibri"/>
                <a:ea typeface="Calibri"/>
              </a:rPr>
              <a:t>Header cell — bold label at the top of a column</a:t>
            </a:r>
            <a:endParaRPr b="0" lang="en-PH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Shape 14"/>
          <p:cNvSpPr/>
          <p:nvPr/>
        </p:nvSpPr>
        <p:spPr>
          <a:xfrm>
            <a:off x="457200" y="4846320"/>
            <a:ext cx="5440320" cy="685440"/>
          </a:xfrm>
          <a:prstGeom prst="roundRect">
            <a:avLst>
              <a:gd name="adj" fmla="val 10667"/>
            </a:avLst>
          </a:prstGeom>
          <a:solidFill>
            <a:srgbClr val="f4f7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Text 15"/>
          <p:cNvSpPr/>
          <p:nvPr/>
        </p:nvSpPr>
        <p:spPr>
          <a:xfrm>
            <a:off x="640080" y="4846320"/>
            <a:ext cx="15541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2563eb"/>
                </a:solidFill>
                <a:latin typeface="Courier New"/>
                <a:ea typeface="Courier New"/>
              </a:rPr>
              <a:t>&lt;td&gt;</a:t>
            </a:r>
            <a:endParaRPr b="0" lang="en-PH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Text 16"/>
          <p:cNvSpPr/>
          <p:nvPr/>
        </p:nvSpPr>
        <p:spPr>
          <a:xfrm>
            <a:off x="2103120" y="4846320"/>
            <a:ext cx="3657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64748b"/>
                </a:solidFill>
                <a:latin typeface="Calibri"/>
                <a:ea typeface="Calibri"/>
              </a:rPr>
              <a:t>Standard data cell</a:t>
            </a:r>
            <a:endParaRPr b="0" lang="en-PH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Shape 17"/>
          <p:cNvSpPr/>
          <p:nvPr/>
        </p:nvSpPr>
        <p:spPr>
          <a:xfrm>
            <a:off x="6263640" y="1783080"/>
            <a:ext cx="5440320" cy="3428640"/>
          </a:xfrm>
          <a:prstGeom prst="roundRect">
            <a:avLst>
              <a:gd name="adj" fmla="val 2133"/>
            </a:avLst>
          </a:prstGeom>
          <a:solidFill>
            <a:srgbClr val="0f1b2d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Shape 18"/>
          <p:cNvSpPr/>
          <p:nvPr/>
        </p:nvSpPr>
        <p:spPr>
          <a:xfrm>
            <a:off x="6428160" y="1929240"/>
            <a:ext cx="109440" cy="109440"/>
          </a:xfrm>
          <a:prstGeom prst="ellipse">
            <a:avLst/>
          </a:prstGeom>
          <a:solidFill>
            <a:srgbClr val="ef44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Shape 19"/>
          <p:cNvSpPr/>
          <p:nvPr/>
        </p:nvSpPr>
        <p:spPr>
          <a:xfrm>
            <a:off x="6629400" y="1929240"/>
            <a:ext cx="109440" cy="109440"/>
          </a:xfrm>
          <a:prstGeom prst="ellipse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Shape 20"/>
          <p:cNvSpPr/>
          <p:nvPr/>
        </p:nvSpPr>
        <p:spPr>
          <a:xfrm>
            <a:off x="6830640" y="1929240"/>
            <a:ext cx="109440" cy="109440"/>
          </a:xfrm>
          <a:prstGeom prst="ellipse">
            <a:avLst/>
          </a:prstGeom>
          <a:solidFill>
            <a:srgbClr val="22c5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Text 21"/>
          <p:cNvSpPr/>
          <p:nvPr/>
        </p:nvSpPr>
        <p:spPr>
          <a:xfrm>
            <a:off x="6537960" y="2167200"/>
            <a:ext cx="4891680" cy="288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5eead4"/>
                </a:solidFill>
                <a:latin typeface="Courier New"/>
                <a:ea typeface="Courier New"/>
              </a:rPr>
              <a:t>&lt;table&gt;</a:t>
            </a:r>
            <a:endParaRPr b="0" lang="en-PH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e2e8f0"/>
                </a:solidFill>
                <a:latin typeface="Courier New"/>
                <a:ea typeface="Courier New"/>
              </a:rPr>
              <a:t>  </a:t>
            </a:r>
            <a:r>
              <a:rPr b="0" lang="en-US" sz="1200" spc="-1" strike="noStrike">
                <a:solidFill>
                  <a:srgbClr val="5eead4"/>
                </a:solidFill>
                <a:latin typeface="Courier New"/>
                <a:ea typeface="Courier New"/>
              </a:rPr>
              <a:t>&lt;tr&gt;</a:t>
            </a:r>
            <a:endParaRPr b="0" lang="en-PH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e2e8f0"/>
                </a:solidFill>
                <a:latin typeface="Courier New"/>
                <a:ea typeface="Courier New"/>
              </a:rPr>
              <a:t>    </a:t>
            </a:r>
            <a:r>
              <a:rPr b="0" lang="en-US" sz="1200" spc="-1" strike="noStrike">
                <a:solidFill>
                  <a:srgbClr val="5eead4"/>
                </a:solidFill>
                <a:latin typeface="Courier New"/>
                <a:ea typeface="Courier New"/>
              </a:rPr>
              <a:t>&lt;th&gt;</a:t>
            </a:r>
            <a:r>
              <a:rPr b="0" lang="en-US" sz="1200" spc="-1" strike="noStrike">
                <a:solidFill>
                  <a:srgbClr val="e2e8f0"/>
                </a:solidFill>
                <a:latin typeface="Courier New"/>
                <a:ea typeface="Courier New"/>
              </a:rPr>
              <a:t>Skill</a:t>
            </a:r>
            <a:r>
              <a:rPr b="0" lang="en-US" sz="1200" spc="-1" strike="noStrike">
                <a:solidFill>
                  <a:srgbClr val="5eead4"/>
                </a:solidFill>
                <a:latin typeface="Courier New"/>
                <a:ea typeface="Courier New"/>
              </a:rPr>
              <a:t>&lt;/th&gt;</a:t>
            </a:r>
            <a:endParaRPr b="0" lang="en-PH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e2e8f0"/>
                </a:solidFill>
                <a:latin typeface="Courier New"/>
                <a:ea typeface="Courier New"/>
              </a:rPr>
              <a:t>    </a:t>
            </a:r>
            <a:r>
              <a:rPr b="0" lang="en-US" sz="1200" spc="-1" strike="noStrike">
                <a:solidFill>
                  <a:srgbClr val="5eead4"/>
                </a:solidFill>
                <a:latin typeface="Courier New"/>
                <a:ea typeface="Courier New"/>
              </a:rPr>
              <a:t>&lt;th&gt;</a:t>
            </a:r>
            <a:r>
              <a:rPr b="0" lang="en-US" sz="1200" spc="-1" strike="noStrike">
                <a:solidFill>
                  <a:srgbClr val="e2e8f0"/>
                </a:solidFill>
                <a:latin typeface="Courier New"/>
                <a:ea typeface="Courier New"/>
              </a:rPr>
              <a:t>Level</a:t>
            </a:r>
            <a:r>
              <a:rPr b="0" lang="en-US" sz="1200" spc="-1" strike="noStrike">
                <a:solidFill>
                  <a:srgbClr val="5eead4"/>
                </a:solidFill>
                <a:latin typeface="Courier New"/>
                <a:ea typeface="Courier New"/>
              </a:rPr>
              <a:t>&lt;/th&gt;</a:t>
            </a:r>
            <a:endParaRPr b="0" lang="en-PH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e2e8f0"/>
                </a:solidFill>
                <a:latin typeface="Courier New"/>
                <a:ea typeface="Courier New"/>
              </a:rPr>
              <a:t>  </a:t>
            </a:r>
            <a:r>
              <a:rPr b="0" lang="en-US" sz="1200" spc="-1" strike="noStrike">
                <a:solidFill>
                  <a:srgbClr val="5eead4"/>
                </a:solidFill>
                <a:latin typeface="Courier New"/>
                <a:ea typeface="Courier New"/>
              </a:rPr>
              <a:t>&lt;/tr&gt;</a:t>
            </a:r>
            <a:endParaRPr b="0" lang="en-PH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e2e8f0"/>
                </a:solidFill>
                <a:latin typeface="Courier New"/>
                <a:ea typeface="Courier New"/>
              </a:rPr>
              <a:t>  </a:t>
            </a:r>
            <a:r>
              <a:rPr b="0" lang="en-US" sz="1200" spc="-1" strike="noStrike">
                <a:solidFill>
                  <a:srgbClr val="5eead4"/>
                </a:solidFill>
                <a:latin typeface="Courier New"/>
                <a:ea typeface="Courier New"/>
              </a:rPr>
              <a:t>&lt;tr&gt;</a:t>
            </a:r>
            <a:endParaRPr b="0" lang="en-PH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e2e8f0"/>
                </a:solidFill>
                <a:latin typeface="Courier New"/>
                <a:ea typeface="Courier New"/>
              </a:rPr>
              <a:t>    </a:t>
            </a:r>
            <a:r>
              <a:rPr b="0" lang="en-US" sz="1200" spc="-1" strike="noStrike">
                <a:solidFill>
                  <a:srgbClr val="5eead4"/>
                </a:solidFill>
                <a:latin typeface="Courier New"/>
                <a:ea typeface="Courier New"/>
              </a:rPr>
              <a:t>&lt;td&gt;</a:t>
            </a:r>
            <a:r>
              <a:rPr b="0" lang="en-US" sz="1200" spc="-1" strike="noStrike">
                <a:solidFill>
                  <a:srgbClr val="e2e8f0"/>
                </a:solidFill>
                <a:latin typeface="Courier New"/>
                <a:ea typeface="Courier New"/>
              </a:rPr>
              <a:t>HTML</a:t>
            </a:r>
            <a:r>
              <a:rPr b="0" lang="en-US" sz="1200" spc="-1" strike="noStrike">
                <a:solidFill>
                  <a:srgbClr val="5eead4"/>
                </a:solidFill>
                <a:latin typeface="Courier New"/>
                <a:ea typeface="Courier New"/>
              </a:rPr>
              <a:t>&lt;/td&gt;</a:t>
            </a:r>
            <a:endParaRPr b="0" lang="en-PH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e2e8f0"/>
                </a:solidFill>
                <a:latin typeface="Courier New"/>
                <a:ea typeface="Courier New"/>
              </a:rPr>
              <a:t>    </a:t>
            </a:r>
            <a:r>
              <a:rPr b="0" lang="en-US" sz="1200" spc="-1" strike="noStrike">
                <a:solidFill>
                  <a:srgbClr val="5eead4"/>
                </a:solidFill>
                <a:latin typeface="Courier New"/>
                <a:ea typeface="Courier New"/>
              </a:rPr>
              <a:t>&lt;td&gt;</a:t>
            </a:r>
            <a:r>
              <a:rPr b="0" lang="en-US" sz="1200" spc="-1" strike="noStrike">
                <a:solidFill>
                  <a:srgbClr val="e2e8f0"/>
                </a:solidFill>
                <a:latin typeface="Courier New"/>
                <a:ea typeface="Courier New"/>
              </a:rPr>
              <a:t>Intermediate</a:t>
            </a:r>
            <a:r>
              <a:rPr b="0" lang="en-US" sz="1200" spc="-1" strike="noStrike">
                <a:solidFill>
                  <a:srgbClr val="5eead4"/>
                </a:solidFill>
                <a:latin typeface="Courier New"/>
                <a:ea typeface="Courier New"/>
              </a:rPr>
              <a:t>&lt;/td&gt;</a:t>
            </a:r>
            <a:endParaRPr b="0" lang="en-PH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e2e8f0"/>
                </a:solidFill>
                <a:latin typeface="Courier New"/>
                <a:ea typeface="Courier New"/>
              </a:rPr>
              <a:t>  </a:t>
            </a:r>
            <a:r>
              <a:rPr b="0" lang="en-US" sz="1200" spc="-1" strike="noStrike">
                <a:solidFill>
                  <a:srgbClr val="5eead4"/>
                </a:solidFill>
                <a:latin typeface="Courier New"/>
                <a:ea typeface="Courier New"/>
              </a:rPr>
              <a:t>&lt;/tr&gt;</a:t>
            </a:r>
            <a:endParaRPr b="0" lang="en-PH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5eead4"/>
                </a:solidFill>
                <a:latin typeface="Courier New"/>
                <a:ea typeface="Courier New"/>
              </a:rPr>
              <a:t>&lt;/table&gt;</a:t>
            </a:r>
            <a:endParaRPr b="0" lang="en-PH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Text 22"/>
          <p:cNvSpPr/>
          <p:nvPr/>
        </p:nvSpPr>
        <p:spPr>
          <a:xfrm>
            <a:off x="11612880" y="6446520"/>
            <a:ext cx="456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  <a:ea typeface="Calibri"/>
              </a:rPr>
              <a:t>9</a:t>
            </a:r>
            <a:endParaRPr b="0" lang="en-PH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Shape 0"/>
          <p:cNvSpPr/>
          <p:nvPr/>
        </p:nvSpPr>
        <p:spPr>
          <a:xfrm>
            <a:off x="457200" y="411480"/>
            <a:ext cx="1737000" cy="3654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" name="Text 1"/>
          <p:cNvSpPr/>
          <p:nvPr/>
        </p:nvSpPr>
        <p:spPr>
          <a:xfrm>
            <a:off x="457200" y="411480"/>
            <a:ext cx="1737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7" strike="noStrike">
                <a:solidFill>
                  <a:srgbClr val="ffffff"/>
                </a:solidFill>
                <a:latin typeface="Calibri"/>
                <a:ea typeface="Calibri"/>
              </a:rPr>
              <a:t>TABLES</a:t>
            </a:r>
            <a:endParaRPr b="0" lang="en-PH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Text 2"/>
          <p:cNvSpPr/>
          <p:nvPr/>
        </p:nvSpPr>
        <p:spPr>
          <a:xfrm>
            <a:off x="457200" y="86868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133a61"/>
                </a:solidFill>
                <a:latin typeface="Cambria"/>
                <a:ea typeface="Cambria"/>
              </a:rPr>
              <a:t>What That Table Looks Like Rendered</a:t>
            </a:r>
            <a:endParaRPr b="0" lang="en-PH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Shape 3"/>
          <p:cNvSpPr/>
          <p:nvPr/>
        </p:nvSpPr>
        <p:spPr>
          <a:xfrm>
            <a:off x="457200" y="1572840"/>
            <a:ext cx="548280" cy="54360"/>
          </a:xfrm>
          <a:prstGeom prst="rect">
            <a:avLst/>
          </a:prstGeom>
          <a:solidFill>
            <a:srgbClr val="2563e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" name="Text 4"/>
          <p:cNvSpPr/>
          <p:nvPr/>
        </p:nvSpPr>
        <p:spPr>
          <a:xfrm>
            <a:off x="457200" y="178308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e293b"/>
                </a:solidFill>
                <a:latin typeface="Calibri"/>
                <a:ea typeface="Calibri"/>
              </a:rPr>
              <a:t>The code from the last slide produces this on the page:</a:t>
            </a:r>
            <a:endParaRPr b="0" lang="en-PH" sz="14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24" name="Table 0"/>
          <p:cNvGraphicFramePr/>
          <p:nvPr/>
        </p:nvGraphicFramePr>
        <p:xfrm>
          <a:off x="457200" y="2286000"/>
          <a:ext cx="5028840" cy="2194560"/>
        </p:xfrm>
        <a:graphic>
          <a:graphicData uri="http://schemas.openxmlformats.org/drawingml/2006/table">
            <a:tbl>
              <a:tblPr/>
              <a:tblGrid>
                <a:gridCol w="2514600"/>
                <a:gridCol w="2514600"/>
              </a:tblGrid>
              <a:tr h="54864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3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Skill</a:t>
                      </a:r>
                      <a:endParaRPr b="0" lang="en-PH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cbd5e1"/>
                      </a:solidFill>
                      <a:prstDash val="solid"/>
                    </a:lnL>
                    <a:lnR w="9360">
                      <a:solidFill>
                        <a:srgbClr val="cbd5e1"/>
                      </a:solidFill>
                      <a:prstDash val="solid"/>
                    </a:lnR>
                    <a:lnT w="9360">
                      <a:solidFill>
                        <a:srgbClr val="cbd5e1"/>
                      </a:solidFill>
                      <a:prstDash val="solid"/>
                    </a:lnT>
                    <a:lnB w="9360">
                      <a:solidFill>
                        <a:srgbClr val="cbd5e1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3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Level</a:t>
                      </a:r>
                      <a:endParaRPr b="0" lang="en-PH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cbd5e1"/>
                      </a:solidFill>
                      <a:prstDash val="solid"/>
                    </a:lnL>
                    <a:lnR w="9360">
                      <a:solidFill>
                        <a:srgbClr val="cbd5e1"/>
                      </a:solidFill>
                      <a:prstDash val="solid"/>
                    </a:lnR>
                    <a:lnT w="9360">
                      <a:solidFill>
                        <a:srgbClr val="cbd5e1"/>
                      </a:solidFill>
                      <a:prstDash val="solid"/>
                    </a:lnT>
                    <a:lnB w="9360">
                      <a:solidFill>
                        <a:srgbClr val="cbd5e1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</a:tr>
              <a:tr h="54864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HTML</a:t>
                      </a:r>
                      <a:endParaRPr b="0" lang="en-PH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cbd5e1"/>
                      </a:solidFill>
                      <a:prstDash val="solid"/>
                    </a:lnL>
                    <a:lnR w="9360">
                      <a:solidFill>
                        <a:srgbClr val="cbd5e1"/>
                      </a:solidFill>
                      <a:prstDash val="solid"/>
                    </a:lnR>
                    <a:lnT w="9360">
                      <a:solidFill>
                        <a:srgbClr val="cbd5e1"/>
                      </a:solidFill>
                      <a:prstDash val="solid"/>
                    </a:lnT>
                    <a:lnB w="936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Intermediate</a:t>
                      </a:r>
                      <a:endParaRPr b="0" lang="en-PH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cbd5e1"/>
                      </a:solidFill>
                      <a:prstDash val="solid"/>
                    </a:lnL>
                    <a:lnR w="9360">
                      <a:solidFill>
                        <a:srgbClr val="cbd5e1"/>
                      </a:solidFill>
                      <a:prstDash val="solid"/>
                    </a:lnR>
                    <a:lnT w="9360">
                      <a:solidFill>
                        <a:srgbClr val="cbd5e1"/>
                      </a:solidFill>
                      <a:prstDash val="solid"/>
                    </a:lnT>
                    <a:lnB w="936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</a:tr>
              <a:tr h="54864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CSS</a:t>
                      </a:r>
                      <a:endParaRPr b="0" lang="en-PH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cbd5e1"/>
                      </a:solidFill>
                      <a:prstDash val="solid"/>
                    </a:lnL>
                    <a:lnR w="9360">
                      <a:solidFill>
                        <a:srgbClr val="cbd5e1"/>
                      </a:solidFill>
                      <a:prstDash val="solid"/>
                    </a:lnR>
                    <a:lnT w="9360">
                      <a:solidFill>
                        <a:srgbClr val="cbd5e1"/>
                      </a:solidFill>
                      <a:prstDash val="solid"/>
                    </a:lnT>
                    <a:lnB w="936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Beginner</a:t>
                      </a:r>
                      <a:endParaRPr b="0" lang="en-PH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cbd5e1"/>
                      </a:solidFill>
                      <a:prstDash val="solid"/>
                    </a:lnL>
                    <a:lnR w="9360">
                      <a:solidFill>
                        <a:srgbClr val="cbd5e1"/>
                      </a:solidFill>
                      <a:prstDash val="solid"/>
                    </a:lnR>
                    <a:lnT w="9360">
                      <a:solidFill>
                        <a:srgbClr val="cbd5e1"/>
                      </a:solidFill>
                      <a:prstDash val="solid"/>
                    </a:lnT>
                    <a:lnB w="936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</a:tr>
              <a:tr h="54864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Canva</a:t>
                      </a:r>
                      <a:endParaRPr b="0" lang="en-PH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cbd5e1"/>
                      </a:solidFill>
                      <a:prstDash val="solid"/>
                    </a:lnL>
                    <a:lnR w="9360">
                      <a:solidFill>
                        <a:srgbClr val="cbd5e1"/>
                      </a:solidFill>
                      <a:prstDash val="solid"/>
                    </a:lnR>
                    <a:lnT w="9360">
                      <a:solidFill>
                        <a:srgbClr val="cbd5e1"/>
                      </a:solidFill>
                      <a:prstDash val="solid"/>
                    </a:lnT>
                    <a:lnB w="936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Advanced</a:t>
                      </a:r>
                      <a:endParaRPr b="0" lang="en-PH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cbd5e1"/>
                      </a:solidFill>
                      <a:prstDash val="solid"/>
                    </a:lnL>
                    <a:lnR w="9360">
                      <a:solidFill>
                        <a:srgbClr val="cbd5e1"/>
                      </a:solidFill>
                      <a:prstDash val="solid"/>
                    </a:lnR>
                    <a:lnT w="9360">
                      <a:solidFill>
                        <a:srgbClr val="cbd5e1"/>
                      </a:solidFill>
                      <a:prstDash val="solid"/>
                    </a:lnT>
                    <a:lnB w="936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5" name="Shape 5"/>
          <p:cNvSpPr/>
          <p:nvPr/>
        </p:nvSpPr>
        <p:spPr>
          <a:xfrm>
            <a:off x="5852160" y="2286000"/>
            <a:ext cx="5851800" cy="3931560"/>
          </a:xfrm>
          <a:prstGeom prst="roundRect">
            <a:avLst>
              <a:gd name="adj" fmla="val 1860"/>
            </a:avLst>
          </a:prstGeom>
          <a:solidFill>
            <a:srgbClr val="f4f7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Text 6"/>
          <p:cNvSpPr/>
          <p:nvPr/>
        </p:nvSpPr>
        <p:spPr>
          <a:xfrm>
            <a:off x="6126480" y="2468880"/>
            <a:ext cx="5303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2563eb"/>
                </a:solidFill>
                <a:latin typeface="Calibri"/>
                <a:ea typeface="Calibri"/>
              </a:rPr>
              <a:t>Tables vs. Lists — which to use?</a:t>
            </a:r>
            <a:endParaRPr b="0" lang="en-PH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Text 7"/>
          <p:cNvSpPr/>
          <p:nvPr/>
        </p:nvSpPr>
        <p:spPr>
          <a:xfrm>
            <a:off x="6126480" y="2880360"/>
            <a:ext cx="5303160" cy="31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1e293b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1e293b"/>
                </a:solidFill>
                <a:latin typeface="Calibri"/>
                <a:ea typeface="Calibri"/>
              </a:rPr>
              <a:t>Use a list (&lt;ul&gt;/&lt;ol&gt;) when items are just a simple bulleted collection — skills, duties, hobbies.</a:t>
            </a:r>
            <a:endParaRPr b="0" lang="en-PH" sz="1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1e293b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1e293b"/>
                </a:solidFill>
                <a:latin typeface="Calibri"/>
                <a:ea typeface="Calibri"/>
              </a:rPr>
              <a:t>Use a table when data has two or more aligned columns — a skill next to its proficiency level, or a date range next to a job title.</a:t>
            </a:r>
            <a:endParaRPr b="0" lang="en-PH" sz="1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1e293b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1e293b"/>
                </a:solidFill>
                <a:latin typeface="Calibri"/>
                <a:ea typeface="Calibri"/>
              </a:rPr>
              <a:t>Don't use a table just to position things side-by-side on the page — that's a job for CSS layout, which goes beyond this lesson.</a:t>
            </a:r>
            <a:endParaRPr b="0" lang="en-PH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Text 8"/>
          <p:cNvSpPr/>
          <p:nvPr/>
        </p:nvSpPr>
        <p:spPr>
          <a:xfrm>
            <a:off x="11612880" y="6446520"/>
            <a:ext cx="456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  <a:ea typeface="Calibri"/>
              </a:rPr>
              <a:t>10</a:t>
            </a:r>
            <a:endParaRPr b="0" lang="en-PH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Shape 0"/>
          <p:cNvSpPr/>
          <p:nvPr/>
        </p:nvSpPr>
        <p:spPr>
          <a:xfrm>
            <a:off x="457200" y="411480"/>
            <a:ext cx="1737000" cy="365400"/>
          </a:xfrm>
          <a:prstGeom prst="roundRect">
            <a:avLst>
              <a:gd name="adj" fmla="val 50000"/>
            </a:avLst>
          </a:prstGeom>
          <a:solidFill>
            <a:srgbClr val="1c4e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Text 1"/>
          <p:cNvSpPr/>
          <p:nvPr/>
        </p:nvSpPr>
        <p:spPr>
          <a:xfrm>
            <a:off x="457200" y="411480"/>
            <a:ext cx="1737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7" strike="noStrike">
                <a:solidFill>
                  <a:srgbClr val="ffffff"/>
                </a:solidFill>
                <a:latin typeface="Calibri"/>
                <a:ea typeface="Calibri"/>
              </a:rPr>
              <a:t>PRACTICE</a:t>
            </a:r>
            <a:endParaRPr b="0" lang="en-PH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Text 2"/>
          <p:cNvSpPr/>
          <p:nvPr/>
        </p:nvSpPr>
        <p:spPr>
          <a:xfrm>
            <a:off x="457200" y="86868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133a61"/>
                </a:solidFill>
                <a:latin typeface="Cambria"/>
                <a:ea typeface="Cambria"/>
              </a:rPr>
              <a:t>Putting It All Together: A Mini Resume</a:t>
            </a:r>
            <a:endParaRPr b="0" lang="en-PH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Shape 3"/>
          <p:cNvSpPr/>
          <p:nvPr/>
        </p:nvSpPr>
        <p:spPr>
          <a:xfrm>
            <a:off x="457200" y="1572840"/>
            <a:ext cx="548280" cy="54360"/>
          </a:xfrm>
          <a:prstGeom prst="rect">
            <a:avLst/>
          </a:prstGeom>
          <a:solidFill>
            <a:srgbClr val="1c4e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" name="Shape 4"/>
          <p:cNvSpPr/>
          <p:nvPr/>
        </p:nvSpPr>
        <p:spPr>
          <a:xfrm>
            <a:off x="457200" y="1783080"/>
            <a:ext cx="5486040" cy="4434480"/>
          </a:xfrm>
          <a:prstGeom prst="roundRect">
            <a:avLst>
              <a:gd name="adj" fmla="val 1649"/>
            </a:avLst>
          </a:prstGeom>
          <a:solidFill>
            <a:srgbClr val="0f1b2d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Shape 5"/>
          <p:cNvSpPr/>
          <p:nvPr/>
        </p:nvSpPr>
        <p:spPr>
          <a:xfrm>
            <a:off x="621720" y="1929240"/>
            <a:ext cx="109440" cy="109440"/>
          </a:xfrm>
          <a:prstGeom prst="ellipse">
            <a:avLst/>
          </a:prstGeom>
          <a:solidFill>
            <a:srgbClr val="ef44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Shape 6"/>
          <p:cNvSpPr/>
          <p:nvPr/>
        </p:nvSpPr>
        <p:spPr>
          <a:xfrm>
            <a:off x="822960" y="1929240"/>
            <a:ext cx="109440" cy="109440"/>
          </a:xfrm>
          <a:prstGeom prst="ellipse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Shape 7"/>
          <p:cNvSpPr/>
          <p:nvPr/>
        </p:nvSpPr>
        <p:spPr>
          <a:xfrm>
            <a:off x="1024200" y="1929240"/>
            <a:ext cx="109440" cy="109440"/>
          </a:xfrm>
          <a:prstGeom prst="ellipse">
            <a:avLst/>
          </a:prstGeom>
          <a:solidFill>
            <a:srgbClr val="22c5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" name="Text 8"/>
          <p:cNvSpPr/>
          <p:nvPr/>
        </p:nvSpPr>
        <p:spPr>
          <a:xfrm>
            <a:off x="731520" y="2167200"/>
            <a:ext cx="4937400" cy="388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5eead4"/>
                </a:solidFill>
                <a:latin typeface="Courier New"/>
                <a:ea typeface="Courier New"/>
              </a:rPr>
              <a:t>&lt;!DOCTYPE html&gt;</a:t>
            </a:r>
            <a:endParaRPr b="0" lang="en-PH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5eead4"/>
                </a:solidFill>
                <a:latin typeface="Courier New"/>
                <a:ea typeface="Courier New"/>
              </a:rPr>
              <a:t>&lt;html&gt;</a:t>
            </a:r>
            <a:endParaRPr b="0" lang="en-PH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5eead4"/>
                </a:solidFill>
                <a:latin typeface="Courier New"/>
                <a:ea typeface="Courier New"/>
              </a:rPr>
              <a:t>&lt;head&gt;</a:t>
            </a:r>
            <a:endParaRPr b="0" lang="en-PH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e2e8f0"/>
                </a:solidFill>
                <a:latin typeface="Courier New"/>
                <a:ea typeface="Courier New"/>
              </a:rPr>
              <a:t>  </a:t>
            </a:r>
            <a:r>
              <a:rPr b="0" lang="en-US" sz="1350" spc="-1" strike="noStrike">
                <a:solidFill>
                  <a:srgbClr val="5eead4"/>
                </a:solidFill>
                <a:latin typeface="Courier New"/>
                <a:ea typeface="Courier New"/>
              </a:rPr>
              <a:t>&lt;title&gt;</a:t>
            </a:r>
            <a:endParaRPr b="0" lang="en-PH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e2e8f0"/>
                </a:solidFill>
                <a:latin typeface="Courier New"/>
                <a:ea typeface="Courier New"/>
              </a:rPr>
              <a:t>    </a:t>
            </a:r>
            <a:r>
              <a:rPr b="0" lang="en-US" sz="1350" spc="-1" strike="noStrike">
                <a:solidFill>
                  <a:srgbClr val="e2e8f0"/>
                </a:solidFill>
                <a:latin typeface="Courier New"/>
                <a:ea typeface="Courier New"/>
              </a:rPr>
              <a:t>Jamie Cruz - Resume</a:t>
            </a:r>
            <a:r>
              <a:rPr b="0" lang="en-US" sz="1350" spc="-1" strike="noStrike">
                <a:solidFill>
                  <a:srgbClr val="5eead4"/>
                </a:solidFill>
                <a:latin typeface="Courier New"/>
                <a:ea typeface="Courier New"/>
              </a:rPr>
              <a:t>&lt;/title&gt;</a:t>
            </a:r>
            <a:endParaRPr b="0" lang="en-PH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e2e8f0"/>
                </a:solidFill>
                <a:latin typeface="Courier New"/>
                <a:ea typeface="Courier New"/>
              </a:rPr>
              <a:t>  </a:t>
            </a:r>
            <a:r>
              <a:rPr b="0" lang="en-US" sz="1350" spc="-1" strike="noStrike">
                <a:solidFill>
                  <a:srgbClr val="5eead4"/>
                </a:solidFill>
                <a:latin typeface="Courier New"/>
                <a:ea typeface="Courier New"/>
              </a:rPr>
              <a:t>&lt;link</a:t>
            </a:r>
            <a:r>
              <a:rPr b="0" lang="en-US" sz="1350" spc="-1" strike="noStrike">
                <a:solidFill>
                  <a:srgbClr val="fbbf24"/>
                </a:solidFill>
                <a:latin typeface="Courier New"/>
                <a:ea typeface="Courier New"/>
              </a:rPr>
              <a:t> rel=</a:t>
            </a:r>
            <a:r>
              <a:rPr b="0" lang="en-US" sz="1350" spc="-1" strike="noStrike">
                <a:solidFill>
                  <a:srgbClr val="86efac"/>
                </a:solidFill>
                <a:latin typeface="Courier New"/>
                <a:ea typeface="Courier New"/>
              </a:rPr>
              <a:t>"stylesheet"</a:t>
            </a:r>
            <a:endParaRPr b="0" lang="en-PH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e2e8f0"/>
                </a:solidFill>
                <a:latin typeface="Courier New"/>
                <a:ea typeface="Courier New"/>
              </a:rPr>
              <a:t>    </a:t>
            </a:r>
            <a:r>
              <a:rPr b="0" lang="en-US" sz="1350" spc="-1" strike="noStrike">
                <a:solidFill>
                  <a:srgbClr val="fbbf24"/>
                </a:solidFill>
                <a:latin typeface="Courier New"/>
                <a:ea typeface="Courier New"/>
              </a:rPr>
              <a:t>href=</a:t>
            </a:r>
            <a:r>
              <a:rPr b="0" lang="en-US" sz="1350" spc="-1" strike="noStrike">
                <a:solidFill>
                  <a:srgbClr val="86efac"/>
                </a:solidFill>
                <a:latin typeface="Courier New"/>
                <a:ea typeface="Courier New"/>
              </a:rPr>
              <a:t>"style.css"</a:t>
            </a:r>
            <a:r>
              <a:rPr b="0" lang="en-US" sz="1350" spc="-1" strike="noStrike">
                <a:solidFill>
                  <a:srgbClr val="5eead4"/>
                </a:solidFill>
                <a:latin typeface="Courier New"/>
                <a:ea typeface="Courier New"/>
              </a:rPr>
              <a:t>&gt;</a:t>
            </a:r>
            <a:endParaRPr b="0" lang="en-PH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5eead4"/>
                </a:solidFill>
                <a:latin typeface="Courier New"/>
                <a:ea typeface="Courier New"/>
              </a:rPr>
              <a:t>&lt;/head&gt;</a:t>
            </a:r>
            <a:endParaRPr b="0" lang="en-PH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5eead4"/>
                </a:solidFill>
                <a:latin typeface="Courier New"/>
                <a:ea typeface="Courier New"/>
              </a:rPr>
              <a:t>&lt;body&gt;</a:t>
            </a:r>
            <a:endParaRPr b="0" lang="en-PH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e2e8f0"/>
                </a:solidFill>
                <a:latin typeface="Courier New"/>
                <a:ea typeface="Courier New"/>
              </a:rPr>
              <a:t>  </a:t>
            </a:r>
            <a:r>
              <a:rPr b="0" lang="en-US" sz="1350" spc="-1" strike="noStrike">
                <a:solidFill>
                  <a:srgbClr val="5eead4"/>
                </a:solidFill>
                <a:latin typeface="Courier New"/>
                <a:ea typeface="Courier New"/>
              </a:rPr>
              <a:t>&lt;div</a:t>
            </a:r>
            <a:r>
              <a:rPr b="0" lang="en-US" sz="1350" spc="-1" strike="noStrike">
                <a:solidFill>
                  <a:srgbClr val="fbbf24"/>
                </a:solidFill>
                <a:latin typeface="Courier New"/>
                <a:ea typeface="Courier New"/>
              </a:rPr>
              <a:t> class=</a:t>
            </a:r>
            <a:r>
              <a:rPr b="0" lang="en-US" sz="1350" spc="-1" strike="noStrike">
                <a:solidFill>
                  <a:srgbClr val="86efac"/>
                </a:solidFill>
                <a:latin typeface="Courier New"/>
                <a:ea typeface="Courier New"/>
              </a:rPr>
              <a:t>"resume"</a:t>
            </a:r>
            <a:r>
              <a:rPr b="0" lang="en-US" sz="1350" spc="-1" strike="noStrike">
                <a:solidFill>
                  <a:srgbClr val="5eead4"/>
                </a:solidFill>
                <a:latin typeface="Courier New"/>
                <a:ea typeface="Courier New"/>
              </a:rPr>
              <a:t>&gt;</a:t>
            </a:r>
            <a:endParaRPr b="0" lang="en-PH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e2e8f0"/>
                </a:solidFill>
                <a:latin typeface="Courier New"/>
                <a:ea typeface="Courier New"/>
              </a:rPr>
              <a:t>    </a:t>
            </a:r>
            <a:r>
              <a:rPr b="0" lang="en-US" sz="1350" spc="-1" strike="noStrike">
                <a:solidFill>
                  <a:srgbClr val="5eead4"/>
                </a:solidFill>
                <a:latin typeface="Courier New"/>
                <a:ea typeface="Courier New"/>
              </a:rPr>
              <a:t>&lt;h1&gt;</a:t>
            </a:r>
            <a:r>
              <a:rPr b="0" lang="en-US" sz="1350" spc="-1" strike="noStrike">
                <a:solidFill>
                  <a:srgbClr val="e2e8f0"/>
                </a:solidFill>
                <a:latin typeface="Courier New"/>
                <a:ea typeface="Courier New"/>
              </a:rPr>
              <a:t>Jamie Cruz</a:t>
            </a:r>
            <a:r>
              <a:rPr b="0" lang="en-US" sz="1350" spc="-1" strike="noStrike">
                <a:solidFill>
                  <a:srgbClr val="5eead4"/>
                </a:solidFill>
                <a:latin typeface="Courier New"/>
                <a:ea typeface="Courier New"/>
              </a:rPr>
              <a:t>&lt;/h1&gt;</a:t>
            </a:r>
            <a:endParaRPr b="0" lang="en-PH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e2e8f0"/>
                </a:solidFill>
                <a:latin typeface="Courier New"/>
                <a:ea typeface="Courier New"/>
              </a:rPr>
              <a:t>    </a:t>
            </a:r>
            <a:r>
              <a:rPr b="0" lang="en-US" sz="1350" spc="-1" strike="noStrike">
                <a:solidFill>
                  <a:srgbClr val="5eead4"/>
                </a:solidFill>
                <a:latin typeface="Courier New"/>
                <a:ea typeface="Courier New"/>
              </a:rPr>
              <a:t>&lt;section&gt;</a:t>
            </a:r>
            <a:endParaRPr b="0" lang="en-PH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e2e8f0"/>
                </a:solidFill>
                <a:latin typeface="Courier New"/>
                <a:ea typeface="Courier New"/>
              </a:rPr>
              <a:t>      </a:t>
            </a:r>
            <a:r>
              <a:rPr b="0" lang="en-US" sz="1350" spc="-1" strike="noStrike">
                <a:solidFill>
                  <a:srgbClr val="5eead4"/>
                </a:solidFill>
                <a:latin typeface="Courier New"/>
                <a:ea typeface="Courier New"/>
              </a:rPr>
              <a:t>&lt;h2&gt;</a:t>
            </a:r>
            <a:r>
              <a:rPr b="0" lang="en-US" sz="1350" spc="-1" strike="noStrike">
                <a:solidFill>
                  <a:srgbClr val="e2e8f0"/>
                </a:solidFill>
                <a:latin typeface="Courier New"/>
                <a:ea typeface="Courier New"/>
              </a:rPr>
              <a:t>Skills</a:t>
            </a:r>
            <a:r>
              <a:rPr b="0" lang="en-US" sz="1350" spc="-1" strike="noStrike">
                <a:solidFill>
                  <a:srgbClr val="5eead4"/>
                </a:solidFill>
                <a:latin typeface="Courier New"/>
                <a:ea typeface="Courier New"/>
              </a:rPr>
              <a:t>&lt;/h2&gt;</a:t>
            </a:r>
            <a:endParaRPr b="0" lang="en-PH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Shape 9"/>
          <p:cNvSpPr/>
          <p:nvPr/>
        </p:nvSpPr>
        <p:spPr>
          <a:xfrm>
            <a:off x="6217920" y="1783080"/>
            <a:ext cx="5486040" cy="4434480"/>
          </a:xfrm>
          <a:prstGeom prst="roundRect">
            <a:avLst>
              <a:gd name="adj" fmla="val 1649"/>
            </a:avLst>
          </a:prstGeom>
          <a:solidFill>
            <a:srgbClr val="0f1b2d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" name="Shape 10"/>
          <p:cNvSpPr/>
          <p:nvPr/>
        </p:nvSpPr>
        <p:spPr>
          <a:xfrm>
            <a:off x="6382440" y="1929240"/>
            <a:ext cx="109440" cy="109440"/>
          </a:xfrm>
          <a:prstGeom prst="ellipse">
            <a:avLst/>
          </a:prstGeom>
          <a:solidFill>
            <a:srgbClr val="ef44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Shape 11"/>
          <p:cNvSpPr/>
          <p:nvPr/>
        </p:nvSpPr>
        <p:spPr>
          <a:xfrm>
            <a:off x="6583680" y="1929240"/>
            <a:ext cx="109440" cy="109440"/>
          </a:xfrm>
          <a:prstGeom prst="ellipse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Shape 12"/>
          <p:cNvSpPr/>
          <p:nvPr/>
        </p:nvSpPr>
        <p:spPr>
          <a:xfrm>
            <a:off x="6784920" y="1929240"/>
            <a:ext cx="109440" cy="109440"/>
          </a:xfrm>
          <a:prstGeom prst="ellipse">
            <a:avLst/>
          </a:prstGeom>
          <a:solidFill>
            <a:srgbClr val="22c5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Text 13"/>
          <p:cNvSpPr/>
          <p:nvPr/>
        </p:nvSpPr>
        <p:spPr>
          <a:xfrm>
            <a:off x="6492240" y="2167200"/>
            <a:ext cx="4937400" cy="388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e2e8f0"/>
                </a:solidFill>
                <a:latin typeface="Courier New"/>
                <a:ea typeface="Courier New"/>
              </a:rPr>
              <a:t>      </a:t>
            </a:r>
            <a:r>
              <a:rPr b="0" lang="en-US" sz="1350" spc="-1" strike="noStrike">
                <a:solidFill>
                  <a:srgbClr val="5eead4"/>
                </a:solidFill>
                <a:latin typeface="Courier New"/>
                <a:ea typeface="Courier New"/>
              </a:rPr>
              <a:t>&lt;ul&gt;</a:t>
            </a:r>
            <a:endParaRPr b="0" lang="en-PH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e2e8f0"/>
                </a:solidFill>
                <a:latin typeface="Courier New"/>
                <a:ea typeface="Courier New"/>
              </a:rPr>
              <a:t>        </a:t>
            </a:r>
            <a:r>
              <a:rPr b="0" lang="en-US" sz="1350" spc="-1" strike="noStrike">
                <a:solidFill>
                  <a:srgbClr val="5eead4"/>
                </a:solidFill>
                <a:latin typeface="Courier New"/>
                <a:ea typeface="Courier New"/>
              </a:rPr>
              <a:t>&lt;li&gt;</a:t>
            </a:r>
            <a:r>
              <a:rPr b="0" lang="en-US" sz="1350" spc="-1" strike="noStrike">
                <a:solidFill>
                  <a:srgbClr val="e2e8f0"/>
                </a:solidFill>
                <a:latin typeface="Courier New"/>
                <a:ea typeface="Courier New"/>
              </a:rPr>
              <a:t>HTML &amp; CSS</a:t>
            </a:r>
            <a:r>
              <a:rPr b="0" lang="en-US" sz="1350" spc="-1" strike="noStrike">
                <a:solidFill>
                  <a:srgbClr val="5eead4"/>
                </a:solidFill>
                <a:latin typeface="Courier New"/>
                <a:ea typeface="Courier New"/>
              </a:rPr>
              <a:t>&lt;/li&gt;</a:t>
            </a:r>
            <a:endParaRPr b="0" lang="en-PH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e2e8f0"/>
                </a:solidFill>
                <a:latin typeface="Courier New"/>
                <a:ea typeface="Courier New"/>
              </a:rPr>
              <a:t>        </a:t>
            </a:r>
            <a:r>
              <a:rPr b="0" lang="en-US" sz="1350" spc="-1" strike="noStrike">
                <a:solidFill>
                  <a:srgbClr val="5eead4"/>
                </a:solidFill>
                <a:latin typeface="Courier New"/>
                <a:ea typeface="Courier New"/>
              </a:rPr>
              <a:t>&lt;li&gt;</a:t>
            </a:r>
            <a:r>
              <a:rPr b="0" lang="en-US" sz="1350" spc="-1" strike="noStrike">
                <a:solidFill>
                  <a:srgbClr val="e2e8f0"/>
                </a:solidFill>
                <a:latin typeface="Courier New"/>
                <a:ea typeface="Courier New"/>
              </a:rPr>
              <a:t>Canva Design</a:t>
            </a:r>
            <a:r>
              <a:rPr b="0" lang="en-US" sz="1350" spc="-1" strike="noStrike">
                <a:solidFill>
                  <a:srgbClr val="5eead4"/>
                </a:solidFill>
                <a:latin typeface="Courier New"/>
                <a:ea typeface="Courier New"/>
              </a:rPr>
              <a:t>&lt;/li&gt;</a:t>
            </a:r>
            <a:endParaRPr b="0" lang="en-PH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e2e8f0"/>
                </a:solidFill>
                <a:latin typeface="Courier New"/>
                <a:ea typeface="Courier New"/>
              </a:rPr>
              <a:t>      </a:t>
            </a:r>
            <a:r>
              <a:rPr b="0" lang="en-US" sz="1350" spc="-1" strike="noStrike">
                <a:solidFill>
                  <a:srgbClr val="5eead4"/>
                </a:solidFill>
                <a:latin typeface="Courier New"/>
                <a:ea typeface="Courier New"/>
              </a:rPr>
              <a:t>&lt;/ul&gt;</a:t>
            </a:r>
            <a:endParaRPr b="0" lang="en-PH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e2e8f0"/>
                </a:solidFill>
                <a:latin typeface="Courier New"/>
                <a:ea typeface="Courier New"/>
              </a:rPr>
              <a:t>    </a:t>
            </a:r>
            <a:r>
              <a:rPr b="0" lang="en-US" sz="1350" spc="-1" strike="noStrike">
                <a:solidFill>
                  <a:srgbClr val="5eead4"/>
                </a:solidFill>
                <a:latin typeface="Courier New"/>
                <a:ea typeface="Courier New"/>
              </a:rPr>
              <a:t>&lt;/section&gt;</a:t>
            </a:r>
            <a:endParaRPr b="0" lang="en-PH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e2e8f0"/>
                </a:solidFill>
                <a:latin typeface="Courier New"/>
                <a:ea typeface="Courier New"/>
              </a:rPr>
              <a:t>    </a:t>
            </a:r>
            <a:r>
              <a:rPr b="0" lang="en-US" sz="1350" spc="-1" strike="noStrike">
                <a:solidFill>
                  <a:srgbClr val="5eead4"/>
                </a:solidFill>
                <a:latin typeface="Courier New"/>
                <a:ea typeface="Courier New"/>
              </a:rPr>
              <a:t>&lt;section&gt;</a:t>
            </a:r>
            <a:endParaRPr b="0" lang="en-PH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e2e8f0"/>
                </a:solidFill>
                <a:latin typeface="Courier New"/>
                <a:ea typeface="Courier New"/>
              </a:rPr>
              <a:t>      </a:t>
            </a:r>
            <a:r>
              <a:rPr b="0" lang="en-US" sz="1350" spc="-1" strike="noStrike">
                <a:solidFill>
                  <a:srgbClr val="5eead4"/>
                </a:solidFill>
                <a:latin typeface="Courier New"/>
                <a:ea typeface="Courier New"/>
              </a:rPr>
              <a:t>&lt;h2&gt;</a:t>
            </a:r>
            <a:r>
              <a:rPr b="0" lang="en-US" sz="1350" spc="-1" strike="noStrike">
                <a:solidFill>
                  <a:srgbClr val="e2e8f0"/>
                </a:solidFill>
                <a:latin typeface="Courier New"/>
                <a:ea typeface="Courier New"/>
              </a:rPr>
              <a:t>Experience</a:t>
            </a:r>
            <a:r>
              <a:rPr b="0" lang="en-US" sz="1350" spc="-1" strike="noStrike">
                <a:solidFill>
                  <a:srgbClr val="5eead4"/>
                </a:solidFill>
                <a:latin typeface="Courier New"/>
                <a:ea typeface="Courier New"/>
              </a:rPr>
              <a:t>&lt;/h2&gt;</a:t>
            </a:r>
            <a:endParaRPr b="0" lang="en-PH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e2e8f0"/>
                </a:solidFill>
                <a:latin typeface="Courier New"/>
                <a:ea typeface="Courier New"/>
              </a:rPr>
              <a:t>      </a:t>
            </a:r>
            <a:r>
              <a:rPr b="0" lang="en-US" sz="1350" spc="-1" strike="noStrike">
                <a:solidFill>
                  <a:srgbClr val="5eead4"/>
                </a:solidFill>
                <a:latin typeface="Courier New"/>
                <a:ea typeface="Courier New"/>
              </a:rPr>
              <a:t>&lt;table&gt;</a:t>
            </a:r>
            <a:endParaRPr b="0" lang="en-PH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e2e8f0"/>
                </a:solidFill>
                <a:latin typeface="Courier New"/>
                <a:ea typeface="Courier New"/>
              </a:rPr>
              <a:t>        </a:t>
            </a:r>
            <a:r>
              <a:rPr b="0" lang="en-US" sz="1350" spc="-1" strike="noStrike">
                <a:solidFill>
                  <a:srgbClr val="5eead4"/>
                </a:solidFill>
                <a:latin typeface="Courier New"/>
                <a:ea typeface="Courier New"/>
              </a:rPr>
              <a:t>&lt;tr&gt;&lt;td&gt;</a:t>
            </a:r>
            <a:r>
              <a:rPr b="0" lang="en-US" sz="1350" spc="-1" strike="noStrike">
                <a:solidFill>
                  <a:srgbClr val="e2e8f0"/>
                </a:solidFill>
                <a:latin typeface="Courier New"/>
                <a:ea typeface="Courier New"/>
              </a:rPr>
              <a:t>2023–2025</a:t>
            </a:r>
            <a:endParaRPr b="0" lang="en-PH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e2e8f0"/>
                </a:solidFill>
                <a:latin typeface="Courier New"/>
                <a:ea typeface="Courier New"/>
              </a:rPr>
              <a:t>        </a:t>
            </a:r>
            <a:r>
              <a:rPr b="0" lang="en-US" sz="1350" spc="-1" strike="noStrike">
                <a:solidFill>
                  <a:srgbClr val="5eead4"/>
                </a:solidFill>
                <a:latin typeface="Courier New"/>
                <a:ea typeface="Courier New"/>
              </a:rPr>
              <a:t>&lt;/td&gt;&lt;td&gt;</a:t>
            </a:r>
            <a:r>
              <a:rPr b="0" lang="en-US" sz="1350" spc="-1" strike="noStrike">
                <a:solidFill>
                  <a:srgbClr val="e2e8f0"/>
                </a:solidFill>
                <a:latin typeface="Courier New"/>
                <a:ea typeface="Courier New"/>
              </a:rPr>
              <a:t>Barista</a:t>
            </a:r>
            <a:r>
              <a:rPr b="0" lang="en-US" sz="1350" spc="-1" strike="noStrike">
                <a:solidFill>
                  <a:srgbClr val="5eead4"/>
                </a:solidFill>
                <a:latin typeface="Courier New"/>
                <a:ea typeface="Courier New"/>
              </a:rPr>
              <a:t>&lt;/td&gt;&lt;/tr&gt;</a:t>
            </a:r>
            <a:endParaRPr b="0" lang="en-PH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e2e8f0"/>
                </a:solidFill>
                <a:latin typeface="Courier New"/>
                <a:ea typeface="Courier New"/>
              </a:rPr>
              <a:t>      </a:t>
            </a:r>
            <a:r>
              <a:rPr b="0" lang="en-US" sz="1350" spc="-1" strike="noStrike">
                <a:solidFill>
                  <a:srgbClr val="5eead4"/>
                </a:solidFill>
                <a:latin typeface="Courier New"/>
                <a:ea typeface="Courier New"/>
              </a:rPr>
              <a:t>&lt;/table&gt;</a:t>
            </a:r>
            <a:endParaRPr b="0" lang="en-PH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e2e8f0"/>
                </a:solidFill>
                <a:latin typeface="Courier New"/>
                <a:ea typeface="Courier New"/>
              </a:rPr>
              <a:t>    </a:t>
            </a:r>
            <a:r>
              <a:rPr b="0" lang="en-US" sz="1350" spc="-1" strike="noStrike">
                <a:solidFill>
                  <a:srgbClr val="5eead4"/>
                </a:solidFill>
                <a:latin typeface="Courier New"/>
                <a:ea typeface="Courier New"/>
              </a:rPr>
              <a:t>&lt;/section&gt;</a:t>
            </a:r>
            <a:r>
              <a:rPr b="0" lang="en-US" sz="1350" spc="-1" strike="noStrike">
                <a:solidFill>
                  <a:srgbClr val="e2e8f0"/>
                </a:solidFill>
                <a:latin typeface="Courier New"/>
                <a:ea typeface="Courier New"/>
              </a:rPr>
              <a:t>  </a:t>
            </a:r>
            <a:r>
              <a:rPr b="0" lang="en-US" sz="1350" spc="-1" strike="noStrike">
                <a:solidFill>
                  <a:srgbClr val="5eead4"/>
                </a:solidFill>
                <a:latin typeface="Courier New"/>
                <a:ea typeface="Courier New"/>
              </a:rPr>
              <a:t>&lt;/div&gt;</a:t>
            </a:r>
            <a:endParaRPr b="0" lang="en-PH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5eead4"/>
                </a:solidFill>
                <a:latin typeface="Courier New"/>
                <a:ea typeface="Courier New"/>
              </a:rPr>
              <a:t>&lt;/body&gt;&lt;/html&gt;</a:t>
            </a:r>
            <a:endParaRPr b="0" lang="en-PH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Text 14"/>
          <p:cNvSpPr/>
          <p:nvPr/>
        </p:nvSpPr>
        <p:spPr>
          <a:xfrm>
            <a:off x="11612880" y="6446520"/>
            <a:ext cx="456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  <a:ea typeface="Calibri"/>
              </a:rPr>
              <a:t>11</a:t>
            </a:r>
            <a:endParaRPr b="0" lang="en-PH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3a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Shape 0"/>
          <p:cNvSpPr/>
          <p:nvPr/>
        </p:nvSpPr>
        <p:spPr>
          <a:xfrm>
            <a:off x="-1371600" y="-1645920"/>
            <a:ext cx="4571640" cy="4571640"/>
          </a:xfrm>
          <a:prstGeom prst="ellipse">
            <a:avLst/>
          </a:prstGeom>
          <a:solidFill>
            <a:srgbClr val="1c4e80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Text 1"/>
          <p:cNvSpPr/>
          <p:nvPr/>
        </p:nvSpPr>
        <p:spPr>
          <a:xfrm>
            <a:off x="822960" y="1188720"/>
            <a:ext cx="10058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299" strike="noStrike">
                <a:solidFill>
                  <a:srgbClr val="9fb8d9"/>
                </a:solidFill>
                <a:latin typeface="Calibri"/>
                <a:ea typeface="Calibri"/>
              </a:rPr>
              <a:t>YOUR TURN</a:t>
            </a:r>
            <a:endParaRPr b="0" lang="en-PH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Text 2"/>
          <p:cNvSpPr/>
          <p:nvPr/>
        </p:nvSpPr>
        <p:spPr>
          <a:xfrm>
            <a:off x="822960" y="1645920"/>
            <a:ext cx="10515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pc="-1" strike="noStrike">
                <a:solidFill>
                  <a:srgbClr val="ffffff"/>
                </a:solidFill>
                <a:latin typeface="Cambria"/>
                <a:ea typeface="Cambria"/>
              </a:rPr>
              <a:t>Build Your Own Simple Resume Page</a:t>
            </a:r>
            <a:endParaRPr b="0" lang="en-PH" sz="3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Shape 3"/>
          <p:cNvSpPr/>
          <p:nvPr/>
        </p:nvSpPr>
        <p:spPr>
          <a:xfrm>
            <a:off x="822960" y="2807280"/>
            <a:ext cx="200880" cy="200880"/>
          </a:xfrm>
          <a:prstGeom prst="ellipse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" name="Text 4"/>
          <p:cNvSpPr/>
          <p:nvPr/>
        </p:nvSpPr>
        <p:spPr>
          <a:xfrm>
            <a:off x="1234440" y="2743200"/>
            <a:ext cx="9600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2e8f0"/>
                </a:solidFill>
                <a:latin typeface="Calibri"/>
                <a:ea typeface="Calibri"/>
              </a:rPr>
              <a:t>One h1 with your name, plus h2 section titles</a:t>
            </a:r>
            <a:endParaRPr b="0" lang="en-PH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" name="Shape 5"/>
          <p:cNvSpPr/>
          <p:nvPr/>
        </p:nvSpPr>
        <p:spPr>
          <a:xfrm>
            <a:off x="822960" y="3374280"/>
            <a:ext cx="200880" cy="200880"/>
          </a:xfrm>
          <a:prstGeom prst="ellipse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" name="Text 6"/>
          <p:cNvSpPr/>
          <p:nvPr/>
        </p:nvSpPr>
        <p:spPr>
          <a:xfrm>
            <a:off x="1234440" y="3310200"/>
            <a:ext cx="9600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2e8f0"/>
                </a:solidFill>
                <a:latin typeface="Calibri"/>
                <a:ea typeface="Calibri"/>
              </a:rPr>
              <a:t>A &lt;ul&gt; list of at least 3 skills</a:t>
            </a:r>
            <a:endParaRPr b="0" lang="en-PH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Shape 7"/>
          <p:cNvSpPr/>
          <p:nvPr/>
        </p:nvSpPr>
        <p:spPr>
          <a:xfrm>
            <a:off x="822960" y="3940920"/>
            <a:ext cx="200880" cy="200880"/>
          </a:xfrm>
          <a:prstGeom prst="ellipse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" name="Text 8"/>
          <p:cNvSpPr/>
          <p:nvPr/>
        </p:nvSpPr>
        <p:spPr>
          <a:xfrm>
            <a:off x="1234440" y="3877200"/>
            <a:ext cx="9600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2e8f0"/>
                </a:solidFill>
                <a:latin typeface="Calibri"/>
                <a:ea typeface="Calibri"/>
              </a:rPr>
              <a:t>A &lt;section&gt; for Education and a &lt;section&gt; for Experience</a:t>
            </a:r>
            <a:endParaRPr b="0" lang="en-PH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" name="Shape 9"/>
          <p:cNvSpPr/>
          <p:nvPr/>
        </p:nvSpPr>
        <p:spPr>
          <a:xfrm>
            <a:off x="822960" y="4507920"/>
            <a:ext cx="200880" cy="200880"/>
          </a:xfrm>
          <a:prstGeom prst="ellipse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" name="Text 10"/>
          <p:cNvSpPr/>
          <p:nvPr/>
        </p:nvSpPr>
        <p:spPr>
          <a:xfrm>
            <a:off x="1234440" y="4443840"/>
            <a:ext cx="9600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2e8f0"/>
                </a:solidFill>
                <a:latin typeface="Calibri"/>
                <a:ea typeface="Calibri"/>
              </a:rPr>
              <a:t>A small &lt;table&gt; somewhere (dates, tools, or levels)</a:t>
            </a:r>
            <a:endParaRPr b="0" lang="en-PH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" name="Shape 11"/>
          <p:cNvSpPr/>
          <p:nvPr/>
        </p:nvSpPr>
        <p:spPr>
          <a:xfrm>
            <a:off x="822960" y="5074920"/>
            <a:ext cx="200880" cy="200880"/>
          </a:xfrm>
          <a:prstGeom prst="ellipse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PH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Text 12"/>
          <p:cNvSpPr/>
          <p:nvPr/>
        </p:nvSpPr>
        <p:spPr>
          <a:xfrm>
            <a:off x="1234440" y="5010840"/>
            <a:ext cx="9600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2e8f0"/>
                </a:solidFill>
                <a:latin typeface="Calibri"/>
                <a:ea typeface="Calibri"/>
              </a:rPr>
              <a:t>Styling moved into a linked style.css file — no inline style left</a:t>
            </a:r>
            <a:endParaRPr b="0" lang="en-PH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" name="Text 13"/>
          <p:cNvSpPr/>
          <p:nvPr/>
        </p:nvSpPr>
        <p:spPr>
          <a:xfrm>
            <a:off x="822960" y="6035040"/>
            <a:ext cx="10058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7c93b8"/>
                </a:solidFill>
                <a:latin typeface="Calibri"/>
                <a:ea typeface="Calibri"/>
              </a:rPr>
              <a:t>Thank you for learning HTML with us!</a:t>
            </a:r>
            <a:endParaRPr b="0" lang="en-PH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401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2026-07-09T06:58:20Z</dcterms:created>
  <dc:creator>HTML Blueprint</dc:creator>
  <dc:description/>
  <dc:language>en-PH</dc:language>
  <cp:lastModifiedBy/>
  <dcterms:modified xsi:type="dcterms:W3CDTF">2026-07-10T14:24:14Z</dcterms:modified>
  <cp:revision>2</cp:revision>
  <dc:subject>PptxGenJS Presentation</dc:subject>
  <dc:title>The HTML Blueprint - Part 2: Building a Resume Page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12</vt:i4>
  </property>
  <property fmtid="{D5CDD505-2E9C-101B-9397-08002B2CF9AE}" pid="3" name="PresentationFormat">
    <vt:lpwstr>On-screen Show (16:9)</vt:lpwstr>
  </property>
  <property fmtid="{D5CDD505-2E9C-101B-9397-08002B2CF9AE}" pid="4" name="Slides">
    <vt:i4>12</vt:i4>
  </property>
</Properties>
</file>