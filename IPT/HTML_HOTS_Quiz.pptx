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3EE5E80-CE2F-4A2A-B4B8-72800A4D5A67}" type="slidenum"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36DAAB-7D6D-450D-8853-F7DBB6B508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DE3B0B-E2E4-4A85-A2F6-02C5C538EE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F6B5C9-E421-4324-A1FE-3FC8AB1189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CE5AE2-3CA3-430B-B3E8-08F77B41A1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BCA03A-3D78-4CAC-B96F-519D3823B4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5383BE-B00B-4E8E-81C8-819D70B8A6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C1DD2E-38DB-4B0B-B4F7-53DE97C8D1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15F08E-4B75-447C-94D3-8D08B0901B3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68AE0B-29CD-403B-BDB3-E3171975EC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C5F56B-B1C6-45FF-B170-1BCD23A7CB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0EA821-C65A-489A-BEB0-22F7EA00E4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7E0320-A377-4ADC-8940-58D5E2B8EA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43360E-D0A1-4CA7-93A5-382FFD22CA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D2602E-49D9-4ABF-B8DF-0B34A111F4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E2380E-1B92-439F-899A-86547D59F4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8D0435-68B3-49AC-B980-E596F8867D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59DE3F-023D-45DA-B77B-3938223559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A46D11-6EAB-463A-BC8E-8EC1941FA2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578F14-B75E-4ADE-BAA4-373AAF044C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38861D-5440-44A0-B630-D82E2F1CF1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46A936-AEA7-47C7-BD2D-0D2FE3466F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A web developer wants users relying on screen readers to still understand an image's content if it fails to load. Which attribute best fulfills this requirement, and why?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src — because it defines where the image file is located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title — because it provides a tooltip when hovering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alt — because it provides alternate text for accessibility and when the image cannot be displayed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style — because it can be used to hide broken images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2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A student writes: &lt;!DOCTYPE html&gt;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&lt;HTML&gt;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&lt;Head&gt;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&lt;Title&gt;My Page&lt;/Title&gt;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&lt;/Head&gt;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&lt;BODY&gt;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&lt;H1&gt;Welcome&lt;/H1&gt;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&lt;/BODY&gt;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	</a:t>
            </a: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&lt;/HTML&gt;. 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Will this code render correctly in a browser? Why?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540000" y="4320000"/>
            <a:ext cx="5409360" cy="72000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605160" y="43851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89680" y="43822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1497960" y="3900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Yes, because HTML tags are not case-sensitive, so mixing cases does not affect rendering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"/>
          <p:cNvGrpSpPr/>
          <p:nvPr/>
        </p:nvGrpSpPr>
        <p:grpSpPr>
          <a:xfrm>
            <a:off x="6225120" y="3566160"/>
            <a:ext cx="5409360" cy="1567440"/>
            <a:chOff x="6225120" y="3566160"/>
            <a:chExt cx="5409360" cy="1567440"/>
          </a:xfrm>
        </p:grpSpPr>
        <p:sp>
          <p:nvSpPr>
            <p:cNvPr id="39" name="Shape 9"/>
            <p:cNvSpPr/>
            <p:nvPr/>
          </p:nvSpPr>
          <p:spPr>
            <a:xfrm>
              <a:off x="6225120" y="3949920"/>
              <a:ext cx="5409360" cy="900000"/>
            </a:xfrm>
            <a:prstGeom prst="roundRect">
              <a:avLst>
                <a:gd name="adj" fmla="val 4337"/>
              </a:avLst>
            </a:prstGeom>
            <a:solidFill>
              <a:srgbClr val="e2f6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PH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Text 12"/>
            <p:cNvSpPr/>
            <p:nvPr/>
          </p:nvSpPr>
          <p:spPr>
            <a:xfrm>
              <a:off x="7066440" y="3566160"/>
              <a:ext cx="4339440" cy="156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8000"/>
                </a:lnSpc>
                <a:tabLst>
                  <a:tab algn="l" pos="0"/>
                </a:tabLst>
              </a:pPr>
              <a:r>
                <a:rPr b="0" lang="en-US" sz="1350" spc="-1" strike="noStrike">
                  <a:solidFill>
                    <a:srgbClr val="1f2937"/>
                  </a:solidFill>
                  <a:latin typeface="Calibri"/>
                  <a:ea typeface="Calibri"/>
                </a:rPr>
                <a:t>No, because the DOCTYPE must match the case of the html tag</a:t>
              </a:r>
              <a:endParaRPr b="0" lang="en-PH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" name="Shape 13"/>
          <p:cNvSpPr/>
          <p:nvPr/>
        </p:nvSpPr>
        <p:spPr>
          <a:xfrm>
            <a:off x="548640" y="5220000"/>
            <a:ext cx="5409360" cy="54000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" name=""/>
          <p:cNvGrpSpPr/>
          <p:nvPr/>
        </p:nvGrpSpPr>
        <p:grpSpPr>
          <a:xfrm>
            <a:off x="605160" y="5285160"/>
            <a:ext cx="474840" cy="474840"/>
            <a:chOff x="605160" y="5285160"/>
            <a:chExt cx="474840" cy="474840"/>
          </a:xfrm>
        </p:grpSpPr>
        <p:sp>
          <p:nvSpPr>
            <p:cNvPr id="43" name="Shape 14"/>
            <p:cNvSpPr/>
            <p:nvPr/>
          </p:nvSpPr>
          <p:spPr>
            <a:xfrm>
              <a:off x="605160" y="5285160"/>
              <a:ext cx="474840" cy="474840"/>
            </a:xfrm>
            <a:prstGeom prst="ellipse">
              <a:avLst/>
            </a:prstGeom>
            <a:solidFill>
              <a:srgbClr val="f973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PH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" name="Text 15"/>
            <p:cNvSpPr/>
            <p:nvPr/>
          </p:nvSpPr>
          <p:spPr>
            <a:xfrm>
              <a:off x="605160" y="5285160"/>
              <a:ext cx="474840" cy="47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en-US" sz="15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C</a:t>
              </a:r>
              <a:endParaRPr b="0" lang="en-PH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No, because tags must always be written in lowercase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6233040" y="5220000"/>
            <a:ext cx="5409360" cy="72000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434280" y="5316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434280" y="5280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Yes, but only if the file is saved with a .HTML extension instead of .html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434280" y="415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434280" y="4116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3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Analyze this code: &lt;img src="photo.jpg"&gt;. What problem would a quality reviewer most likely flag, and why?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image will not display because src alone cannot load images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tag is invalid because &lt;img&gt; requires a separate closing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path is wrong because src must always be an absolute URL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is missing an alt attribute, which could hurt accessibility and SEO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4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writes src="https://example.com/logo.png" instead of a relative path like src="logo.png". What is a key trade-off of this choice?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always load faster than relative URLs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depend on the external site staying online and unchanged, while relative URLs keep the image under the developer's own control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Relative URLs cannot be used for images, only for links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Absolute URLs are required in all HTML5 documents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5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Which situation best demonstrates the correct use of an empty HTML element?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&lt;br&gt; used to force a line break inside a paragraph, without any closing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&lt;p&gt;Text&lt;/p&gt; used without an opening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&lt;h1&gt;Heading&lt;/h1&gt;&lt;h1&gt; used twice for a single heading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&lt;a href="page.html"&gt;&lt;/a&gt; used without any visible link text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6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designer wants a tooltip to appear when a user hovers over a paragraph, without changing how the paragraph looks. Which attribute should be used?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style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alt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title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href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7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f2937"/>
                </a:solidFill>
                <a:latin typeface="Calibri"/>
                <a:ea typeface="Calibri"/>
              </a:rPr>
              <a:t>Compare two approaches: (1) &lt;p style="color:red;"&gt;Warning&lt;/p&gt; and (2) &lt;p class="warning"&gt;Warning&lt;/p&gt; with the color defined in an external CSS file. From a maintainability standpoint, which is generally better practice for a large website, and why?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Approach 1, because inline styles load faster than external CSS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Approach 2, because separating styling from content makes the site easier to update and maintain across many pages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Approach 1, because it doesn't require creating a separate file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Both are equally maintainable since they rely on the same kind of attribute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8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An &lt;img&gt; tag is missing its width and height attributes. What is the most likely consequence when the page loads?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browser will refuse to display the image at all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image will automatically resize to fit the entire screen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alt text will permanently replace the image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The layout may shift, since the browser doesn't reserve space for the image until it fully loads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9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new developer omits the &lt;!DOCTYPE html&gt; declaration at the top of an HTML file. What is the most likely effect on the webpage?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webpage will fail to load entirely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&lt;html&gt; tag will automatically insert the missing declaration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The browser may render the page in "quirks mode," potentially displaying it inconsistently across browsers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entire &lt;head&gt; section will be ignored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10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Which example correctly demonstrates the relationship between a start tag, its content, and an end tag?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&lt;h1&gt;My First Heading&lt;/h1&gt;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&lt;h1&gt;&lt;h1&gt;My First Heading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&lt;/h1&gt;My First Heading&lt;h1&gt;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&lt;h1/&gt;My First Heading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11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student claims: "The head element is where all the visible content of a webpage goes." Evaluate this claim.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True, because the head element always appears at the top of the visible page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True, because the head element contains the main heading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False, because visible content actually belongs inside the title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False, because the head element holds meta information about the page, while visible content belongs inside the body element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12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12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link is written as &lt;a href="contact.html"&gt;Contact Us&lt;/a&gt;. What does the href attribute specifically control?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text style of the link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destination URL the link navigates to when clicked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tooltip text shown on hover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Whether the link opens in a new browser tab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13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13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f2937"/>
                </a:solidFill>
                <a:latin typeface="Calibri"/>
                <a:ea typeface="Calibri"/>
              </a:rPr>
              <a:t>A company's "About" page is located at www.company.com/about.html and uses one of two image paths: (1) src="/images/team.jpg" or (2) src="images/team.jpg". If the page is later moved to www.company.com/company/about.html, which path is more likely to still correctly load the image, and why?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Path 1, because a URL starting with a slash is relative to the domain root, not to the current page's folder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Path 2, because relative paths always adjust automatically no matter where the page is moved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Both will fail equally, since only fully absolute URLs are reliable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Path 1 will fail, because slashes are not allowed at the start of a src value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14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14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wants a paragraph to show a hover tooltip labeling it as a warning, while also displaying it in red text. Which combination of attributes should be used together?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alt and href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src and width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title and style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href and alt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15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15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Why is the alt attribute often described as essentially required for the &lt;img&gt; tag, from a web accessibility standpoint?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is required by the browser in order to load the image file correctly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determines the physical size of the image on the page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allows the image to be styled using CSS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f2937"/>
                </a:solidFill>
                <a:latin typeface="Calibri"/>
                <a:ea typeface="Calibri"/>
              </a:rPr>
              <a:t>It ensures users relying on screen readers, or those with slow connections or broken image links, can still understand the image's purpose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16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16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page includes both &lt;P&gt;Hello&lt;/P&gt; and &lt;p&gt;World&lt;/p&gt;. What can you conclude about how a browser will treat these two elements?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browser will throw an error, since the tag cases don't match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Both will be treated identically, since HTML tags are not case sensitive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Only the lowercase &lt;p&gt; will render; the uppercase &lt;P&gt; will be ignored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uppercase &lt;P&gt; will be treated as a separate, custom element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17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17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If a developer forgets to close the &lt;head&gt; tag before starting &lt;body&gt;, what type of problem is most likely to occur?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webpage will simply fail to be assigned a title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The &lt;!DOCTYPE&gt; declaration will become invalid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Content meant for the body may be misinterpreted as part of the head, causing rendering issues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All images on the page will automatically fail to load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18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18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Which sequence correctly reflects proper HTML document structure, from first to last?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&lt;!DOCTYPE html&gt; then &lt;html&gt; then &lt;head&gt; then &lt;body&gt;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&lt;html&gt; then &lt;!DOCTYPE html&gt; then &lt;body&gt; then &lt;head&gt;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&lt;head&gt; then &lt;!DOCTYPE html&gt; then &lt;html&gt; then &lt;body&gt;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&lt;body&gt; then &lt;head&gt; then &lt;html&gt; then &lt;!DOCTYPE html&gt;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19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19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1f2937"/>
                </a:solidFill>
                <a:latin typeface="Calibri"/>
                <a:ea typeface="Calibri"/>
              </a:rPr>
              <a:t>A developer wants an image to act as a clickable link to another page. Which approach correctly achieves this?</a:t>
            </a:r>
            <a:endParaRPr b="0" lang="en-PH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Adding alt="link" to the &lt;img&gt; tag, since alt makes images clickable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Wrapping the &lt;img&gt; tag inside an &lt;a href="..."&gt;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Adding an href attribute directly onto the &lt;img&gt;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Using the title attribute on the &lt;img&gt; tag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48640" y="320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QUESTION 20 OF 20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7772400" y="320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6b7280"/>
                </a:solidFill>
                <a:latin typeface="Calibri"/>
                <a:ea typeface="Calibri"/>
              </a:rPr>
              <a:t>HIGHER-ORDER THINKING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"/>
          <p:cNvSpPr/>
          <p:nvPr/>
        </p:nvSpPr>
        <p:spPr>
          <a:xfrm>
            <a:off x="548640" y="777240"/>
            <a:ext cx="566280" cy="56628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548640" y="77724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20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1325880" y="71316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f2937"/>
                </a:solidFill>
                <a:latin typeface="Calibri"/>
                <a:ea typeface="Calibri"/>
              </a:rPr>
              <a:t>A quality reviewer inspects this code: &lt;img src="banner.jpg" width="500" height="200" alt="Company banner" style="border:1px solid black;"&gt;. What can be concluded about it from a best-practices standpoint?</a:t>
            </a:r>
            <a:endParaRPr b="0" lang="en-PH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5486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4e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6"/>
          <p:cNvSpPr/>
          <p:nvPr/>
        </p:nvSpPr>
        <p:spPr>
          <a:xfrm>
            <a:off x="749880" y="2532960"/>
            <a:ext cx="474840" cy="47484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7"/>
          <p:cNvSpPr/>
          <p:nvPr/>
        </p:nvSpPr>
        <p:spPr>
          <a:xfrm>
            <a:off x="7498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8"/>
          <p:cNvSpPr/>
          <p:nvPr/>
        </p:nvSpPr>
        <p:spPr>
          <a:xfrm>
            <a:off x="13899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is poorly written because it uses too many attributes at once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9"/>
          <p:cNvSpPr/>
          <p:nvPr/>
        </p:nvSpPr>
        <p:spPr>
          <a:xfrm>
            <a:off x="6233040" y="233172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2f6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0"/>
          <p:cNvSpPr/>
          <p:nvPr/>
        </p:nvSpPr>
        <p:spPr>
          <a:xfrm>
            <a:off x="6434280" y="2532960"/>
            <a:ext cx="474840" cy="47484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"/>
          <p:cNvSpPr/>
          <p:nvPr/>
        </p:nvSpPr>
        <p:spPr>
          <a:xfrm>
            <a:off x="6434280" y="2532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2"/>
          <p:cNvSpPr/>
          <p:nvPr/>
        </p:nvSpPr>
        <p:spPr>
          <a:xfrm>
            <a:off x="7074360" y="249624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will fail to render because src and style cannot be used on the same element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3"/>
          <p:cNvSpPr/>
          <p:nvPr/>
        </p:nvSpPr>
        <p:spPr>
          <a:xfrm>
            <a:off x="5486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feea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4"/>
          <p:cNvSpPr/>
          <p:nvPr/>
        </p:nvSpPr>
        <p:spPr>
          <a:xfrm>
            <a:off x="749880" y="4704480"/>
            <a:ext cx="474840" cy="4748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5"/>
          <p:cNvSpPr/>
          <p:nvPr/>
        </p:nvSpPr>
        <p:spPr>
          <a:xfrm>
            <a:off x="7498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6"/>
          <p:cNvSpPr/>
          <p:nvPr/>
        </p:nvSpPr>
        <p:spPr>
          <a:xfrm>
            <a:off x="13899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f2937"/>
                </a:solidFill>
                <a:latin typeface="Calibri"/>
                <a:ea typeface="Calibri"/>
              </a:rPr>
              <a:t>It violates accessibility rules because alt should never be paired with style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7"/>
          <p:cNvSpPr/>
          <p:nvPr/>
        </p:nvSpPr>
        <p:spPr>
          <a:xfrm>
            <a:off x="6233040" y="4503600"/>
            <a:ext cx="5409360" cy="1896840"/>
          </a:xfrm>
          <a:prstGeom prst="roundRect">
            <a:avLst>
              <a:gd name="adj" fmla="val 4337"/>
            </a:avLst>
          </a:prstGeom>
          <a:solidFill>
            <a:srgbClr val="efe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8"/>
          <p:cNvSpPr/>
          <p:nvPr/>
        </p:nvSpPr>
        <p:spPr>
          <a:xfrm>
            <a:off x="6434280" y="4704480"/>
            <a:ext cx="474840" cy="474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9"/>
          <p:cNvSpPr/>
          <p:nvPr/>
        </p:nvSpPr>
        <p:spPr>
          <a:xfrm>
            <a:off x="6434280" y="47044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0"/>
          <p:cNvSpPr/>
          <p:nvPr/>
        </p:nvSpPr>
        <p:spPr>
          <a:xfrm>
            <a:off x="7074360" y="4668120"/>
            <a:ext cx="43394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f2937"/>
                </a:solidFill>
                <a:latin typeface="Calibri"/>
                <a:ea typeface="Calibri"/>
              </a:rPr>
              <a:t>It follows good practice by combining src, sizing attributes, alt text for accessibility, and style for visual presentation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0"/>
          <p:cNvSpPr/>
          <p:nvPr/>
        </p:nvSpPr>
        <p:spPr>
          <a:xfrm>
            <a:off x="548640" y="45720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ANSWER KEY</a:t>
            </a:r>
            <a:endParaRPr b="0" lang="en-PH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105156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afc2e8"/>
                </a:solidFill>
                <a:latin typeface="Calibri"/>
                <a:ea typeface="Calibri"/>
              </a:rPr>
              <a:t>The correct answer for each question is evenly split — 5 A, 5 B, 5 C, 5 D.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"/>
          <p:cNvSpPr/>
          <p:nvPr/>
        </p:nvSpPr>
        <p:spPr>
          <a:xfrm>
            <a:off x="548640" y="15544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713160" y="16459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2679120" y="1774080"/>
            <a:ext cx="383400" cy="38340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2679120" y="17740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6"/>
          <p:cNvSpPr/>
          <p:nvPr/>
        </p:nvSpPr>
        <p:spPr>
          <a:xfrm>
            <a:off x="548640" y="243216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713160" y="252360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Q2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2679120" y="2651760"/>
            <a:ext cx="383400" cy="3834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9"/>
          <p:cNvSpPr/>
          <p:nvPr/>
        </p:nvSpPr>
        <p:spPr>
          <a:xfrm>
            <a:off x="2679120" y="2651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10"/>
          <p:cNvSpPr/>
          <p:nvPr/>
        </p:nvSpPr>
        <p:spPr>
          <a:xfrm>
            <a:off x="548640" y="331020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11"/>
          <p:cNvSpPr/>
          <p:nvPr/>
        </p:nvSpPr>
        <p:spPr>
          <a:xfrm>
            <a:off x="713160" y="340164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Q3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12"/>
          <p:cNvSpPr/>
          <p:nvPr/>
        </p:nvSpPr>
        <p:spPr>
          <a:xfrm>
            <a:off x="2679120" y="3529440"/>
            <a:ext cx="383400" cy="3834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13"/>
          <p:cNvSpPr/>
          <p:nvPr/>
        </p:nvSpPr>
        <p:spPr>
          <a:xfrm>
            <a:off x="2679120" y="352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14"/>
          <p:cNvSpPr/>
          <p:nvPr/>
        </p:nvSpPr>
        <p:spPr>
          <a:xfrm>
            <a:off x="548640" y="41878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713160" y="42793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Q4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2679120" y="4407480"/>
            <a:ext cx="383400" cy="3834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2679120" y="4407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8"/>
          <p:cNvSpPr/>
          <p:nvPr/>
        </p:nvSpPr>
        <p:spPr>
          <a:xfrm>
            <a:off x="548640" y="506592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713160" y="515736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Q5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20"/>
          <p:cNvSpPr/>
          <p:nvPr/>
        </p:nvSpPr>
        <p:spPr>
          <a:xfrm>
            <a:off x="2679120" y="5285160"/>
            <a:ext cx="383400" cy="3834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1"/>
          <p:cNvSpPr/>
          <p:nvPr/>
        </p:nvSpPr>
        <p:spPr>
          <a:xfrm>
            <a:off x="2679120" y="5285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22"/>
          <p:cNvSpPr/>
          <p:nvPr/>
        </p:nvSpPr>
        <p:spPr>
          <a:xfrm>
            <a:off x="3410640" y="15544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23"/>
          <p:cNvSpPr/>
          <p:nvPr/>
        </p:nvSpPr>
        <p:spPr>
          <a:xfrm>
            <a:off x="3575160" y="16459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Q6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4"/>
          <p:cNvSpPr/>
          <p:nvPr/>
        </p:nvSpPr>
        <p:spPr>
          <a:xfrm>
            <a:off x="5541120" y="1774080"/>
            <a:ext cx="383400" cy="38340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25"/>
          <p:cNvSpPr/>
          <p:nvPr/>
        </p:nvSpPr>
        <p:spPr>
          <a:xfrm>
            <a:off x="5541120" y="17740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26"/>
          <p:cNvSpPr/>
          <p:nvPr/>
        </p:nvSpPr>
        <p:spPr>
          <a:xfrm>
            <a:off x="3410640" y="243216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7"/>
          <p:cNvSpPr/>
          <p:nvPr/>
        </p:nvSpPr>
        <p:spPr>
          <a:xfrm>
            <a:off x="3575160" y="252360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Q7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28"/>
          <p:cNvSpPr/>
          <p:nvPr/>
        </p:nvSpPr>
        <p:spPr>
          <a:xfrm>
            <a:off x="5541120" y="2651760"/>
            <a:ext cx="383400" cy="3834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29"/>
          <p:cNvSpPr/>
          <p:nvPr/>
        </p:nvSpPr>
        <p:spPr>
          <a:xfrm>
            <a:off x="5541120" y="2651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30"/>
          <p:cNvSpPr/>
          <p:nvPr/>
        </p:nvSpPr>
        <p:spPr>
          <a:xfrm>
            <a:off x="3410640" y="331020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1"/>
          <p:cNvSpPr/>
          <p:nvPr/>
        </p:nvSpPr>
        <p:spPr>
          <a:xfrm>
            <a:off x="3575160" y="340164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Q8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32"/>
          <p:cNvSpPr/>
          <p:nvPr/>
        </p:nvSpPr>
        <p:spPr>
          <a:xfrm>
            <a:off x="5541120" y="3529440"/>
            <a:ext cx="383400" cy="3834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3"/>
          <p:cNvSpPr/>
          <p:nvPr/>
        </p:nvSpPr>
        <p:spPr>
          <a:xfrm>
            <a:off x="5541120" y="352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34"/>
          <p:cNvSpPr/>
          <p:nvPr/>
        </p:nvSpPr>
        <p:spPr>
          <a:xfrm>
            <a:off x="3410640" y="41878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35"/>
          <p:cNvSpPr/>
          <p:nvPr/>
        </p:nvSpPr>
        <p:spPr>
          <a:xfrm>
            <a:off x="3575160" y="42793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Q9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36"/>
          <p:cNvSpPr/>
          <p:nvPr/>
        </p:nvSpPr>
        <p:spPr>
          <a:xfrm>
            <a:off x="5541120" y="4407480"/>
            <a:ext cx="383400" cy="38340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37"/>
          <p:cNvSpPr/>
          <p:nvPr/>
        </p:nvSpPr>
        <p:spPr>
          <a:xfrm>
            <a:off x="5541120" y="4407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38"/>
          <p:cNvSpPr/>
          <p:nvPr/>
        </p:nvSpPr>
        <p:spPr>
          <a:xfrm>
            <a:off x="3410640" y="506592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9"/>
          <p:cNvSpPr/>
          <p:nvPr/>
        </p:nvSpPr>
        <p:spPr>
          <a:xfrm>
            <a:off x="3575160" y="515736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Q10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0"/>
          <p:cNvSpPr/>
          <p:nvPr/>
        </p:nvSpPr>
        <p:spPr>
          <a:xfrm>
            <a:off x="5541120" y="5285160"/>
            <a:ext cx="383400" cy="3834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1"/>
          <p:cNvSpPr/>
          <p:nvPr/>
        </p:nvSpPr>
        <p:spPr>
          <a:xfrm>
            <a:off x="5541120" y="5285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42"/>
          <p:cNvSpPr/>
          <p:nvPr/>
        </p:nvSpPr>
        <p:spPr>
          <a:xfrm>
            <a:off x="6272640" y="15544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43"/>
          <p:cNvSpPr/>
          <p:nvPr/>
        </p:nvSpPr>
        <p:spPr>
          <a:xfrm>
            <a:off x="6437520" y="16459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Q11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44"/>
          <p:cNvSpPr/>
          <p:nvPr/>
        </p:nvSpPr>
        <p:spPr>
          <a:xfrm>
            <a:off x="8403480" y="1774080"/>
            <a:ext cx="383400" cy="3834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45"/>
          <p:cNvSpPr/>
          <p:nvPr/>
        </p:nvSpPr>
        <p:spPr>
          <a:xfrm>
            <a:off x="8403480" y="17740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46"/>
          <p:cNvSpPr/>
          <p:nvPr/>
        </p:nvSpPr>
        <p:spPr>
          <a:xfrm>
            <a:off x="6272640" y="243216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47"/>
          <p:cNvSpPr/>
          <p:nvPr/>
        </p:nvSpPr>
        <p:spPr>
          <a:xfrm>
            <a:off x="6437520" y="252360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Q12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48"/>
          <p:cNvSpPr/>
          <p:nvPr/>
        </p:nvSpPr>
        <p:spPr>
          <a:xfrm>
            <a:off x="8403480" y="2651760"/>
            <a:ext cx="383400" cy="3834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9"/>
          <p:cNvSpPr/>
          <p:nvPr/>
        </p:nvSpPr>
        <p:spPr>
          <a:xfrm>
            <a:off x="8403480" y="2651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50"/>
          <p:cNvSpPr/>
          <p:nvPr/>
        </p:nvSpPr>
        <p:spPr>
          <a:xfrm>
            <a:off x="6272640" y="331020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51"/>
          <p:cNvSpPr/>
          <p:nvPr/>
        </p:nvSpPr>
        <p:spPr>
          <a:xfrm>
            <a:off x="6437520" y="340164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Q13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52"/>
          <p:cNvSpPr/>
          <p:nvPr/>
        </p:nvSpPr>
        <p:spPr>
          <a:xfrm>
            <a:off x="8403480" y="3529440"/>
            <a:ext cx="383400" cy="3834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53"/>
          <p:cNvSpPr/>
          <p:nvPr/>
        </p:nvSpPr>
        <p:spPr>
          <a:xfrm>
            <a:off x="8403480" y="352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54"/>
          <p:cNvSpPr/>
          <p:nvPr/>
        </p:nvSpPr>
        <p:spPr>
          <a:xfrm>
            <a:off x="6272640" y="41878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55"/>
          <p:cNvSpPr/>
          <p:nvPr/>
        </p:nvSpPr>
        <p:spPr>
          <a:xfrm>
            <a:off x="6437520" y="42793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Q14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56"/>
          <p:cNvSpPr/>
          <p:nvPr/>
        </p:nvSpPr>
        <p:spPr>
          <a:xfrm>
            <a:off x="8403480" y="4407480"/>
            <a:ext cx="383400" cy="38340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57"/>
          <p:cNvSpPr/>
          <p:nvPr/>
        </p:nvSpPr>
        <p:spPr>
          <a:xfrm>
            <a:off x="8403480" y="4407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58"/>
          <p:cNvSpPr/>
          <p:nvPr/>
        </p:nvSpPr>
        <p:spPr>
          <a:xfrm>
            <a:off x="6272640" y="506592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59"/>
          <p:cNvSpPr/>
          <p:nvPr/>
        </p:nvSpPr>
        <p:spPr>
          <a:xfrm>
            <a:off x="6437520" y="515736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Q15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60"/>
          <p:cNvSpPr/>
          <p:nvPr/>
        </p:nvSpPr>
        <p:spPr>
          <a:xfrm>
            <a:off x="8403480" y="5285160"/>
            <a:ext cx="383400" cy="3834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61"/>
          <p:cNvSpPr/>
          <p:nvPr/>
        </p:nvSpPr>
        <p:spPr>
          <a:xfrm>
            <a:off x="8403480" y="5285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62"/>
          <p:cNvSpPr/>
          <p:nvPr/>
        </p:nvSpPr>
        <p:spPr>
          <a:xfrm>
            <a:off x="9135000" y="15544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63"/>
          <p:cNvSpPr/>
          <p:nvPr/>
        </p:nvSpPr>
        <p:spPr>
          <a:xfrm>
            <a:off x="9299520" y="16459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Q16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64"/>
          <p:cNvSpPr/>
          <p:nvPr/>
        </p:nvSpPr>
        <p:spPr>
          <a:xfrm>
            <a:off x="11265480" y="1774080"/>
            <a:ext cx="383400" cy="3834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65"/>
          <p:cNvSpPr/>
          <p:nvPr/>
        </p:nvSpPr>
        <p:spPr>
          <a:xfrm>
            <a:off x="11265480" y="17740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66"/>
          <p:cNvSpPr/>
          <p:nvPr/>
        </p:nvSpPr>
        <p:spPr>
          <a:xfrm>
            <a:off x="9135000" y="243216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67"/>
          <p:cNvSpPr/>
          <p:nvPr/>
        </p:nvSpPr>
        <p:spPr>
          <a:xfrm>
            <a:off x="9299520" y="252360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Q17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68"/>
          <p:cNvSpPr/>
          <p:nvPr/>
        </p:nvSpPr>
        <p:spPr>
          <a:xfrm>
            <a:off x="11265480" y="2651760"/>
            <a:ext cx="383400" cy="38340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69"/>
          <p:cNvSpPr/>
          <p:nvPr/>
        </p:nvSpPr>
        <p:spPr>
          <a:xfrm>
            <a:off x="11265480" y="2651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70"/>
          <p:cNvSpPr/>
          <p:nvPr/>
        </p:nvSpPr>
        <p:spPr>
          <a:xfrm>
            <a:off x="9135000" y="331020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71"/>
          <p:cNvSpPr/>
          <p:nvPr/>
        </p:nvSpPr>
        <p:spPr>
          <a:xfrm>
            <a:off x="9299520" y="340164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Q18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72"/>
          <p:cNvSpPr/>
          <p:nvPr/>
        </p:nvSpPr>
        <p:spPr>
          <a:xfrm>
            <a:off x="11265480" y="3529440"/>
            <a:ext cx="383400" cy="383400"/>
          </a:xfrm>
          <a:prstGeom prst="ellipse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73"/>
          <p:cNvSpPr/>
          <p:nvPr/>
        </p:nvSpPr>
        <p:spPr>
          <a:xfrm>
            <a:off x="11265480" y="35294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Shape 74"/>
          <p:cNvSpPr/>
          <p:nvPr/>
        </p:nvSpPr>
        <p:spPr>
          <a:xfrm>
            <a:off x="9135000" y="418788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75"/>
          <p:cNvSpPr/>
          <p:nvPr/>
        </p:nvSpPr>
        <p:spPr>
          <a:xfrm>
            <a:off x="9299520" y="427932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Q19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76"/>
          <p:cNvSpPr/>
          <p:nvPr/>
        </p:nvSpPr>
        <p:spPr>
          <a:xfrm>
            <a:off x="11265480" y="4407480"/>
            <a:ext cx="383400" cy="38340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77"/>
          <p:cNvSpPr/>
          <p:nvPr/>
        </p:nvSpPr>
        <p:spPr>
          <a:xfrm>
            <a:off x="11265480" y="44074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78"/>
          <p:cNvSpPr/>
          <p:nvPr/>
        </p:nvSpPr>
        <p:spPr>
          <a:xfrm>
            <a:off x="9135000" y="5065920"/>
            <a:ext cx="2696760" cy="749160"/>
          </a:xfrm>
          <a:prstGeom prst="roundRect">
            <a:avLst>
              <a:gd name="adj" fmla="val 9756"/>
            </a:avLst>
          </a:prstGeom>
          <a:solidFill>
            <a:srgbClr val="2637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79"/>
          <p:cNvSpPr/>
          <p:nvPr/>
        </p:nvSpPr>
        <p:spPr>
          <a:xfrm>
            <a:off x="9299520" y="5157360"/>
            <a:ext cx="236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fb0d8"/>
                </a:solidFill>
                <a:latin typeface="Calibri"/>
                <a:ea typeface="Calibri"/>
              </a:rPr>
              <a:t>Q20</a:t>
            </a:r>
            <a:endParaRPr b="0" lang="en-PH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80"/>
          <p:cNvSpPr/>
          <p:nvPr/>
        </p:nvSpPr>
        <p:spPr>
          <a:xfrm>
            <a:off x="11265480" y="5285160"/>
            <a:ext cx="383400" cy="3834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1"/>
          <p:cNvSpPr/>
          <p:nvPr/>
        </p:nvSpPr>
        <p:spPr>
          <a:xfrm>
            <a:off x="11265480" y="5285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82"/>
          <p:cNvSpPr/>
          <p:nvPr/>
        </p:nvSpPr>
        <p:spPr>
          <a:xfrm>
            <a:off x="548640" y="603504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fc2e8"/>
                </a:solidFill>
                <a:latin typeface="Calibri"/>
                <a:ea typeface="Calibri"/>
              </a:rPr>
              <a:t>A = 5    B = 5    C = 5    D = 5</a:t>
            </a:r>
            <a:endParaRPr b="0" lang="en-PH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2026-07-16T23:41:23Z</dcterms:created>
  <dc:creator>PptxGenJS</dc:creator>
  <dc:description/>
  <dc:language>en-PH</dc:language>
  <cp:lastModifiedBy/>
  <dcterms:modified xsi:type="dcterms:W3CDTF">2026-08-05T11:03:23Z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